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2.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f907ab9df5614173" /><Relationship Type="http://schemas.openxmlformats.org/officeDocument/2006/relationships/extended-properties" Target="/docProps/app.xml" Id="Rb4028bda248a40a4" /><Relationship Type="http://schemas.openxmlformats.org/officeDocument/2006/relationships/officeDocument" Target="/ppt/presentation.xml" Id="Rc6124ca97ed3429f" /></Relationships>
</file>

<file path=ppt/presentation.xml><?xml version="1.0" encoding="utf-8"?>
<p:presentation xmlns:p="http://schemas.openxmlformats.org/presentationml/2006/main">
  <p:sldMasterIdLst>
    <p:sldMasterId xmlns:r="http://schemas.openxmlformats.org/officeDocument/2006/relationships" id="2147483648" r:id="R8e4c66e5b0694023"/>
  </p:sldMasterIdLst>
  <p:notesMasterIdLst>
    <p:notesMasterId xmlns:r="http://schemas.openxmlformats.org/officeDocument/2006/relationships" r:id="R8e92ec5567384e42"/>
  </p:notesMasterIdLst>
  <p:sldIdLst>
    <p:sldId xmlns:r="http://schemas.openxmlformats.org/officeDocument/2006/relationships" id="256" r:id="R67668c4ca5d04925"/>
    <p:sldId xmlns:r="http://schemas.openxmlformats.org/officeDocument/2006/relationships" id="257" r:id="Ref59a83824294b18"/>
    <p:sldId xmlns:r="http://schemas.openxmlformats.org/officeDocument/2006/relationships" id="258" r:id="R0578868492e844da"/>
    <p:sldId xmlns:r="http://schemas.openxmlformats.org/officeDocument/2006/relationships" id="259" r:id="R9db46ed2e0994dae"/>
    <p:sldId xmlns:r="http://schemas.openxmlformats.org/officeDocument/2006/relationships" id="260" r:id="R957345c395984a21"/>
    <p:sldId xmlns:r="http://schemas.openxmlformats.org/officeDocument/2006/relationships" id="261" r:id="Rc9f7ab6785684d6a"/>
    <p:sldId xmlns:r="http://schemas.openxmlformats.org/officeDocument/2006/relationships" id="262" r:id="Rd045054ff13649ed"/>
    <p:sldId xmlns:r="http://schemas.openxmlformats.org/officeDocument/2006/relationships" id="263" r:id="R9dd53a98e50b40c5"/>
    <p:sldId xmlns:r="http://schemas.openxmlformats.org/officeDocument/2006/relationships" id="264" r:id="R7b2cab35e06444ad"/>
    <p:sldId xmlns:r="http://schemas.openxmlformats.org/officeDocument/2006/relationships" id="265" r:id="R554aa00205bf4bdb"/>
    <p:sldId xmlns:r="http://schemas.openxmlformats.org/officeDocument/2006/relationships" id="266" r:id="R9ece6602a3b245ee"/>
    <p:sldId xmlns:r="http://schemas.openxmlformats.org/officeDocument/2006/relationships" id="267" r:id="R4f416f587d0a4bb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b682b94f7048db" /><Relationship Type="http://schemas.openxmlformats.org/officeDocument/2006/relationships/slideMaster" Target="/ppt/slideMasters/slideMaster1.xml" Id="R8e4c66e5b0694023" /><Relationship Type="http://schemas.openxmlformats.org/officeDocument/2006/relationships/notesMaster" Target="/ppt/notesMasters/notesMaster1.xml" Id="R8e92ec5567384e42" /><Relationship Type="http://schemas.openxmlformats.org/officeDocument/2006/relationships/presProps" Target="/ppt/presProps.xml" Id="Rbc5a6a8019284e42" /><Relationship Type="http://schemas.openxmlformats.org/officeDocument/2006/relationships/tableStyles" Target="/ppt/tableStyles.xml" Id="R880f7853cc6041a2" /><Relationship Type="http://schemas.openxmlformats.org/officeDocument/2006/relationships/slide" Target="/ppt/slides/slide1.xml" Id="R67668c4ca5d04925" /><Relationship Type="http://schemas.openxmlformats.org/officeDocument/2006/relationships/slide" Target="/ppt/slides/slide2.xml" Id="Ref59a83824294b18" /><Relationship Type="http://schemas.openxmlformats.org/officeDocument/2006/relationships/slide" Target="/ppt/slides/slide3.xml" Id="R0578868492e844da" /><Relationship Type="http://schemas.openxmlformats.org/officeDocument/2006/relationships/slide" Target="/ppt/slides/slide4.xml" Id="R9db46ed2e0994dae" /><Relationship Type="http://schemas.openxmlformats.org/officeDocument/2006/relationships/slide" Target="/ppt/slides/slide5.xml" Id="R957345c395984a21" /><Relationship Type="http://schemas.openxmlformats.org/officeDocument/2006/relationships/slide" Target="/ppt/slides/slide6.xml" Id="Rc9f7ab6785684d6a" /><Relationship Type="http://schemas.openxmlformats.org/officeDocument/2006/relationships/slide" Target="/ppt/slides/slide7.xml" Id="Rd045054ff13649ed" /><Relationship Type="http://schemas.openxmlformats.org/officeDocument/2006/relationships/slide" Target="/ppt/slides/slide8.xml" Id="R9dd53a98e50b40c5" /><Relationship Type="http://schemas.openxmlformats.org/officeDocument/2006/relationships/slide" Target="/ppt/slides/slide9.xml" Id="R7b2cab35e06444ad" /><Relationship Type="http://schemas.openxmlformats.org/officeDocument/2006/relationships/slide" Target="/ppt/slides/slide10.xml" Id="R554aa00205bf4bdb" /><Relationship Type="http://schemas.openxmlformats.org/officeDocument/2006/relationships/slide" Target="/ppt/slides/slide11.xml" Id="R9ece6602a3b245ee" /><Relationship Type="http://schemas.openxmlformats.org/officeDocument/2006/relationships/slide" Target="/ppt/slides/slide12.xml" Id="R4f416f587d0a4bb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adc05a27a834df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fe23c87234343b1" /><Relationship Type="http://schemas.openxmlformats.org/officeDocument/2006/relationships/notesMaster" Target="/ppt/notesMasters/notesMaster1.xml" Id="R1019c35b307646dc" /></Relationships>
</file>

<file path=ppt/notesSlides/_rels/notesSlide2.xml.rels>&#65279;<?xml version="1.0" encoding="utf-8"?><Relationships xmlns="http://schemas.openxmlformats.org/package/2006/relationships"><Relationship Type="http://schemas.openxmlformats.org/officeDocument/2006/relationships/slide" Target="/ppt/slides/slide2.xml" Id="Rd0f21648ae824e90" /><Relationship Type="http://schemas.openxmlformats.org/officeDocument/2006/relationships/notesMaster" Target="/ppt/notesMasters/notesMaster1.xml" Id="R3d22c2eb70ab4c0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e66b3fcc5314a06" /><Relationship Type="http://schemas.openxmlformats.org/officeDocument/2006/relationships/notesMaster" Target="/ppt/notesMasters/notesMaster1.xml" Id="R5bcd1b4ef9624ff0" /></Relationships>
</file>

<file path=ppt/notesSlides/_rels/notesSlide4.xml.rels>&#65279;<?xml version="1.0" encoding="utf-8"?><Relationships xmlns="http://schemas.openxmlformats.org/package/2006/relationships"><Relationship Type="http://schemas.openxmlformats.org/officeDocument/2006/relationships/slide" Target="/ppt/slides/slide4.xml" Id="Rab03d648a92844ff" /><Relationship Type="http://schemas.openxmlformats.org/officeDocument/2006/relationships/notesMaster" Target="/ppt/notesMasters/notesMaster1.xml" Id="R43dc844faaef45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ba4a66b0a81b4d92" /><Relationship Type="http://schemas.openxmlformats.org/officeDocument/2006/relationships/notesMaster" Target="/ppt/notesMasters/notesMaster1.xml" Id="R0a30e98ba0b94bae" /></Relationships>
</file>

<file path=ppt/notesSlides/_rels/notesSlide6.xml.rels>&#65279;<?xml version="1.0" encoding="utf-8"?><Relationships xmlns="http://schemas.openxmlformats.org/package/2006/relationships"><Relationship Type="http://schemas.openxmlformats.org/officeDocument/2006/relationships/slide" Target="/ppt/slides/slide6.xml" Id="Ra99bd266d91046d7" /><Relationship Type="http://schemas.openxmlformats.org/officeDocument/2006/relationships/notesMaster" Target="/ppt/notesMasters/notesMaster1.xml" Id="R442b2bc5219d4756" /></Relationships>
</file>

<file path=ppt/notesSlides/_rels/notesSlide7.xml.rels>&#65279;<?xml version="1.0" encoding="utf-8"?><Relationships xmlns="http://schemas.openxmlformats.org/package/2006/relationships"><Relationship Type="http://schemas.openxmlformats.org/officeDocument/2006/relationships/slide" Target="/ppt/slides/slide7.xml" Id="R3291f071ab424556" /><Relationship Type="http://schemas.openxmlformats.org/officeDocument/2006/relationships/notesMaster" Target="/ppt/notesMasters/notesMaster1.xml" Id="R7e548aa9d4cd414f" /></Relationships>
</file>

<file path=ppt/notesSlides/_rels/notesSlide8.xml.rels>&#65279;<?xml version="1.0" encoding="utf-8"?><Relationships xmlns="http://schemas.openxmlformats.org/package/2006/relationships"><Relationship Type="http://schemas.openxmlformats.org/officeDocument/2006/relationships/slide" Target="/ppt/slides/slide8.xml" Id="Rfee355f983244d8a" /><Relationship Type="http://schemas.openxmlformats.org/officeDocument/2006/relationships/notesMaster" Target="/ppt/notesMasters/notesMaster1.xml" Id="R55d3d98774a04764" /></Relationships>
</file>

<file path=ppt/notesSlides/_rels/notesSlide9.xml.rels>&#65279;<?xml version="1.0" encoding="utf-8"?><Relationships xmlns="http://schemas.openxmlformats.org/package/2006/relationships"><Relationship Type="http://schemas.openxmlformats.org/officeDocument/2006/relationships/slide" Target="/ppt/slides/slide9.xml" Id="R3b794542d700444c" /><Relationship Type="http://schemas.openxmlformats.org/officeDocument/2006/relationships/notesMaster" Target="/ppt/notesMasters/notesMaster1.xml" Id="R57b7b34b89464e8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7eb354e83ed4d71" /><Relationship Type="http://schemas.openxmlformats.org/officeDocument/2006/relationships/notesMaster" Target="/ppt/notesMasters/notesMaster1.xml" Id="R517d295fffbd4fa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ef96780b07e456f" /><Relationship Type="http://schemas.openxmlformats.org/officeDocument/2006/relationships/notesMaster" Target="/ppt/notesMasters/notesMaster1.xml" Id="R9ae7160a0a6f4a2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f2fe4dc3e97466a" /><Relationship Type="http://schemas.openxmlformats.org/officeDocument/2006/relationships/notesMaster" Target="/ppt/notesMasters/notesMaster1.xml" Id="R4a87155d5c754978"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asks whether a newer vision model improves bean-leaf disease classification. I compared SigLIP 2 with DINOv2, looking at accuracy, the benefit of fine-tuning, and the limits of the results.</a:t>
            </a:r>
          </a:p>
          <a:p xmlns:a="http://schemas.openxmlformats.org/drawingml/2006/main">
            <a:r>
              <a:t/>
            </a:r>
          </a:p>
          <a:p xmlns:a="http://schemas.openxmlformats.org/drawingml/2006/main">
            <a:r>
              <a:t>Sources</a:t>
            </a:r>
          </a:p>
          <a:p xmlns:a="http://schemas.openxmlformats.org/drawingml/2006/main">
            <a:r>
              <a:t>Tschannen et al. (2025), SigLIP 2: https://arxiv.org/abs/2502.14786</a:t>
            </a:r>
          </a:p>
          <a:p xmlns:a="http://schemas.openxmlformats.org/drawingml/2006/main">
            <a:r>
              <a:t>Oquab et al. (2023), DINOv2: https://arxiv.org/abs/2304.07193</a:t>
            </a:r>
          </a:p>
          <a:p xmlns:a="http://schemas.openxmlformats.org/drawingml/2006/main">
            <a:r>
              <a:t>Checkpoints: https://huggingface.co/google/siglip2-base-patch16-224 and https://huggingface.co/facebook/dinov2-small</a:t>
            </a:r>
          </a:p>
          <a:p xmlns:a="http://schemas.openxmlformats.org/drawingml/2006/main">
            <a:r>
              <a:t>Makerere AI Lab, Beans (MIT): https://github.com/AI-Lab-Makerere/ibean and https://huggingface.co/datasets/AI-Lab-Makerere/beans</a:t>
            </a:r>
          </a:p>
          <a:p xmlns:a="http://schemas.openxmlformats.org/drawingml/2006/main">
            <a:r>
              <a:t>Audited image IDs and SHA-256 hashes: report/presentation/sources.json. The photographs are unaltered dataset examples.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task has three labels: angular leaf spot, bean rust and healthy. These are real smartphone photographs from Ugandan fields, so the backgrounds, hands and lighting vary. That makes the task useful for testing transfer learning with relatively little labelled data. The audited release contains 1,295 images. I kept the published training, validation and test split. There were no corrupt files or exact duplicates. However, there are no plant or farm identifiers, so the split cannot guarantee that every test image comes from an independent farm.</a:t>
            </a:r>
          </a:p>
          <a:p xmlns:a="http://schemas.openxmlformats.org/drawingml/2006/main">
            <a:r>
              <a:t/>
            </a:r>
          </a:p>
          <a:p xmlns:a="http://schemas.openxmlformats.org/drawingml/2006/main">
            <a:r>
              <a:t>Sources</a:t>
            </a:r>
          </a:p>
          <a:p xmlns:a="http://schemas.openxmlformats.org/drawingml/2006/main">
            <a:r>
              <a:t>Makerere AI Lab, Beans (MIT): https://github.com/AI-Lab-Makerere/ibean and https://huggingface.co/datasets/AI-Lab-Makerere/beans</a:t>
            </a:r>
          </a:p>
          <a:p xmlns:a="http://schemas.openxmlformats.org/drawingml/2006/main">
            <a:r>
              <a:t>Audited image IDs and SHA-256 hashes: report/presentation/sources.json. The photographs are unaltered dataset examples.</a:t>
            </a:r>
          </a:p>
          <a:p xmlns:a="http://schemas.openxmlformats.org/drawingml/2006/main">
            <a:r>
              <a:t>results/data_audit/audit_summary.json and manifest.csv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models start from public pretrained weights. SigLIP 2 is a 2025 vision-language model, but this experiment uses only its image encoder. DINOv2 is the smaller 2023 comparator. Each gets a new three-class classifier. In the frozen setting, only that classifier learns. In the partial setting, the final two transformer blocks and final normalisation also learn. Both models use 224-pixel images, model-specific normalisation, and matching flips and rotations. I ran three seeds for each setting, giving twelve runs, with early stopping based on validation macro-F1. The settings compare these systems, rather than each model’s best possible performance.</a:t>
            </a:r>
          </a:p>
          <a:p xmlns:a="http://schemas.openxmlformats.org/drawingml/2006/main">
            <a:r>
              <a:t/>
            </a:r>
          </a:p>
          <a:p xmlns:a="http://schemas.openxmlformats.org/drawingml/2006/main">
            <a:r>
              <a:t>Sources</a:t>
            </a:r>
          </a:p>
          <a:p xmlns:a="http://schemas.openxmlformats.org/drawingml/2006/main">
            <a:r>
              <a:t>Tschannen et al. (2025), SigLIP 2: https://arxiv.org/abs/2502.14786</a:t>
            </a:r>
          </a:p>
          <a:p xmlns:a="http://schemas.openxmlformats.org/drawingml/2006/main">
            <a:r>
              <a:t>Oquab et al. (2023), DINOv2: https://arxiv.org/abs/2304.07193</a:t>
            </a:r>
          </a:p>
          <a:p xmlns:a="http://schemas.openxmlformats.org/drawingml/2006/main">
            <a:r>
              <a:t>Checkpoints: https://huggingface.co/google/siglip2-base-patch16-224 and https://huggingface.co/facebook/dinov2-small</a:t>
            </a:r>
          </a:p>
          <a:p xmlns:a="http://schemas.openxmlformats.org/drawingml/2006/main">
            <a:r>
              <a:t>src/followup_experiment.py and study_plan.json. SigLIP attention pooling remains frozen with gradient 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Macro-F1 gives each class equal weight. The frozen results are where the models differ most: DINOv2 reaches 90.71 percent, while SigLIP 2 reaches 96.90 percent, a gain of 6.18 percentage points. After partial fine-tuning, both average 96.90 percent. That is a practical tie in these runs, not proof that the models are equivalent. DINOv2 also has a smaller memory footprint. The test set has only 128 images, and earlier DINOv2 test results were already known, so this is an exploratory comparison. The reference paired confidence interval includes zero. The backup table contains the seed variation and timing details.</a:t>
            </a:r>
          </a:p>
          <a:p xmlns:a="http://schemas.openxmlformats.org/drawingml/2006/main">
            <a:r>
              <a:t/>
            </a:r>
          </a:p>
          <a:p xmlns:a="http://schemas.openxmlformats.org/drawingml/2006/main">
            <a:r>
              <a:t>Sources</a:t>
            </a:r>
          </a:p>
          <a:p xmlns:a="http://schemas.openxmlformats.org/drawingml/2006/main">
            <a:r>
              <a:t>Original experiment: results/model_comparison/comparison_analysis.json and combined_summary.csv. The main results exclude the later notebook verification run.</a:t>
            </a:r>
          </a:p>
          <a:p xmlns:a="http://schemas.openxmlformats.org/drawingml/2006/main">
            <a:r>
              <a:t>Memory is maximum framework-allocated CUDA bytes across seeds, converted to decimal MB.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also checked overfitting. This example is the partial SigLIP run with seed seventeen. Training loss generally falls, but validation loss jumps near the end. The selected checkpoint is epoch six, before that deterioration, because validation macro-F1 determines selection. Across selected checkpoints, the average clean training-to-test F1 gap is 1.27 points for DINOv2 and 2.01 for SigLIP. Those small gaps are useful diagnostics, but they do not prove an absence of overfitting. Validation already influenced checkpoint selection, and the project has no independent farm-level evaluation. The full results retain every seed’s learning history.</a:t>
            </a:r>
          </a:p>
          <a:p xmlns:a="http://schemas.openxmlformats.org/drawingml/2006/main">
            <a:r>
              <a:t/>
            </a:r>
          </a:p>
          <a:p xmlns:a="http://schemas.openxmlformats.org/drawingml/2006/main">
            <a:r>
              <a:t>Sources</a:t>
            </a:r>
          </a:p>
          <a:p xmlns:a="http://schemas.openxmlformats.org/drawingml/2006/main">
            <a:r>
              <a:t>results/model_comparison/siglip2/runs/partial/seed_17/history.csv</a:t>
            </a:r>
          </a:p>
          <a:p xmlns:a="http://schemas.openxmlformats.org/drawingml/2006/main">
            <a:r>
              <a:t>results/model_comparison/combined_summary.csv. Training loss uses augmentation. Validation loss uses clean deterministic images. The editable chart rounds loss values to six decimals; the original history retains full precision.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two images show why a high average score is not enough. Both labels are angular leaf spot, but SigLIP predicts rust. One wrong prediction has 98.65 percent confidence. Confusing disease types could lead to an unsuitable intervention. Missing disease could delay advice, while false alarms could add unnecessary cost. The dataset also covers only three labels in one collection, with no evidence of equal performance across farms, devices or regions. Other damage still gets forced into those labels. A future application would need independent field testing, a validated referral policy and agricultural expert review. It should not prescribe treatment automatically.</a:t>
            </a:r>
          </a:p>
          <a:p xmlns:a="http://schemas.openxmlformats.org/drawingml/2006/main">
            <a:r>
              <a:t/>
            </a:r>
          </a:p>
          <a:p xmlns:a="http://schemas.openxmlformats.org/drawingml/2006/main">
            <a:r>
              <a:t>Sources</a:t>
            </a:r>
          </a:p>
          <a:p xmlns:a="http://schemas.openxmlformats.org/drawingml/2006/main">
            <a:r>
              <a:t>Makerere AI Lab, Beans (MIT): https://github.com/AI-Lab-Makerere/ibean and https://huggingface.co/datasets/AI-Lab-Makerere/beans</a:t>
            </a:r>
          </a:p>
          <a:p xmlns:a="http://schemas.openxmlformats.org/drawingml/2006/main">
            <a:r>
              <a:t>Audited image IDs and SHA-256 hashes: report/presentation/sources.json. The photographs are unaltered dataset examples.</a:t>
            </a:r>
          </a:p>
          <a:p xmlns:a="http://schemas.openxmlformats.org/drawingml/2006/main">
            <a:r>
              <a:t>results/model_comparison/siglip_selected_examples.csv. Two highest-confidence errors from SigLIP 2 partial, seed 17.</a:t>
            </a:r>
          </a:p>
          <a:p xmlns:a="http://schemas.openxmlformats.org/drawingml/2006/main">
            <a:r>
              <a:t>Ethical implications: report/technical_report.md section7.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main finding is that SigLIP 2 supplies stronger frozen features. Partial fine-tuning brings DINOv2 to essentially the same average score in the original study, using a smaller model and less allocated memory. This supports a useful comparison, but not a deployment claim. The next step would be validation on independently collected farms, followed by tuning that uses only validation data. Codex assisted the research, code, analysis and drafting. The report, executed notebook and saved predictions document the actual experiments and their limitations.</a:t>
            </a:r>
          </a:p>
          <a:p xmlns:a="http://schemas.openxmlformats.org/drawingml/2006/main">
            <a:r>
              <a:t/>
            </a:r>
          </a:p>
          <a:p xmlns:a="http://schemas.openxmlformats.org/drawingml/2006/main">
            <a:r>
              <a:t>Sources</a:t>
            </a:r>
          </a:p>
          <a:p xmlns:a="http://schemas.openxmlformats.org/drawingml/2006/main">
            <a:r>
              <a:t>Original experiment: results/model_comparison/comparison_analysis.json and combined_summary.csv. The main results exclude the later notebook verification run.</a:t>
            </a:r>
          </a:p>
          <a:p xmlns:a="http://schemas.openxmlformats.org/drawingml/2006/main">
            <a:r>
              <a:t>AI-assistance scope: ASSISTANCE.md. Report and notebook artifacts accompany the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questions about variability and cost. All values come from the original experiment. Plus/minus is sample standard deviation across three seeds. The bootstrap interval describes only the prespecified seed 17 partial-model pair, not the three-seed mean. Epoch medians pool completed epochs, so longer runs have greater weight. Raw times include unexplained long epochs, and are retained in the project. These observed laptop durations are not a controlled hardware benchmark.</a:t>
            </a:r>
          </a:p>
          <a:p xmlns:a="http://schemas.openxmlformats.org/drawingml/2006/main">
            <a:r>
              <a:t/>
            </a:r>
          </a:p>
          <a:p xmlns:a="http://schemas.openxmlformats.org/drawingml/2006/main">
            <a:r>
              <a:t>Sources</a:t>
            </a:r>
          </a:p>
          <a:p xmlns:a="http://schemas.openxmlformats.org/drawingml/2006/main">
            <a:r>
              <a:t>Original experiment: results/model_comparison/comparison_analysis.json and combined_summary.csv. The main results exclude the later notebook verification run.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Rows are true labels and columns are predictions. For the original reference seed 17, partial DINOv2 makes two errors, while partial SigLIP makes three. Both have zero disease-as-healthy errors among 86 diseased images. That small-sample count does not establish safety. DINOv2 mislabels one of 42 healthy images as rust. SigLIP confuses three angular-leaf-spot images with rust. Use these tables to distinguish overall correctness from disease-subtype errors.</a:t>
            </a:r>
          </a:p>
          <a:p xmlns:a="http://schemas.openxmlformats.org/drawingml/2006/main">
            <a:r>
              <a:t/>
            </a:r>
          </a:p>
          <a:p xmlns:a="http://schemas.openxmlformats.org/drawingml/2006/main">
            <a:r>
              <a:t>Sources</a:t>
            </a:r>
          </a:p>
          <a:p xmlns:a="http://schemas.openxmlformats.org/drawingml/2006/main">
            <a:r>
              <a:t>results/model_comparison/dinov2/runs/partial/seed_17/metrics_test.json</a:t>
            </a:r>
          </a:p>
          <a:p xmlns:a="http://schemas.openxmlformats.org/drawingml/2006/main">
            <a:r>
              <a:t>results/model_comparison/siglip2/runs/partial/seed_17/metrics_test.json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Backup for implementation questions. Both pipelines use RGB and full-image 224 × 224 resizing. SigLIP follows native bilinear resizing and 0.5 channel normalisation. DINOv2 uses bicubic and ImageNet normalisation, replacing its official centre crop to retain peripheral regions. Online augmentation uses horizontal/vertical flips each with 0.5 probability and rotation within 15 degrees. SigLIP pools patch tokens with its pretrained attention pooler, kept frozen. DINO uses its class token. Partial adaptation updates only the final two blocks, final normalisation and classifier. Backbones remain in evaluation mode with gradients for intended parameters. No model-specific hyperparameter search was performed.</a:t>
            </a:r>
          </a:p>
          <a:p xmlns:a="http://schemas.openxmlformats.org/drawingml/2006/main">
            <a:r>
              <a:t/>
            </a:r>
          </a:p>
          <a:p xmlns:a="http://schemas.openxmlformats.org/drawingml/2006/main">
            <a:r>
              <a:t>Sources</a:t>
            </a:r>
          </a:p>
          <a:p xmlns:a="http://schemas.openxmlformats.org/drawingml/2006/main">
            <a:r>
              <a:t>src/followup_experiment.py</a:t>
            </a:r>
          </a:p>
          <a:p xmlns:a="http://schemas.openxmlformats.org/drawingml/2006/main">
            <a:r>
              <a:t>results/model_comparison/study_plan.json</a:t>
            </a:r>
          </a:p>
          <a:p xmlns:a="http://schemas.openxmlformats.org/drawingml/2006/main">
            <a:r>
              <a:t>Tschannen et al. (2025), SigLIP 2: https://arxiv.org/abs/2502.14786</a:t>
            </a:r>
          </a:p>
          <a:p xmlns:a="http://schemas.openxmlformats.org/drawingml/2006/main">
            <a:r>
              <a:t>Oquab et al. (2023), DINOv2: https://arxiv.org/abs/2304.07193</a:t>
            </a:r>
          </a:p>
          <a:p xmlns:a="http://schemas.openxmlformats.org/drawingml/2006/main">
            <a:r>
              <a:t>Checkpoints: https://huggingface.co/google/siglip2-base-patch16-224 and https://huggingface.co/facebook/dinov2-small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distinguishes the original scientific comparison from a later functionality check. The unchanged full notebook completed ten code cells and twelve fresh training runs locally, with zero errors, fresh model and data acquisition, evaluation and export. The local verification reused the pinned environment. It does not verify Colab’s separate installation branch. Reproduction partial means were 97.67 percent for DINOv2 and 96.90 for SigLIP. They stay separate rather than replacing the original report numbers. Controlled seeds do not guarantee identical CUDA output. A new independent dataset, rather than further reuse of this test set, would provide stronger confirmation.</a:t>
            </a:r>
          </a:p>
          <a:p xmlns:a="http://schemas.openxmlformats.org/drawingml/2006/main">
            <a:r>
              <a:t/>
            </a:r>
          </a:p>
          <a:p xmlns:a="http://schemas.openxmlformats.org/drawingml/2006/main">
            <a:r>
              <a:t>Sources</a:t>
            </a:r>
          </a:p>
          <a:p xmlns:a="http://schemas.openxmlformats.org/drawingml/2006/main">
            <a:r>
              <a:t>validation/full_notebook_local/execution_verification.json</a:t>
            </a:r>
          </a:p>
          <a:p xmlns:a="http://schemas.openxmlformats.org/drawingml/2006/main">
            <a:r>
              <a:t>validation/full_notebook_local/evidence/combined_summary.csv</a:t>
            </a:r>
          </a:p>
          <a:p xmlns:a="http://schemas.openxmlformats.org/drawingml/2006/main">
            <a:r>
              <a:t>results/model_comparison/notebook_bootstrap_validation.json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Selected primary references for the presentation. The technical report contains the complete bibliography and pinned processor/implementation sources. Photograph attribution: Makerere AI Lab and dataset contributors. Dataset MIT and model Apache 2.0 notices accompany the project. AI-assisted implementation and drafting are disclosed in ASSISTANCE.md. No claim is made that the project used the latest available October 2026 model or established state-of-the-art Beans performance.</a:t>
            </a:r>
          </a:p>
          <a:p xmlns:a="http://schemas.openxmlformats.org/drawingml/2006/main">
            <a:r>
              <a:t/>
            </a:r>
          </a:p>
          <a:p xmlns:a="http://schemas.openxmlformats.org/drawingml/2006/main">
            <a:r>
              <a:t>Sources</a:t>
            </a:r>
          </a:p>
          <a:p xmlns:a="http://schemas.openxmlformats.org/drawingml/2006/main">
            <a:r>
              <a:t>Tschannen et al. (2025), SigLIP 2: https://arxiv.org/abs/2502.14786</a:t>
            </a:r>
          </a:p>
          <a:p xmlns:a="http://schemas.openxmlformats.org/drawingml/2006/main">
            <a:r>
              <a:t>Oquab et al. (2023), DINOv2: https://arxiv.org/abs/2304.07193</a:t>
            </a:r>
          </a:p>
          <a:p xmlns:a="http://schemas.openxmlformats.org/drawingml/2006/main">
            <a:r>
              <a:t>Checkpoints: https://huggingface.co/google/siglip2-base-patch16-224 and https://huggingface.co/facebook/dinov2-small</a:t>
            </a:r>
          </a:p>
          <a:p xmlns:a="http://schemas.openxmlformats.org/drawingml/2006/main">
            <a:r>
              <a:t>Makerere AI Lab, Beans (MIT): https://github.com/AI-Lab-Makerere/ibean and https://huggingface.co/datasets/AI-Lab-Makerere/beans</a:t>
            </a:r>
          </a:p>
          <a:p xmlns:a="http://schemas.openxmlformats.org/drawingml/2006/main">
            <a:r>
              <a:t>Audited image IDs and SHA-256 hashes: report/presentation/sources.json. The photographs are unaltered dataset examples.</a:t>
            </a:r>
          </a:p>
          <a:p xmlns:a="http://schemas.openxmlformats.org/drawingml/2006/main">
            <a:r>
              <a:t>https://github.com/huggingface/transformers/blob/v4.57.1/src/transformers/models/siglip/modeling_siglip.py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26fd9d889af40ea"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2a57219e84144f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af306ebf993402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88ce9f82d3a48a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c1799caefef455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7cdce35459045d5"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DF9A572-250C-41FC-AFE3-2D0404E2554E}"/>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A15CE7D-9800-41D6-A255-FA9893F68918}"/>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97B2AF4-5BB3-4AFE-8A96-65E0B81CBE91}"/>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BC99C68-0EE0-48E6-ADE0-414BB8FEB44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10F105F6-FED8-4B44-9D8B-69545A733CC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238A02E-4D6E-41A9-9934-C881D7A8BA9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D078D00-233B-4D6C-AB65-B39FCA1BA7F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CAB46F8-5501-4490-9F44-9966EF6FC5C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529BADF-B683-412F-81D6-0D49DFF1FA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F4FF6B-62C8-4614-8D71-19AC3AB9A97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01d161b61e54c7e" /><Relationship Type="http://schemas.openxmlformats.org/officeDocument/2006/relationships/slideLayout" Target="/ppt/slideLayouts/slideLayout1.xml" Id="Rbd934a53105447d1" /><Relationship Type="http://schemas.openxmlformats.org/officeDocument/2006/relationships/slideLayout" Target="/ppt/slideLayouts/slideLayout2.xml" Id="Rb500e2a22acc425f" /><Relationship Type="http://schemas.openxmlformats.org/officeDocument/2006/relationships/slideLayout" Target="/ppt/slideLayouts/slideLayout3.xml" Id="Re6c410f352854988" /><Relationship Type="http://schemas.openxmlformats.org/officeDocument/2006/relationships/slideLayout" Target="/ppt/slideLayouts/slideLayout4.xml" Id="Rb0c13d9d625b48d0" /><Relationship Type="http://schemas.openxmlformats.org/officeDocument/2006/relationships/slideLayout" Target="/ppt/slideLayouts/slideLayout5.xml" Id="R0b5e42d827734ffe" /><Relationship Type="http://schemas.openxmlformats.org/officeDocument/2006/relationships/slideLayout" Target="/ppt/slideLayouts/slideLayout6.xml" Id="Rf08a5375311c4d38"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d934a53105447d1"/>
    <p:sldLayoutId xmlns:r="http://schemas.openxmlformats.org/officeDocument/2006/relationships" id="2147483650" r:id="Rb500e2a22acc425f"/>
    <p:sldLayoutId xmlns:r="http://schemas.openxmlformats.org/officeDocument/2006/relationships" id="2147483651" r:id="Re6c410f352854988"/>
    <p:sldLayoutId xmlns:r="http://schemas.openxmlformats.org/officeDocument/2006/relationships" id="2147483652" r:id="Rb0c13d9d625b48d0"/>
    <p:sldLayoutId xmlns:r="http://schemas.openxmlformats.org/officeDocument/2006/relationships" id="2147483653" r:id="R0b5e42d827734ffe"/>
    <p:sldLayoutId xmlns:r="http://schemas.openxmlformats.org/officeDocument/2006/relationships" id="2147483654" r:id="Rf08a5375311c4d38"/>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f5fffd778a4b07" /><Relationship Type="http://schemas.openxmlformats.org/officeDocument/2006/relationships/image" Target="/ppt/media/image.jpeg" Id="R6b1ba4a2dc0540c2" /><Relationship Type="http://schemas.openxmlformats.org/officeDocument/2006/relationships/notesSlide" Target="/ppt/notesSlides/notesSlide1.xml" Id="R623a0828cac742c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8e9a4812a124069" /><Relationship Type="http://schemas.openxmlformats.org/officeDocument/2006/relationships/image" Target="/ppt/media/image2.jpeg" Id="Rae5bb296501841f9" /><Relationship Type="http://schemas.openxmlformats.org/officeDocument/2006/relationships/image" Target="/ppt/media/image3.jpeg" Id="R2617f8a0ad934b7d" /><Relationship Type="http://schemas.openxmlformats.org/officeDocument/2006/relationships/image" Target="/ppt/media/image4.jpeg" Id="R8d3916fc7586408a" /><Relationship Type="http://schemas.openxmlformats.org/officeDocument/2006/relationships/notesSlide" Target="/ppt/notesSlides/notesSlide2.xml" Id="R0d26bf94c04743fa"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50f4cc339c8e4a39" /><Relationship Type="http://schemas.openxmlformats.org/officeDocument/2006/relationships/notesSlide" Target="/ppt/notesSlides/notesSlide3.xml" Id="R131ab1a03a1549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53ad90e07eb4a25" /><Relationship Type="http://schemas.openxmlformats.org/officeDocument/2006/relationships/chart" Target="/ppt/slides/charts/chart1.xml" Id="R7558f46b26674ec4" /><Relationship Type="http://schemas.openxmlformats.org/officeDocument/2006/relationships/notesSlide" Target="/ppt/notesSlides/notesSlide4.xml" Id="R6f1f2762364d4c41"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ac3878faba6949c0" /><Relationship Type="http://schemas.openxmlformats.org/officeDocument/2006/relationships/chart" Target="/ppt/slides/charts/chart2.xml" Id="Re9bd612a0c4544e6" /><Relationship Type="http://schemas.openxmlformats.org/officeDocument/2006/relationships/notesSlide" Target="/ppt/notesSlides/notesSlide5.xml" Id="R42edc0a8e1734e5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747a9402be44e04" /><Relationship Type="http://schemas.openxmlformats.org/officeDocument/2006/relationships/image" Target="/ppt/media/image5.jpeg" Id="R8b41d9db688c4656" /><Relationship Type="http://schemas.openxmlformats.org/officeDocument/2006/relationships/image" Target="/ppt/media/image6.jpeg" Id="R068925f12d3540c4" /><Relationship Type="http://schemas.openxmlformats.org/officeDocument/2006/relationships/notesSlide" Target="/ppt/notesSlides/notesSlide6.xml" Id="Rd5cd84dd25f34ce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00ecbe873ce24ed6" /><Relationship Type="http://schemas.openxmlformats.org/officeDocument/2006/relationships/notesSlide" Target="/ppt/notesSlides/notesSlide7.xml" Id="R18b2e2169ec9437e"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73e44471e7ba4bd7" /><Relationship Type="http://schemas.openxmlformats.org/officeDocument/2006/relationships/notesSlide" Target="/ppt/notesSlides/notesSlide8.xml" Id="Rbda6338b035b4fa9"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973a0bc87954513" /><Relationship Type="http://schemas.openxmlformats.org/officeDocument/2006/relationships/notesSlide" Target="/ppt/notesSlides/notesSlide9.xml" Id="Rd18eb20e31064342"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1035903b18744504" /><Relationship Type="http://schemas.openxmlformats.org/officeDocument/2006/relationships/notesSlide" Target="/ppt/notesSlides/notesSlide10.xml" Id="R9aae9978cf3541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b718350acaba48d5" /><Relationship Type="http://schemas.openxmlformats.org/officeDocument/2006/relationships/notesSlide" Target="/ppt/notesSlides/notesSlide11.xml" Id="R379c9fd8e4474dd3"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44715ddde0b44a96" /><Relationship Type="http://schemas.openxmlformats.org/officeDocument/2006/relationships/notesSlide" Target="/ppt/notesSlides/notesSlide12.xml" Id="Re4540e3469fc454a"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DINOv2</c:v>
          </c:tx>
          <c:spPr>
            <a:solidFill xmlns:a="http://schemas.openxmlformats.org/drawingml/2006/main">
              <a:srgbClr val="34667C"/>
            </a:solidFill>
          </c:spPr>
          <c:invertIfNegative val="0"/>
          <c:cat>
            <c:strRef>
              <c:f>'Chart Data'!$A$2:$A$3</c:f>
              <c:strCache>
                <c:ptCount val="2"/>
                <c:pt idx="0">
                  <c:v>Frozen</c:v>
                </c:pt>
                <c:pt idx="1">
                  <c:v>Partial</c:v>
                </c:pt>
              </c:strCache>
            </c:strRef>
          </c:cat>
          <c:val>
            <c:numRef>
              <c:f>'Chart Data'!$B$2:$B$3</c:f>
              <c:numCache>
                <c:formatCode>0</c:formatCode>
                <c:ptCount val="2"/>
                <c:pt idx="0">
                  <c:v>90.71</c:v>
                </c:pt>
                <c:pt idx="1">
                  <c:v>96.9</c:v>
                </c:pt>
              </c:numCache>
            </c:numRef>
          </c:val>
        </c:ser>
        <c:ser>
          <c:idx val="1"/>
          <c:order val="1"/>
          <c:tx>
            <c:v>SigLIP 2</c:v>
          </c:tx>
          <c:spPr>
            <a:solidFill xmlns:a="http://schemas.openxmlformats.org/drawingml/2006/main">
              <a:srgbClr val="B35B38"/>
            </a:solidFill>
          </c:spPr>
          <c:invertIfNegative val="0"/>
          <c:cat>
            <c:strRef>
              <c:f>'Chart Data'!$C$2:$C$3</c:f>
              <c:strCache>
                <c:ptCount val="2"/>
                <c:pt idx="0">
                  <c:v>Frozen</c:v>
                </c:pt>
                <c:pt idx="1">
                  <c:v>Partial</c:v>
                </c:pt>
              </c:strCache>
            </c:strRef>
          </c:cat>
          <c:val>
            <c:numRef>
              <c:f>'Chart Data'!$D$2:$D$3</c:f>
              <c:numCache>
                <c:formatCode>0</c:formatCode>
                <c:ptCount val="2"/>
                <c:pt idx="0">
                  <c:v>96.9</c:v>
                </c:pt>
                <c:pt idx="1">
                  <c:v>96.9</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800" b="1">
                  <a:latin typeface="Arial"/>
                  <a:ea typeface="Arial"/>
                  <a:cs typeface="Arial"/>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rial"/>
                <a:ea typeface="Arial"/>
                <a:cs typeface="Arial"/>
              </a:defRPr>
            </a:pPr>
          </a:p>
        </c:txPr>
        <c:crossAx val="48672768"/>
      </c:catAx>
      <c:valAx>
        <c:axId val="48672768"/>
        <c:scaling>
          <c:orientation val="minMax"/>
          <c:max val="100"/>
          <c:min val="0"/>
        </c:scaling>
        <c:delete val="0"/>
        <c:axPos val="l"/>
        <c:majorGridlines>
          <c:spPr>
            <a:ln xmlns:a="http://schemas.openxmlformats.org/drawingml/2006/main" w="9525">
              <a:solidFill>
                <a:srgbClr val="D7DEDA"/>
              </a:solidFill>
            </a:ln>
          </c:spPr>
        </c:majorGridlines>
        <c:title>
          <c:tx>
            <c:rich>
              <a:bodyPr xmlns:a="http://schemas.openxmlformats.org/drawingml/2006/main"/>
              <a:lstStyle xmlns:a="http://schemas.openxmlformats.org/drawingml/2006/main"/>
              <a:p xmlns:a="http://schemas.openxmlformats.org/drawingml/2006/main">
                <a:r>
                  <a:rPr sz="1650">
                    <a:latin typeface="Arial"/>
                    <a:ea typeface="Arial"/>
                    <a:cs typeface="Arial"/>
                  </a:rPr>
                  <a:t>Mean test macro-F1 (%)</a:t>
                </a:r>
              </a:p>
            </c:rich>
          </c:tx>
          <c:overlay val="0"/>
          <c:txPr>
            <a:bodyPr xmlns:a="http://schemas.openxmlformats.org/drawingml/2006/main" anchorCtr="1"/>
            <a:lstStyle xmlns:a="http://schemas.openxmlformats.org/drawingml/2006/main"/>
            <a:p xmlns:a="http://schemas.openxmlformats.org/drawingml/2006/main">
              <a:pPr>
                <a:defRPr sz="1650">
                  <a:latin typeface="Arial"/>
                  <a:ea typeface="Arial"/>
                  <a:cs typeface="Arial"/>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rial"/>
                <a:ea typeface="Arial"/>
                <a:cs typeface="Arial"/>
              </a:defRPr>
            </a:pPr>
          </a:p>
        </c:txPr>
        <c:crossAx val="48650112"/>
        <c:crossBetween val="between"/>
        <c:majorUnit val="20"/>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varyColors val="0"/>
        <c:ser>
          <c:idx val="0"/>
          <c:order val="0"/>
          <c:tx>
            <c:v>Training (augmented)</c:v>
          </c:tx>
          <c:spPr>
            <a:ln xmlns:a="http://schemas.openxmlformats.org/drawingml/2006/main" w="28575">
              <a:solidFill>
                <a:srgbClr val="34667C"/>
              </a:solidFill>
            </a:ln>
          </c:spPr>
          <c:marker>
            <c:symbol val="circle"/>
            <c:size val="6"/>
            <c:spPr>
              <a:solidFill xmlns:a="http://schemas.openxmlformats.org/drawingml/2006/main">
                <a:srgbClr val="34667C"/>
              </a:solidFill>
            </c:spPr>
          </c:marker>
          <c:cat>
            <c:numRef>
              <c:f>'Chart Data'!$A$2:$A$10</c:f>
              <c:numCache>
                <c:formatCode>General</c:formatCode>
                <c:ptCount val="9"/>
                <c:pt idx="0">
                  <c:v>1</c:v>
                </c:pt>
                <c:pt idx="1">
                  <c:v>2</c:v>
                </c:pt>
                <c:pt idx="2">
                  <c:v>3</c:v>
                </c:pt>
                <c:pt idx="3">
                  <c:v>4</c:v>
                </c:pt>
                <c:pt idx="4">
                  <c:v>5</c:v>
                </c:pt>
                <c:pt idx="5">
                  <c:v>6</c:v>
                </c:pt>
                <c:pt idx="6">
                  <c:v>7</c:v>
                </c:pt>
                <c:pt idx="7">
                  <c:v>8</c:v>
                </c:pt>
                <c:pt idx="8">
                  <c:v>9</c:v>
                </c:pt>
              </c:numCache>
            </c:numRef>
          </c:cat>
          <c:val>
            <c:numRef>
              <c:f>'Chart Data'!$B$2:$B$10</c:f>
              <c:numCache>
                <c:formatCode>0.0</c:formatCode>
                <c:ptCount val="9"/>
                <c:pt idx="0">
                  <c:v>0.445614</c:v>
                </c:pt>
                <c:pt idx="1">
                  <c:v>0.166866</c:v>
                </c:pt>
                <c:pt idx="2">
                  <c:v>0.120543</c:v>
                </c:pt>
                <c:pt idx="3">
                  <c:v>0.107842</c:v>
                </c:pt>
                <c:pt idx="4">
                  <c:v>0.104165</c:v>
                </c:pt>
                <c:pt idx="5">
                  <c:v>0.071029</c:v>
                </c:pt>
                <c:pt idx="6">
                  <c:v>0.114618</c:v>
                </c:pt>
                <c:pt idx="7">
                  <c:v>0.058987</c:v>
                </c:pt>
                <c:pt idx="8">
                  <c:v>0.050935</c:v>
                </c:pt>
              </c:numCache>
            </c:numRef>
          </c:val>
          <c:smooth val="0"/>
        </c:ser>
        <c:ser>
          <c:idx val="1"/>
          <c:order val="1"/>
          <c:tx>
            <c:v>Validation (clean)</c:v>
          </c:tx>
          <c:spPr>
            <a:ln xmlns:a="http://schemas.openxmlformats.org/drawingml/2006/main" w="28575">
              <a:solidFill>
                <a:srgbClr val="B35B38"/>
              </a:solidFill>
            </a:ln>
          </c:spPr>
          <c:marker>
            <c:symbol val="circle"/>
            <c:size val="6"/>
            <c:spPr>
              <a:solidFill xmlns:a="http://schemas.openxmlformats.org/drawingml/2006/main">
                <a:srgbClr val="B35B38"/>
              </a:solidFill>
            </c:spPr>
          </c:marker>
          <c:cat>
            <c:numRef>
              <c:f>'Chart Data'!$C$2:$C$10</c:f>
              <c:numCache>
                <c:formatCode>General</c:formatCode>
                <c:ptCount val="9"/>
                <c:pt idx="0">
                  <c:v>1</c:v>
                </c:pt>
                <c:pt idx="1">
                  <c:v>2</c:v>
                </c:pt>
                <c:pt idx="2">
                  <c:v>3</c:v>
                </c:pt>
                <c:pt idx="3">
                  <c:v>4</c:v>
                </c:pt>
                <c:pt idx="4">
                  <c:v>5</c:v>
                </c:pt>
                <c:pt idx="5">
                  <c:v>6</c:v>
                </c:pt>
                <c:pt idx="6">
                  <c:v>7</c:v>
                </c:pt>
                <c:pt idx="7">
                  <c:v>8</c:v>
                </c:pt>
                <c:pt idx="8">
                  <c:v>9</c:v>
                </c:pt>
              </c:numCache>
            </c:numRef>
          </c:cat>
          <c:val>
            <c:numRef>
              <c:f>'Chart Data'!$D$2:$D$10</c:f>
              <c:numCache>
                <c:formatCode>0.0</c:formatCode>
                <c:ptCount val="9"/>
                <c:pt idx="0">
                  <c:v>0.11977</c:v>
                </c:pt>
                <c:pt idx="1">
                  <c:v>0.219334</c:v>
                </c:pt>
                <c:pt idx="2">
                  <c:v>0.070011</c:v>
                </c:pt>
                <c:pt idx="3">
                  <c:v>0.202009</c:v>
                </c:pt>
                <c:pt idx="4">
                  <c:v>0.122351</c:v>
                </c:pt>
                <c:pt idx="5">
                  <c:v>0.061811</c:v>
                </c:pt>
                <c:pt idx="6">
                  <c:v>0.064868</c:v>
                </c:pt>
                <c:pt idx="7">
                  <c:v>0.07555</c:v>
                </c:pt>
                <c:pt idx="8">
                  <c:v>0.374607</c:v>
                </c:pt>
              </c:numCache>
            </c:numRef>
          </c:val>
          <c:smooth val="0"/>
        </c:ser>
        <c:dLbls>
          <c:txPr>
            <a:bodyPr xmlns:a="http://schemas.openxmlformats.org/drawingml/2006/main" anchorCtr="1"/>
            <a:lstStyle xmlns:a="http://schemas.openxmlformats.org/drawingml/2006/main"/>
            <a:p xmlns:a="http://schemas.openxmlformats.org/drawingml/2006/main">
              <a:pPr>
                <a:defRPr>
                  <a:latin typeface="Arial"/>
                  <a:ea typeface="Arial"/>
                  <a:cs typeface="Arial"/>
                </a:defRPr>
              </a:pPr>
            </a:p>
          </c:txPr>
          <c:showLegendKey val="0"/>
          <c:showVal val="0"/>
          <c:showCatName val="0"/>
          <c:showSerName val="0"/>
          <c:showPercent val="0"/>
          <c:showBubbleSize val="0"/>
          <c:showLeaderLines val="0"/>
        </c:dLbls>
        <c:smooth val="0"/>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sz="1725">
                    <a:latin typeface="Arial"/>
                    <a:ea typeface="Arial"/>
                    <a:cs typeface="Arial"/>
                  </a:rPr>
                  <a:t>Epoch</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72768"/>
      </c:catAx>
      <c:valAx>
        <c:axId val="48672768"/>
        <c:scaling>
          <c:orientation val="minMax"/>
          <c:max val="0.5"/>
          <c:min val="0"/>
        </c:scaling>
        <c:delete val="0"/>
        <c:axPos val="l"/>
        <c:majorGridlines>
          <c:spPr>
            <a:ln xmlns:a="http://schemas.openxmlformats.org/drawingml/2006/main" w="9525">
              <a:solidFill>
                <a:srgbClr val="D7DEDA"/>
              </a:solidFill>
            </a:ln>
          </c:spPr>
        </c:majorGridlines>
        <c:title>
          <c:tx>
            <c:rich>
              <a:bodyPr xmlns:a="http://schemas.openxmlformats.org/drawingml/2006/main"/>
              <a:lstStyle xmlns:a="http://schemas.openxmlformats.org/drawingml/2006/main"/>
              <a:p xmlns:a="http://schemas.openxmlformats.org/drawingml/2006/main">
                <a:r>
                  <a:rPr sz="1725">
                    <a:latin typeface="Arial"/>
                    <a:ea typeface="Arial"/>
                    <a:cs typeface="Arial"/>
                  </a:rPr>
                  <a:t>Cross-entropy loss</a:t>
                </a:r>
              </a:p>
            </c:rich>
          </c:tx>
          <c:overlay val="0"/>
          <c:txPr>
            <a:bodyPr xmlns:a="http://schemas.openxmlformats.org/drawingml/2006/main" anchorCtr="1"/>
            <a:lstStyle xmlns:a="http://schemas.openxmlformats.org/drawingml/2006/main"/>
            <a:p xmlns:a="http://schemas.openxmlformats.org/drawingml/2006/main">
              <a:pPr>
                <a:defRPr sz="1725">
                  <a:latin typeface="Arial"/>
                  <a:ea typeface="Arial"/>
                  <a:cs typeface="Arial"/>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rial"/>
                <a:ea typeface="Arial"/>
                <a:cs typeface="Arial"/>
              </a:defRPr>
            </a:pPr>
          </a:p>
        </c:txPr>
        <c:crossAx val="48650112"/>
        <c:crossBetween val="between"/>
        <c:majorUnit val="0.1"/>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rial"/>
              <a:ea typeface="Arial"/>
              <a:cs typeface="Arial"/>
            </a:defRPr>
          </a:pPr>
        </a:p>
      </c:txPr>
    </c:legend>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DCE1777-5C15-4177-880B-B24B32B4E425}"/>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1</a:t>
            </a:r>
          </a:p>
        </p:txBody>
      </p:sp>
      <p:sp>
        <p:nvSpPr>
          <p:cNvPr id="2" name="">
            <a:extLst xmlns:a="http://schemas.openxmlformats.org/drawingml/2006/main">
              <a:ext uri="{FF2B5EF4-FFF2-40B4-BE49-F238E27FC236}">
                <a16:creationId xmlns:a16="http://schemas.microsoft.com/office/drawing/2014/main" id="{B010794A-C437-4F34-AD39-73EA330E2FC0}"/>
              </a:ext>
            </a:extLst>
          </p:cNvPr>
          <p:cNvSpPr>
            <a:spLocks xmlns:a="http://schemas.openxmlformats.org/drawingml/2006/main" noGrp="1"/>
          </p:cNvSpPr>
          <p:nvPr/>
        </p:nvSpPr>
        <p:spPr>
          <a:xfrm xmlns:a="http://schemas.openxmlformats.org/drawingml/2006/main">
            <a:off x="609600" y="1428750"/>
            <a:ext cx="61912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22362F"/>
                </a:solidFill>
                <a:latin typeface="Arial"/>
                <a:ea typeface="Arial"/>
                <a:cs typeface="Arial"/>
              </a:defRPr>
            </a:defPPr>
            <a:lvl1pPr>
              <a:defRPr sz="4800" b="1">
                <a:solidFill>
                  <a:srgbClr val="22362F"/>
                </a:solidFill>
                <a:latin typeface="Arial"/>
                <a:ea typeface="Arial"/>
                <a:cs typeface="Arial"/>
              </a:defRPr>
            </a:lvl1pPr>
            <a:lvl2pPr>
              <a:defRPr sz="4800" b="1">
                <a:solidFill>
                  <a:srgbClr val="22362F"/>
                </a:solidFill>
                <a:latin typeface="Arial"/>
                <a:ea typeface="Arial"/>
                <a:cs typeface="Arial"/>
              </a:defRPr>
            </a:lvl2pPr>
            <a:lvl3pPr>
              <a:defRPr sz="4800" b="1">
                <a:solidFill>
                  <a:srgbClr val="22362F"/>
                </a:solidFill>
                <a:latin typeface="Arial"/>
                <a:ea typeface="Arial"/>
                <a:cs typeface="Arial"/>
              </a:defRPr>
            </a:lvl3pPr>
            <a:lvl4pPr>
              <a:defRPr sz="4800" b="1">
                <a:solidFill>
                  <a:srgbClr val="22362F"/>
                </a:solidFill>
                <a:latin typeface="Arial"/>
                <a:ea typeface="Arial"/>
                <a:cs typeface="Arial"/>
              </a:defRPr>
            </a:lvl4pPr>
            <a:lvl5pPr>
              <a:defRPr sz="4800" b="1">
                <a:solidFill>
                  <a:srgbClr val="22362F"/>
                </a:solidFill>
                <a:latin typeface="Arial"/>
                <a:ea typeface="Arial"/>
                <a:cs typeface="Arial"/>
              </a:defRPr>
            </a:lvl5pPr>
            <a:lvl6pPr>
              <a:defRPr sz="4800" b="1">
                <a:solidFill>
                  <a:srgbClr val="22362F"/>
                </a:solidFill>
                <a:latin typeface="Arial"/>
                <a:ea typeface="Arial"/>
                <a:cs typeface="Arial"/>
              </a:defRPr>
            </a:lvl6pPr>
            <a:lvl7pPr>
              <a:defRPr sz="4800" b="1">
                <a:solidFill>
                  <a:srgbClr val="22362F"/>
                </a:solidFill>
                <a:latin typeface="Arial"/>
                <a:ea typeface="Arial"/>
                <a:cs typeface="Arial"/>
              </a:defRPr>
            </a:lvl7pPr>
            <a:lvl8pPr>
              <a:defRPr sz="4800" b="1">
                <a:solidFill>
                  <a:srgbClr val="22362F"/>
                </a:solidFill>
                <a:latin typeface="Arial"/>
                <a:ea typeface="Arial"/>
                <a:cs typeface="Arial"/>
              </a:defRPr>
            </a:lvl8pPr>
            <a:lvl9pPr>
              <a:defRPr sz="4800" b="1">
                <a:solidFill>
                  <a:srgbClr val="22362F"/>
                </a:solidFill>
                <a:latin typeface="Arial"/>
                <a:ea typeface="Arial"/>
                <a:cs typeface="Arial"/>
              </a:defRPr>
            </a:lvl9pPr>
          </a:lstStyle>
          <a:p xmlns:a="http://schemas.openxmlformats.org/drawingml/2006/main">
            <a:pPr>
              <a:defRPr sz="4800" b="1">
                <a:solidFill>
                  <a:srgbClr val="22362F"/>
                </a:solidFill>
                <a:latin typeface="Arial"/>
                <a:ea typeface="Arial"/>
                <a:cs typeface="Arial"/>
              </a:defRPr>
            </a:pPr>
            <a:r>
              <a:rPr sz="4800" b="1">
                <a:solidFill>
                  <a:srgbClr val="22362F"/>
                </a:solidFill>
                <a:latin typeface="Arial"/>
                <a:ea typeface="Arial"/>
                <a:cs typeface="Arial"/>
              </a:rPr>
              <a:t>Bean-leaf disease</a:t>
            </a:r>
          </a:p>
          <a:p xmlns:a="http://schemas.openxmlformats.org/drawingml/2006/main">
            <a:pPr>
              <a:defRPr sz="4800" b="1">
                <a:solidFill>
                  <a:srgbClr val="22362F"/>
                </a:solidFill>
                <a:latin typeface="Arial"/>
                <a:ea typeface="Arial"/>
                <a:cs typeface="Arial"/>
              </a:defRPr>
            </a:pPr>
            <a:r>
              <a:rPr sz="4800" b="1">
                <a:solidFill>
                  <a:srgbClr val="22362F"/>
                </a:solidFill>
                <a:latin typeface="Arial"/>
                <a:ea typeface="Arial"/>
                <a:cs typeface="Arial"/>
              </a:rPr>
              <a:t>classification</a:t>
            </a:r>
          </a:p>
        </p:txBody>
      </p:sp>
      <p:sp>
        <p:nvSpPr>
          <p:cNvPr id="3" name="">
            <a:extLst xmlns:a="http://schemas.openxmlformats.org/drawingml/2006/main">
              <a:ext uri="{FF2B5EF4-FFF2-40B4-BE49-F238E27FC236}">
                <a16:creationId xmlns:a16="http://schemas.microsoft.com/office/drawing/2014/main" id="{774F7DD6-456E-48E7-B3B1-6D9B17A2E940}"/>
              </a:ext>
            </a:extLst>
          </p:cNvPr>
          <p:cNvSpPr>
            <a:spLocks xmlns:a="http://schemas.openxmlformats.org/drawingml/2006/main" noGrp="1"/>
          </p:cNvSpPr>
          <p:nvPr/>
        </p:nvSpPr>
        <p:spPr>
          <a:xfrm xmlns:a="http://schemas.openxmlformats.org/drawingml/2006/main">
            <a:off x="609600" y="3476625"/>
            <a:ext cx="6000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550" b="0">
                <a:solidFill>
                  <a:srgbClr val="245844"/>
                </a:solidFill>
                <a:latin typeface="Arial"/>
                <a:ea typeface="Arial"/>
                <a:cs typeface="Arial"/>
              </a:defRPr>
            </a:defPPr>
            <a:lvl1pPr>
              <a:defRPr sz="2550" b="0">
                <a:solidFill>
                  <a:srgbClr val="245844"/>
                </a:solidFill>
                <a:latin typeface="Arial"/>
                <a:ea typeface="Arial"/>
                <a:cs typeface="Arial"/>
              </a:defRPr>
            </a:lvl1pPr>
            <a:lvl2pPr>
              <a:defRPr sz="2550" b="0">
                <a:solidFill>
                  <a:srgbClr val="245844"/>
                </a:solidFill>
                <a:latin typeface="Arial"/>
                <a:ea typeface="Arial"/>
                <a:cs typeface="Arial"/>
              </a:defRPr>
            </a:lvl2pPr>
            <a:lvl3pPr>
              <a:defRPr sz="2550" b="0">
                <a:solidFill>
                  <a:srgbClr val="245844"/>
                </a:solidFill>
                <a:latin typeface="Arial"/>
                <a:ea typeface="Arial"/>
                <a:cs typeface="Arial"/>
              </a:defRPr>
            </a:lvl3pPr>
            <a:lvl4pPr>
              <a:defRPr sz="2550" b="0">
                <a:solidFill>
                  <a:srgbClr val="245844"/>
                </a:solidFill>
                <a:latin typeface="Arial"/>
                <a:ea typeface="Arial"/>
                <a:cs typeface="Arial"/>
              </a:defRPr>
            </a:lvl4pPr>
            <a:lvl5pPr>
              <a:defRPr sz="2550" b="0">
                <a:solidFill>
                  <a:srgbClr val="245844"/>
                </a:solidFill>
                <a:latin typeface="Arial"/>
                <a:ea typeface="Arial"/>
                <a:cs typeface="Arial"/>
              </a:defRPr>
            </a:lvl5pPr>
            <a:lvl6pPr>
              <a:defRPr sz="2550" b="0">
                <a:solidFill>
                  <a:srgbClr val="245844"/>
                </a:solidFill>
                <a:latin typeface="Arial"/>
                <a:ea typeface="Arial"/>
                <a:cs typeface="Arial"/>
              </a:defRPr>
            </a:lvl6pPr>
            <a:lvl7pPr>
              <a:defRPr sz="2550" b="0">
                <a:solidFill>
                  <a:srgbClr val="245844"/>
                </a:solidFill>
                <a:latin typeface="Arial"/>
                <a:ea typeface="Arial"/>
                <a:cs typeface="Arial"/>
              </a:defRPr>
            </a:lvl7pPr>
            <a:lvl8pPr>
              <a:defRPr sz="2550" b="0">
                <a:solidFill>
                  <a:srgbClr val="245844"/>
                </a:solidFill>
                <a:latin typeface="Arial"/>
                <a:ea typeface="Arial"/>
                <a:cs typeface="Arial"/>
              </a:defRPr>
            </a:lvl8pPr>
            <a:lvl9pPr>
              <a:defRPr sz="2550" b="0">
                <a:solidFill>
                  <a:srgbClr val="245844"/>
                </a:solidFill>
                <a:latin typeface="Arial"/>
                <a:ea typeface="Arial"/>
                <a:cs typeface="Arial"/>
              </a:defRPr>
            </a:lvl9pPr>
          </a:lstStyle>
          <a:p xmlns:a="http://schemas.openxmlformats.org/drawingml/2006/main">
            <a:pPr>
              <a:defRPr sz="2550" b="0">
                <a:solidFill>
                  <a:srgbClr val="245844"/>
                </a:solidFill>
                <a:latin typeface="Arial"/>
                <a:ea typeface="Arial"/>
                <a:cs typeface="Arial"/>
              </a:defRPr>
            </a:pPr>
            <a:r>
              <a:rPr sz="2550" b="0">
                <a:solidFill>
                  <a:srgbClr val="245844"/>
                </a:solidFill>
                <a:latin typeface="Arial"/>
                <a:ea typeface="Arial"/>
                <a:cs typeface="Arial"/>
              </a:rPr>
              <a:t>SigLIP 2 and DINOv2</a:t>
            </a:r>
          </a:p>
        </p:txBody>
      </p:sp>
      <p:sp>
        <p:nvSpPr>
          <p:cNvPr id="4" name="">
            <a:extLst xmlns:a="http://schemas.openxmlformats.org/drawingml/2006/main">
              <a:ext uri="{FF2B5EF4-FFF2-40B4-BE49-F238E27FC236}">
                <a16:creationId xmlns:a16="http://schemas.microsoft.com/office/drawing/2014/main" id="{B99DCEAE-CEFD-4A2D-83E1-AB63F3BAA427}"/>
              </a:ext>
            </a:extLst>
          </p:cNvPr>
          <p:cNvSpPr>
            <a:spLocks xmlns:a="http://schemas.openxmlformats.org/drawingml/2006/main" noGrp="1"/>
          </p:cNvSpPr>
          <p:nvPr/>
        </p:nvSpPr>
        <p:spPr>
          <a:xfrm xmlns:a="http://schemas.openxmlformats.org/drawingml/2006/main">
            <a:off x="609600" y="4886325"/>
            <a:ext cx="5619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864"/>
                </a:solidFill>
                <a:latin typeface="Arial"/>
                <a:ea typeface="Arial"/>
                <a:cs typeface="Arial"/>
              </a:defRPr>
            </a:defPPr>
            <a:lvl1pPr>
              <a:defRPr sz="1800" b="0">
                <a:solidFill>
                  <a:srgbClr val="5D6864"/>
                </a:solidFill>
                <a:latin typeface="Arial"/>
                <a:ea typeface="Arial"/>
                <a:cs typeface="Arial"/>
              </a:defRPr>
            </a:lvl1pPr>
            <a:lvl2pPr>
              <a:defRPr sz="1800" b="0">
                <a:solidFill>
                  <a:srgbClr val="5D6864"/>
                </a:solidFill>
                <a:latin typeface="Arial"/>
                <a:ea typeface="Arial"/>
                <a:cs typeface="Arial"/>
              </a:defRPr>
            </a:lvl2pPr>
            <a:lvl3pPr>
              <a:defRPr sz="1800" b="0">
                <a:solidFill>
                  <a:srgbClr val="5D6864"/>
                </a:solidFill>
                <a:latin typeface="Arial"/>
                <a:ea typeface="Arial"/>
                <a:cs typeface="Arial"/>
              </a:defRPr>
            </a:lvl3pPr>
            <a:lvl4pPr>
              <a:defRPr sz="1800" b="0">
                <a:solidFill>
                  <a:srgbClr val="5D6864"/>
                </a:solidFill>
                <a:latin typeface="Arial"/>
                <a:ea typeface="Arial"/>
                <a:cs typeface="Arial"/>
              </a:defRPr>
            </a:lvl4pPr>
            <a:lvl5pPr>
              <a:defRPr sz="1800" b="0">
                <a:solidFill>
                  <a:srgbClr val="5D6864"/>
                </a:solidFill>
                <a:latin typeface="Arial"/>
                <a:ea typeface="Arial"/>
                <a:cs typeface="Arial"/>
              </a:defRPr>
            </a:lvl5pPr>
            <a:lvl6pPr>
              <a:defRPr sz="1800" b="0">
                <a:solidFill>
                  <a:srgbClr val="5D6864"/>
                </a:solidFill>
                <a:latin typeface="Arial"/>
                <a:ea typeface="Arial"/>
                <a:cs typeface="Arial"/>
              </a:defRPr>
            </a:lvl6pPr>
            <a:lvl7pPr>
              <a:defRPr sz="1800" b="0">
                <a:solidFill>
                  <a:srgbClr val="5D6864"/>
                </a:solidFill>
                <a:latin typeface="Arial"/>
                <a:ea typeface="Arial"/>
                <a:cs typeface="Arial"/>
              </a:defRPr>
            </a:lvl7pPr>
            <a:lvl8pPr>
              <a:defRPr sz="1800" b="0">
                <a:solidFill>
                  <a:srgbClr val="5D6864"/>
                </a:solidFill>
                <a:latin typeface="Arial"/>
                <a:ea typeface="Arial"/>
                <a:cs typeface="Arial"/>
              </a:defRPr>
            </a:lvl8pPr>
            <a:lvl9pPr>
              <a:defRPr sz="1800" b="0">
                <a:solidFill>
                  <a:srgbClr val="5D6864"/>
                </a:solidFill>
                <a:latin typeface="Arial"/>
                <a:ea typeface="Arial"/>
                <a:cs typeface="Arial"/>
              </a:defRPr>
            </a:lvl9pPr>
          </a:lstStyle>
          <a:p xmlns:a="http://schemas.openxmlformats.org/drawingml/2006/main">
            <a:pPr>
              <a:defRPr sz="1800" b="0">
                <a:solidFill>
                  <a:srgbClr val="5D6864"/>
                </a:solidFill>
                <a:latin typeface="Arial"/>
                <a:ea typeface="Arial"/>
                <a:cs typeface="Arial"/>
              </a:defRPr>
            </a:pPr>
            <a:r>
              <a:rPr sz="1800" b="0">
                <a:solidFill>
                  <a:srgbClr val="5D6864"/>
                </a:solidFill>
                <a:latin typeface="Arial"/>
                <a:ea typeface="Arial"/>
                <a:cs typeface="Arial"/>
              </a:rPr>
              <a:t>Applied Vision Transformer Report</a:t>
            </a:r>
          </a:p>
          <a:p xmlns:a="http://schemas.openxmlformats.org/drawingml/2006/main">
            <a:pPr>
              <a:defRPr sz="1800" b="0">
                <a:solidFill>
                  <a:srgbClr val="5D6864"/>
                </a:solidFill>
                <a:latin typeface="Arial"/>
                <a:ea typeface="Arial"/>
                <a:cs typeface="Arial"/>
              </a:defRPr>
            </a:pPr>
            <a:r>
              <a:rPr sz="1800" b="0">
                <a:solidFill>
                  <a:srgbClr val="5D6864"/>
                </a:solidFill>
                <a:latin typeface="Arial"/>
                <a:ea typeface="Arial"/>
                <a:cs typeface="Arial"/>
              </a:rPr>
              <a:t>27 October 2026</a:t>
            </a:r>
          </a:p>
        </p:txBody>
      </p:sp>
      <p:pic>
        <p:nvPicPr>
          <p:cNvPr id="5" name="">
            <a:extLst xmlns:a="http://schemas.openxmlformats.org/drawingml/2006/main">
              <a:ext uri="{FF2B5EF4-FFF2-40B4-BE49-F238E27FC236}">
                <a16:creationId xmlns:a16="http://schemas.microsoft.com/office/drawing/2014/main" id="{921DC027-1425-41E8-B56A-18E11C9D3007}"/>
              </a:ext>
            </a:extLst>
          </p:cNvPr>
          <p:cNvPicPr>
            <a:picLocks xmlns:a="http://schemas.openxmlformats.org/drawingml/2006/main" noChangeAspect="1"/>
          </p:cNvPicPr>
          <p:nvPr/>
        </p:nvPicPr>
        <p:blipFill>
          <a:blip xmlns:r="http://schemas.openxmlformats.org/officeDocument/2006/relationships" xmlns:a="http://schemas.openxmlformats.org/drawingml/2006/main" r:embed="R6b1ba4a2dc0540c2"/>
          <a:stretch xmlns:a="http://schemas.openxmlformats.org/drawingml/2006/main"/>
        </p:blipFill>
        <p:spPr>
          <a:xfrm xmlns:a="http://schemas.openxmlformats.org/drawingml/2006/main">
            <a:off x="7429500" y="1333500"/>
            <a:ext cx="4000500" cy="4000500"/>
          </a:xfrm>
          <a:prstGeom xmlns:a="http://schemas.openxmlformats.org/drawingml/2006/main" prst="rect">
            <a:avLst/>
          </a:prstGeom>
        </p:spPr>
      </p:pic>
    </p:spTree>
    <p:extLst>
      <p:ext uri="{BB962C8B-B14F-4D97-AF65-F5344CB8AC3E}">
        <p14:creationId xmlns:p14="http://schemas.microsoft.com/office/powerpoint/2010/main" val="1085767338"/>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6BC9362A-A546-4582-B03E-48298319AA5B}"/>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Three classes in field photographs</a:t>
            </a:r>
          </a:p>
        </p:txBody>
      </p:sp>
      <p:sp>
        <p:nvSpPr>
          <p:cNvPr id="2" name="">
            <a:extLst xmlns:a="http://schemas.openxmlformats.org/drawingml/2006/main">
              <a:ext uri="{FF2B5EF4-FFF2-40B4-BE49-F238E27FC236}">
                <a16:creationId xmlns:a16="http://schemas.microsoft.com/office/drawing/2014/main" id="{5CAA9C77-5638-4FD1-B1D2-0E8CC0193E38}"/>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2</a:t>
            </a:r>
          </a:p>
        </p:txBody>
      </p:sp>
      <p:pic>
        <p:nvPicPr>
          <p:cNvPr id="3" name="">
            <a:extLst xmlns:a="http://schemas.openxmlformats.org/drawingml/2006/main">
              <a:ext uri="{FF2B5EF4-FFF2-40B4-BE49-F238E27FC236}">
                <a16:creationId xmlns:a16="http://schemas.microsoft.com/office/drawing/2014/main" id="{C59DC130-0CEC-4014-935D-18695543F1FA}"/>
              </a:ext>
            </a:extLst>
          </p:cNvPr>
          <p:cNvPicPr>
            <a:picLocks xmlns:a="http://schemas.openxmlformats.org/drawingml/2006/main" noChangeAspect="1"/>
          </p:cNvPicPr>
          <p:nvPr/>
        </p:nvPicPr>
        <p:blipFill>
          <a:blip xmlns:r="http://schemas.openxmlformats.org/officeDocument/2006/relationships" xmlns:a="http://schemas.openxmlformats.org/drawingml/2006/main" r:embed="Rae5bb296501841f9"/>
          <a:stretch xmlns:a="http://schemas.openxmlformats.org/drawingml/2006/main"/>
        </p:blipFill>
        <p:spPr>
          <a:xfrm xmlns:a="http://schemas.openxmlformats.org/drawingml/2006/main">
            <a:off x="609600" y="1476375"/>
            <a:ext cx="3143250" cy="31432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6EBB6DC4-8C18-4396-A582-3D4986977255}"/>
              </a:ext>
            </a:extLst>
          </p:cNvPr>
          <p:cNvSpPr>
            <a:spLocks xmlns:a="http://schemas.openxmlformats.org/drawingml/2006/main" noGrp="1"/>
          </p:cNvSpPr>
          <p:nvPr/>
        </p:nvSpPr>
        <p:spPr>
          <a:xfrm xmlns:a="http://schemas.openxmlformats.org/drawingml/2006/main">
            <a:off x="609600" y="4800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2362F"/>
                </a:solidFill>
                <a:latin typeface="Arial"/>
                <a:ea typeface="Arial"/>
                <a:cs typeface="Arial"/>
              </a:defRPr>
            </a:defPPr>
            <a:lvl1pPr>
              <a:defRPr sz="2100" b="1">
                <a:solidFill>
                  <a:srgbClr val="22362F"/>
                </a:solidFill>
                <a:latin typeface="Arial"/>
                <a:ea typeface="Arial"/>
                <a:cs typeface="Arial"/>
              </a:defRPr>
            </a:lvl1pPr>
            <a:lvl2pPr>
              <a:defRPr sz="2100" b="1">
                <a:solidFill>
                  <a:srgbClr val="22362F"/>
                </a:solidFill>
                <a:latin typeface="Arial"/>
                <a:ea typeface="Arial"/>
                <a:cs typeface="Arial"/>
              </a:defRPr>
            </a:lvl2pPr>
            <a:lvl3pPr>
              <a:defRPr sz="2100" b="1">
                <a:solidFill>
                  <a:srgbClr val="22362F"/>
                </a:solidFill>
                <a:latin typeface="Arial"/>
                <a:ea typeface="Arial"/>
                <a:cs typeface="Arial"/>
              </a:defRPr>
            </a:lvl3pPr>
            <a:lvl4pPr>
              <a:defRPr sz="2100" b="1">
                <a:solidFill>
                  <a:srgbClr val="22362F"/>
                </a:solidFill>
                <a:latin typeface="Arial"/>
                <a:ea typeface="Arial"/>
                <a:cs typeface="Arial"/>
              </a:defRPr>
            </a:lvl4pPr>
            <a:lvl5pPr>
              <a:defRPr sz="2100" b="1">
                <a:solidFill>
                  <a:srgbClr val="22362F"/>
                </a:solidFill>
                <a:latin typeface="Arial"/>
                <a:ea typeface="Arial"/>
                <a:cs typeface="Arial"/>
              </a:defRPr>
            </a:lvl5pPr>
            <a:lvl6pPr>
              <a:defRPr sz="2100" b="1">
                <a:solidFill>
                  <a:srgbClr val="22362F"/>
                </a:solidFill>
                <a:latin typeface="Arial"/>
                <a:ea typeface="Arial"/>
                <a:cs typeface="Arial"/>
              </a:defRPr>
            </a:lvl6pPr>
            <a:lvl7pPr>
              <a:defRPr sz="2100" b="1">
                <a:solidFill>
                  <a:srgbClr val="22362F"/>
                </a:solidFill>
                <a:latin typeface="Arial"/>
                <a:ea typeface="Arial"/>
                <a:cs typeface="Arial"/>
              </a:defRPr>
            </a:lvl7pPr>
            <a:lvl8pPr>
              <a:defRPr sz="2100" b="1">
                <a:solidFill>
                  <a:srgbClr val="22362F"/>
                </a:solidFill>
                <a:latin typeface="Arial"/>
                <a:ea typeface="Arial"/>
                <a:cs typeface="Arial"/>
              </a:defRPr>
            </a:lvl8pPr>
            <a:lvl9pPr>
              <a:defRPr sz="2100" b="1">
                <a:solidFill>
                  <a:srgbClr val="22362F"/>
                </a:solidFill>
                <a:latin typeface="Arial"/>
                <a:ea typeface="Arial"/>
                <a:cs typeface="Arial"/>
              </a:defRPr>
            </a:lvl9pPr>
          </a:lstStyle>
          <a:p xmlns:a="http://schemas.openxmlformats.org/drawingml/2006/main">
            <a:pPr>
              <a:defRPr sz="2100" b="1">
                <a:solidFill>
                  <a:srgbClr val="22362F"/>
                </a:solidFill>
                <a:latin typeface="Arial"/>
                <a:ea typeface="Arial"/>
                <a:cs typeface="Arial"/>
              </a:defRPr>
            </a:pPr>
            <a:r>
              <a:rPr sz="2100" b="1">
                <a:solidFill>
                  <a:srgbClr val="22362F"/>
                </a:solidFill>
                <a:latin typeface="Arial"/>
                <a:ea typeface="Arial"/>
                <a:cs typeface="Arial"/>
              </a:rPr>
              <a:t>Angular leaf spot</a:t>
            </a:r>
          </a:p>
        </p:txBody>
      </p:sp>
      <p:pic>
        <p:nvPicPr>
          <p:cNvPr id="5" name="">
            <a:extLst xmlns:a="http://schemas.openxmlformats.org/drawingml/2006/main">
              <a:ext uri="{FF2B5EF4-FFF2-40B4-BE49-F238E27FC236}">
                <a16:creationId xmlns:a16="http://schemas.microsoft.com/office/drawing/2014/main" id="{4A7611EC-EC6D-4FBB-94C2-8E281687FA66}"/>
              </a:ext>
            </a:extLst>
          </p:cNvPr>
          <p:cNvPicPr>
            <a:picLocks xmlns:a="http://schemas.openxmlformats.org/drawingml/2006/main" noChangeAspect="1"/>
          </p:cNvPicPr>
          <p:nvPr/>
        </p:nvPicPr>
        <p:blipFill>
          <a:blip xmlns:r="http://schemas.openxmlformats.org/officeDocument/2006/relationships" xmlns:a="http://schemas.openxmlformats.org/drawingml/2006/main" r:embed="R2617f8a0ad934b7d"/>
          <a:stretch xmlns:a="http://schemas.openxmlformats.org/drawingml/2006/main"/>
        </p:blipFill>
        <p:spPr>
          <a:xfrm xmlns:a="http://schemas.openxmlformats.org/drawingml/2006/main">
            <a:off x="4324350" y="1476375"/>
            <a:ext cx="3143250" cy="3143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870217D0-8689-4C81-AC7A-D2679D27FCF4}"/>
              </a:ext>
            </a:extLst>
          </p:cNvPr>
          <p:cNvSpPr>
            <a:spLocks xmlns:a="http://schemas.openxmlformats.org/drawingml/2006/main" noGrp="1"/>
          </p:cNvSpPr>
          <p:nvPr/>
        </p:nvSpPr>
        <p:spPr>
          <a:xfrm xmlns:a="http://schemas.openxmlformats.org/drawingml/2006/main">
            <a:off x="4324350" y="4800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2362F"/>
                </a:solidFill>
                <a:latin typeface="Arial"/>
                <a:ea typeface="Arial"/>
                <a:cs typeface="Arial"/>
              </a:defRPr>
            </a:defPPr>
            <a:lvl1pPr>
              <a:defRPr sz="2100" b="1">
                <a:solidFill>
                  <a:srgbClr val="22362F"/>
                </a:solidFill>
                <a:latin typeface="Arial"/>
                <a:ea typeface="Arial"/>
                <a:cs typeface="Arial"/>
              </a:defRPr>
            </a:lvl1pPr>
            <a:lvl2pPr>
              <a:defRPr sz="2100" b="1">
                <a:solidFill>
                  <a:srgbClr val="22362F"/>
                </a:solidFill>
                <a:latin typeface="Arial"/>
                <a:ea typeface="Arial"/>
                <a:cs typeface="Arial"/>
              </a:defRPr>
            </a:lvl2pPr>
            <a:lvl3pPr>
              <a:defRPr sz="2100" b="1">
                <a:solidFill>
                  <a:srgbClr val="22362F"/>
                </a:solidFill>
                <a:latin typeface="Arial"/>
                <a:ea typeface="Arial"/>
                <a:cs typeface="Arial"/>
              </a:defRPr>
            </a:lvl3pPr>
            <a:lvl4pPr>
              <a:defRPr sz="2100" b="1">
                <a:solidFill>
                  <a:srgbClr val="22362F"/>
                </a:solidFill>
                <a:latin typeface="Arial"/>
                <a:ea typeface="Arial"/>
                <a:cs typeface="Arial"/>
              </a:defRPr>
            </a:lvl4pPr>
            <a:lvl5pPr>
              <a:defRPr sz="2100" b="1">
                <a:solidFill>
                  <a:srgbClr val="22362F"/>
                </a:solidFill>
                <a:latin typeface="Arial"/>
                <a:ea typeface="Arial"/>
                <a:cs typeface="Arial"/>
              </a:defRPr>
            </a:lvl5pPr>
            <a:lvl6pPr>
              <a:defRPr sz="2100" b="1">
                <a:solidFill>
                  <a:srgbClr val="22362F"/>
                </a:solidFill>
                <a:latin typeface="Arial"/>
                <a:ea typeface="Arial"/>
                <a:cs typeface="Arial"/>
              </a:defRPr>
            </a:lvl6pPr>
            <a:lvl7pPr>
              <a:defRPr sz="2100" b="1">
                <a:solidFill>
                  <a:srgbClr val="22362F"/>
                </a:solidFill>
                <a:latin typeface="Arial"/>
                <a:ea typeface="Arial"/>
                <a:cs typeface="Arial"/>
              </a:defRPr>
            </a:lvl7pPr>
            <a:lvl8pPr>
              <a:defRPr sz="2100" b="1">
                <a:solidFill>
                  <a:srgbClr val="22362F"/>
                </a:solidFill>
                <a:latin typeface="Arial"/>
                <a:ea typeface="Arial"/>
                <a:cs typeface="Arial"/>
              </a:defRPr>
            </a:lvl8pPr>
            <a:lvl9pPr>
              <a:defRPr sz="2100" b="1">
                <a:solidFill>
                  <a:srgbClr val="22362F"/>
                </a:solidFill>
                <a:latin typeface="Arial"/>
                <a:ea typeface="Arial"/>
                <a:cs typeface="Arial"/>
              </a:defRPr>
            </a:lvl9pPr>
          </a:lstStyle>
          <a:p xmlns:a="http://schemas.openxmlformats.org/drawingml/2006/main">
            <a:pPr>
              <a:defRPr sz="2100" b="1">
                <a:solidFill>
                  <a:srgbClr val="22362F"/>
                </a:solidFill>
                <a:latin typeface="Arial"/>
                <a:ea typeface="Arial"/>
                <a:cs typeface="Arial"/>
              </a:defRPr>
            </a:pPr>
            <a:r>
              <a:rPr sz="2100" b="1">
                <a:solidFill>
                  <a:srgbClr val="22362F"/>
                </a:solidFill>
                <a:latin typeface="Arial"/>
                <a:ea typeface="Arial"/>
                <a:cs typeface="Arial"/>
              </a:rPr>
              <a:t>Bean rust</a:t>
            </a:r>
          </a:p>
        </p:txBody>
      </p:sp>
      <p:pic>
        <p:nvPicPr>
          <p:cNvPr id="7" name="">
            <a:extLst xmlns:a="http://schemas.openxmlformats.org/drawingml/2006/main">
              <a:ext uri="{FF2B5EF4-FFF2-40B4-BE49-F238E27FC236}">
                <a16:creationId xmlns:a16="http://schemas.microsoft.com/office/drawing/2014/main" id="{54849734-20ED-4E80-8BD4-AF71C02D389C}"/>
              </a:ext>
            </a:extLst>
          </p:cNvPr>
          <p:cNvPicPr>
            <a:picLocks xmlns:a="http://schemas.openxmlformats.org/drawingml/2006/main" noChangeAspect="1"/>
          </p:cNvPicPr>
          <p:nvPr/>
        </p:nvPicPr>
        <p:blipFill>
          <a:blip xmlns:r="http://schemas.openxmlformats.org/officeDocument/2006/relationships" xmlns:a="http://schemas.openxmlformats.org/drawingml/2006/main" r:embed="R8d3916fc7586408a"/>
          <a:stretch xmlns:a="http://schemas.openxmlformats.org/drawingml/2006/main"/>
        </p:blipFill>
        <p:spPr>
          <a:xfrm xmlns:a="http://schemas.openxmlformats.org/drawingml/2006/main">
            <a:off x="8039100" y="1476375"/>
            <a:ext cx="3143250" cy="31432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DF866528-5B68-4FD1-A717-FEC8BDEBB07A}"/>
              </a:ext>
            </a:extLst>
          </p:cNvPr>
          <p:cNvSpPr>
            <a:spLocks xmlns:a="http://schemas.openxmlformats.org/drawingml/2006/main" noGrp="1"/>
          </p:cNvSpPr>
          <p:nvPr/>
        </p:nvSpPr>
        <p:spPr>
          <a:xfrm xmlns:a="http://schemas.openxmlformats.org/drawingml/2006/main">
            <a:off x="8039100" y="4800600"/>
            <a:ext cx="3333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2362F"/>
                </a:solidFill>
                <a:latin typeface="Arial"/>
                <a:ea typeface="Arial"/>
                <a:cs typeface="Arial"/>
              </a:defRPr>
            </a:defPPr>
            <a:lvl1pPr>
              <a:defRPr sz="2100" b="1">
                <a:solidFill>
                  <a:srgbClr val="22362F"/>
                </a:solidFill>
                <a:latin typeface="Arial"/>
                <a:ea typeface="Arial"/>
                <a:cs typeface="Arial"/>
              </a:defRPr>
            </a:lvl1pPr>
            <a:lvl2pPr>
              <a:defRPr sz="2100" b="1">
                <a:solidFill>
                  <a:srgbClr val="22362F"/>
                </a:solidFill>
                <a:latin typeface="Arial"/>
                <a:ea typeface="Arial"/>
                <a:cs typeface="Arial"/>
              </a:defRPr>
            </a:lvl2pPr>
            <a:lvl3pPr>
              <a:defRPr sz="2100" b="1">
                <a:solidFill>
                  <a:srgbClr val="22362F"/>
                </a:solidFill>
                <a:latin typeface="Arial"/>
                <a:ea typeface="Arial"/>
                <a:cs typeface="Arial"/>
              </a:defRPr>
            </a:lvl3pPr>
            <a:lvl4pPr>
              <a:defRPr sz="2100" b="1">
                <a:solidFill>
                  <a:srgbClr val="22362F"/>
                </a:solidFill>
                <a:latin typeface="Arial"/>
                <a:ea typeface="Arial"/>
                <a:cs typeface="Arial"/>
              </a:defRPr>
            </a:lvl4pPr>
            <a:lvl5pPr>
              <a:defRPr sz="2100" b="1">
                <a:solidFill>
                  <a:srgbClr val="22362F"/>
                </a:solidFill>
                <a:latin typeface="Arial"/>
                <a:ea typeface="Arial"/>
                <a:cs typeface="Arial"/>
              </a:defRPr>
            </a:lvl5pPr>
            <a:lvl6pPr>
              <a:defRPr sz="2100" b="1">
                <a:solidFill>
                  <a:srgbClr val="22362F"/>
                </a:solidFill>
                <a:latin typeface="Arial"/>
                <a:ea typeface="Arial"/>
                <a:cs typeface="Arial"/>
              </a:defRPr>
            </a:lvl6pPr>
            <a:lvl7pPr>
              <a:defRPr sz="2100" b="1">
                <a:solidFill>
                  <a:srgbClr val="22362F"/>
                </a:solidFill>
                <a:latin typeface="Arial"/>
                <a:ea typeface="Arial"/>
                <a:cs typeface="Arial"/>
              </a:defRPr>
            </a:lvl7pPr>
            <a:lvl8pPr>
              <a:defRPr sz="2100" b="1">
                <a:solidFill>
                  <a:srgbClr val="22362F"/>
                </a:solidFill>
                <a:latin typeface="Arial"/>
                <a:ea typeface="Arial"/>
                <a:cs typeface="Arial"/>
              </a:defRPr>
            </a:lvl8pPr>
            <a:lvl9pPr>
              <a:defRPr sz="2100" b="1">
                <a:solidFill>
                  <a:srgbClr val="22362F"/>
                </a:solidFill>
                <a:latin typeface="Arial"/>
                <a:ea typeface="Arial"/>
                <a:cs typeface="Arial"/>
              </a:defRPr>
            </a:lvl9pPr>
          </a:lstStyle>
          <a:p xmlns:a="http://schemas.openxmlformats.org/drawingml/2006/main">
            <a:pPr>
              <a:defRPr sz="2100" b="1">
                <a:solidFill>
                  <a:srgbClr val="22362F"/>
                </a:solidFill>
                <a:latin typeface="Arial"/>
                <a:ea typeface="Arial"/>
                <a:cs typeface="Arial"/>
              </a:defRPr>
            </a:pPr>
            <a:r>
              <a:rPr sz="2100" b="1">
                <a:solidFill>
                  <a:srgbClr val="22362F"/>
                </a:solidFill>
                <a:latin typeface="Arial"/>
                <a:ea typeface="Arial"/>
                <a:cs typeface="Arial"/>
              </a:rPr>
              <a:t>Healthy</a:t>
            </a:r>
          </a:p>
        </p:txBody>
      </p:sp>
      <p:sp>
        <p:nvSpPr>
          <p:cNvPr id="9" name="">
            <a:extLst xmlns:a="http://schemas.openxmlformats.org/drawingml/2006/main">
              <a:ext uri="{FF2B5EF4-FFF2-40B4-BE49-F238E27FC236}">
                <a16:creationId xmlns:a16="http://schemas.microsoft.com/office/drawing/2014/main" id="{B6E74E6B-936B-49C3-8A26-DAA8A4D1881F}"/>
              </a:ext>
            </a:extLst>
          </p:cNvPr>
          <p:cNvSpPr>
            <a:spLocks xmlns:a="http://schemas.openxmlformats.org/drawingml/2006/main" noGrp="1"/>
          </p:cNvSpPr>
          <p:nvPr/>
        </p:nvSpPr>
        <p:spPr>
          <a:xfrm xmlns:a="http://schemas.openxmlformats.org/drawingml/2006/main">
            <a:off x="609600" y="54959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44"/>
                </a:solidFill>
                <a:latin typeface="Arial"/>
                <a:ea typeface="Arial"/>
                <a:cs typeface="Arial"/>
              </a:defRPr>
            </a:defPPr>
            <a:lvl1pPr>
              <a:defRPr sz="2250" b="1">
                <a:solidFill>
                  <a:srgbClr val="245844"/>
                </a:solidFill>
                <a:latin typeface="Arial"/>
                <a:ea typeface="Arial"/>
                <a:cs typeface="Arial"/>
              </a:defRPr>
            </a:lvl1pPr>
            <a:lvl2pPr>
              <a:defRPr sz="2250" b="1">
                <a:solidFill>
                  <a:srgbClr val="245844"/>
                </a:solidFill>
                <a:latin typeface="Arial"/>
                <a:ea typeface="Arial"/>
                <a:cs typeface="Arial"/>
              </a:defRPr>
            </a:lvl2pPr>
            <a:lvl3pPr>
              <a:defRPr sz="2250" b="1">
                <a:solidFill>
                  <a:srgbClr val="245844"/>
                </a:solidFill>
                <a:latin typeface="Arial"/>
                <a:ea typeface="Arial"/>
                <a:cs typeface="Arial"/>
              </a:defRPr>
            </a:lvl3pPr>
            <a:lvl4pPr>
              <a:defRPr sz="2250" b="1">
                <a:solidFill>
                  <a:srgbClr val="245844"/>
                </a:solidFill>
                <a:latin typeface="Arial"/>
                <a:ea typeface="Arial"/>
                <a:cs typeface="Arial"/>
              </a:defRPr>
            </a:lvl4pPr>
            <a:lvl5pPr>
              <a:defRPr sz="2250" b="1">
                <a:solidFill>
                  <a:srgbClr val="245844"/>
                </a:solidFill>
                <a:latin typeface="Arial"/>
                <a:ea typeface="Arial"/>
                <a:cs typeface="Arial"/>
              </a:defRPr>
            </a:lvl5pPr>
            <a:lvl6pPr>
              <a:defRPr sz="2250" b="1">
                <a:solidFill>
                  <a:srgbClr val="245844"/>
                </a:solidFill>
                <a:latin typeface="Arial"/>
                <a:ea typeface="Arial"/>
                <a:cs typeface="Arial"/>
              </a:defRPr>
            </a:lvl6pPr>
            <a:lvl7pPr>
              <a:defRPr sz="2250" b="1">
                <a:solidFill>
                  <a:srgbClr val="245844"/>
                </a:solidFill>
                <a:latin typeface="Arial"/>
                <a:ea typeface="Arial"/>
                <a:cs typeface="Arial"/>
              </a:defRPr>
            </a:lvl7pPr>
            <a:lvl8pPr>
              <a:defRPr sz="2250" b="1">
                <a:solidFill>
                  <a:srgbClr val="245844"/>
                </a:solidFill>
                <a:latin typeface="Arial"/>
                <a:ea typeface="Arial"/>
                <a:cs typeface="Arial"/>
              </a:defRPr>
            </a:lvl8pPr>
            <a:lvl9pPr>
              <a:defRPr sz="2250" b="1">
                <a:solidFill>
                  <a:srgbClr val="245844"/>
                </a:solidFill>
                <a:latin typeface="Arial"/>
                <a:ea typeface="Arial"/>
                <a:cs typeface="Arial"/>
              </a:defRPr>
            </a:lvl9pPr>
          </a:lstStyle>
          <a:p xmlns:a="http://schemas.openxmlformats.org/drawingml/2006/main">
            <a:pPr>
              <a:defRPr sz="2250" b="1">
                <a:solidFill>
                  <a:srgbClr val="245844"/>
                </a:solidFill>
                <a:latin typeface="Arial"/>
                <a:ea typeface="Arial"/>
                <a:cs typeface="Arial"/>
              </a:defRPr>
            </a:pPr>
            <a:r>
              <a:rPr sz="2250" b="1">
                <a:solidFill>
                  <a:srgbClr val="245844"/>
                </a:solidFill>
                <a:latin typeface="Arial"/>
                <a:ea typeface="Arial"/>
                <a:cs typeface="Arial"/>
              </a:rPr>
              <a:t>1,034 training</a:t>
            </a:r>
          </a:p>
        </p:txBody>
      </p:sp>
      <p:sp>
        <p:nvSpPr>
          <p:cNvPr id="10" name="">
            <a:extLst xmlns:a="http://schemas.openxmlformats.org/drawingml/2006/main">
              <a:ext uri="{FF2B5EF4-FFF2-40B4-BE49-F238E27FC236}">
                <a16:creationId xmlns:a16="http://schemas.microsoft.com/office/drawing/2014/main" id="{A3F604E8-7372-4B68-8C2D-DA120C5A3422}"/>
              </a:ext>
            </a:extLst>
          </p:cNvPr>
          <p:cNvSpPr>
            <a:spLocks xmlns:a="http://schemas.openxmlformats.org/drawingml/2006/main" noGrp="1"/>
          </p:cNvSpPr>
          <p:nvPr/>
        </p:nvSpPr>
        <p:spPr>
          <a:xfrm xmlns:a="http://schemas.openxmlformats.org/drawingml/2006/main">
            <a:off x="4324350" y="54959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44"/>
                </a:solidFill>
                <a:latin typeface="Arial"/>
                <a:ea typeface="Arial"/>
                <a:cs typeface="Arial"/>
              </a:defRPr>
            </a:defPPr>
            <a:lvl1pPr>
              <a:defRPr sz="2250" b="1">
                <a:solidFill>
                  <a:srgbClr val="245844"/>
                </a:solidFill>
                <a:latin typeface="Arial"/>
                <a:ea typeface="Arial"/>
                <a:cs typeface="Arial"/>
              </a:defRPr>
            </a:lvl1pPr>
            <a:lvl2pPr>
              <a:defRPr sz="2250" b="1">
                <a:solidFill>
                  <a:srgbClr val="245844"/>
                </a:solidFill>
                <a:latin typeface="Arial"/>
                <a:ea typeface="Arial"/>
                <a:cs typeface="Arial"/>
              </a:defRPr>
            </a:lvl2pPr>
            <a:lvl3pPr>
              <a:defRPr sz="2250" b="1">
                <a:solidFill>
                  <a:srgbClr val="245844"/>
                </a:solidFill>
                <a:latin typeface="Arial"/>
                <a:ea typeface="Arial"/>
                <a:cs typeface="Arial"/>
              </a:defRPr>
            </a:lvl3pPr>
            <a:lvl4pPr>
              <a:defRPr sz="2250" b="1">
                <a:solidFill>
                  <a:srgbClr val="245844"/>
                </a:solidFill>
                <a:latin typeface="Arial"/>
                <a:ea typeface="Arial"/>
                <a:cs typeface="Arial"/>
              </a:defRPr>
            </a:lvl4pPr>
            <a:lvl5pPr>
              <a:defRPr sz="2250" b="1">
                <a:solidFill>
                  <a:srgbClr val="245844"/>
                </a:solidFill>
                <a:latin typeface="Arial"/>
                <a:ea typeface="Arial"/>
                <a:cs typeface="Arial"/>
              </a:defRPr>
            </a:lvl5pPr>
            <a:lvl6pPr>
              <a:defRPr sz="2250" b="1">
                <a:solidFill>
                  <a:srgbClr val="245844"/>
                </a:solidFill>
                <a:latin typeface="Arial"/>
                <a:ea typeface="Arial"/>
                <a:cs typeface="Arial"/>
              </a:defRPr>
            </a:lvl6pPr>
            <a:lvl7pPr>
              <a:defRPr sz="2250" b="1">
                <a:solidFill>
                  <a:srgbClr val="245844"/>
                </a:solidFill>
                <a:latin typeface="Arial"/>
                <a:ea typeface="Arial"/>
                <a:cs typeface="Arial"/>
              </a:defRPr>
            </a:lvl7pPr>
            <a:lvl8pPr>
              <a:defRPr sz="2250" b="1">
                <a:solidFill>
                  <a:srgbClr val="245844"/>
                </a:solidFill>
                <a:latin typeface="Arial"/>
                <a:ea typeface="Arial"/>
                <a:cs typeface="Arial"/>
              </a:defRPr>
            </a:lvl8pPr>
            <a:lvl9pPr>
              <a:defRPr sz="2250" b="1">
                <a:solidFill>
                  <a:srgbClr val="245844"/>
                </a:solidFill>
                <a:latin typeface="Arial"/>
                <a:ea typeface="Arial"/>
                <a:cs typeface="Arial"/>
              </a:defRPr>
            </a:lvl9pPr>
          </a:lstStyle>
          <a:p xmlns:a="http://schemas.openxmlformats.org/drawingml/2006/main">
            <a:pPr>
              <a:defRPr sz="2250" b="1">
                <a:solidFill>
                  <a:srgbClr val="245844"/>
                </a:solidFill>
                <a:latin typeface="Arial"/>
                <a:ea typeface="Arial"/>
                <a:cs typeface="Arial"/>
              </a:defRPr>
            </a:pPr>
            <a:r>
              <a:rPr sz="2250" b="1">
                <a:solidFill>
                  <a:srgbClr val="245844"/>
                </a:solidFill>
                <a:latin typeface="Arial"/>
                <a:ea typeface="Arial"/>
                <a:cs typeface="Arial"/>
              </a:rPr>
              <a:t>133 validation</a:t>
            </a:r>
          </a:p>
        </p:txBody>
      </p:sp>
      <p:sp>
        <p:nvSpPr>
          <p:cNvPr id="11" name="">
            <a:extLst xmlns:a="http://schemas.openxmlformats.org/drawingml/2006/main">
              <a:ext uri="{FF2B5EF4-FFF2-40B4-BE49-F238E27FC236}">
                <a16:creationId xmlns:a16="http://schemas.microsoft.com/office/drawing/2014/main" id="{5B262914-7840-43C1-AFC1-C0270F41A8BE}"/>
              </a:ext>
            </a:extLst>
          </p:cNvPr>
          <p:cNvSpPr>
            <a:spLocks xmlns:a="http://schemas.openxmlformats.org/drawingml/2006/main" noGrp="1"/>
          </p:cNvSpPr>
          <p:nvPr/>
        </p:nvSpPr>
        <p:spPr>
          <a:xfrm xmlns:a="http://schemas.openxmlformats.org/drawingml/2006/main">
            <a:off x="8039100" y="5495925"/>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44"/>
                </a:solidFill>
                <a:latin typeface="Arial"/>
                <a:ea typeface="Arial"/>
                <a:cs typeface="Arial"/>
              </a:defRPr>
            </a:defPPr>
            <a:lvl1pPr>
              <a:defRPr sz="2250" b="1">
                <a:solidFill>
                  <a:srgbClr val="245844"/>
                </a:solidFill>
                <a:latin typeface="Arial"/>
                <a:ea typeface="Arial"/>
                <a:cs typeface="Arial"/>
              </a:defRPr>
            </a:lvl1pPr>
            <a:lvl2pPr>
              <a:defRPr sz="2250" b="1">
                <a:solidFill>
                  <a:srgbClr val="245844"/>
                </a:solidFill>
                <a:latin typeface="Arial"/>
                <a:ea typeface="Arial"/>
                <a:cs typeface="Arial"/>
              </a:defRPr>
            </a:lvl2pPr>
            <a:lvl3pPr>
              <a:defRPr sz="2250" b="1">
                <a:solidFill>
                  <a:srgbClr val="245844"/>
                </a:solidFill>
                <a:latin typeface="Arial"/>
                <a:ea typeface="Arial"/>
                <a:cs typeface="Arial"/>
              </a:defRPr>
            </a:lvl3pPr>
            <a:lvl4pPr>
              <a:defRPr sz="2250" b="1">
                <a:solidFill>
                  <a:srgbClr val="245844"/>
                </a:solidFill>
                <a:latin typeface="Arial"/>
                <a:ea typeface="Arial"/>
                <a:cs typeface="Arial"/>
              </a:defRPr>
            </a:lvl4pPr>
            <a:lvl5pPr>
              <a:defRPr sz="2250" b="1">
                <a:solidFill>
                  <a:srgbClr val="245844"/>
                </a:solidFill>
                <a:latin typeface="Arial"/>
                <a:ea typeface="Arial"/>
                <a:cs typeface="Arial"/>
              </a:defRPr>
            </a:lvl5pPr>
            <a:lvl6pPr>
              <a:defRPr sz="2250" b="1">
                <a:solidFill>
                  <a:srgbClr val="245844"/>
                </a:solidFill>
                <a:latin typeface="Arial"/>
                <a:ea typeface="Arial"/>
                <a:cs typeface="Arial"/>
              </a:defRPr>
            </a:lvl6pPr>
            <a:lvl7pPr>
              <a:defRPr sz="2250" b="1">
                <a:solidFill>
                  <a:srgbClr val="245844"/>
                </a:solidFill>
                <a:latin typeface="Arial"/>
                <a:ea typeface="Arial"/>
                <a:cs typeface="Arial"/>
              </a:defRPr>
            </a:lvl7pPr>
            <a:lvl8pPr>
              <a:defRPr sz="2250" b="1">
                <a:solidFill>
                  <a:srgbClr val="245844"/>
                </a:solidFill>
                <a:latin typeface="Arial"/>
                <a:ea typeface="Arial"/>
                <a:cs typeface="Arial"/>
              </a:defRPr>
            </a:lvl8pPr>
            <a:lvl9pPr>
              <a:defRPr sz="2250" b="1">
                <a:solidFill>
                  <a:srgbClr val="245844"/>
                </a:solidFill>
                <a:latin typeface="Arial"/>
                <a:ea typeface="Arial"/>
                <a:cs typeface="Arial"/>
              </a:defRPr>
            </a:lvl9pPr>
          </a:lstStyle>
          <a:p xmlns:a="http://schemas.openxmlformats.org/drawingml/2006/main">
            <a:pPr>
              <a:defRPr sz="2250" b="1">
                <a:solidFill>
                  <a:srgbClr val="245844"/>
                </a:solidFill>
                <a:latin typeface="Arial"/>
                <a:ea typeface="Arial"/>
                <a:cs typeface="Arial"/>
              </a:defRPr>
            </a:pPr>
            <a:r>
              <a:rPr sz="2250" b="1">
                <a:solidFill>
                  <a:srgbClr val="245844"/>
                </a:solidFill>
                <a:latin typeface="Arial"/>
                <a:ea typeface="Arial"/>
                <a:cs typeface="Arial"/>
              </a:rPr>
              <a:t>128 test</a:t>
            </a:r>
          </a:p>
        </p:txBody>
      </p:sp>
      <p:sp>
        <p:nvSpPr>
          <p:cNvPr id="12" name="">
            <a:extLst xmlns:a="http://schemas.openxmlformats.org/drawingml/2006/main">
              <a:ext uri="{FF2B5EF4-FFF2-40B4-BE49-F238E27FC236}">
                <a16:creationId xmlns:a16="http://schemas.microsoft.com/office/drawing/2014/main" id="{B26CE54A-B9E6-4573-94D5-260BB6B75232}"/>
              </a:ext>
            </a:extLst>
          </p:cNvPr>
          <p:cNvSpPr>
            <a:spLocks xmlns:a="http://schemas.openxmlformats.org/drawingml/2006/main" noGrp="1"/>
          </p:cNvSpPr>
          <p:nvPr/>
        </p:nvSpPr>
        <p:spPr>
          <a:xfrm xmlns:a="http://schemas.openxmlformats.org/drawingml/2006/main">
            <a:off x="609600" y="61150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Makerere Beans, Uganda. The published split does not identify individual farms or plants.</a:t>
            </a:r>
          </a:p>
        </p:txBody>
      </p:sp>
    </p:spTree>
    <p:extLst>
      <p:ext uri="{BB962C8B-B14F-4D97-AF65-F5344CB8AC3E}">
        <p14:creationId xmlns:p14="http://schemas.microsoft.com/office/powerpoint/2010/main" val="5705539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F8D752CB-FCD7-421D-8A90-E32F32604FEB}"/>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Two encoders, two adaptation settings</a:t>
            </a:r>
          </a:p>
        </p:txBody>
      </p:sp>
      <p:sp>
        <p:nvSpPr>
          <p:cNvPr id="2" name="">
            <a:extLst xmlns:a="http://schemas.openxmlformats.org/drawingml/2006/main">
              <a:ext uri="{FF2B5EF4-FFF2-40B4-BE49-F238E27FC236}">
                <a16:creationId xmlns:a16="http://schemas.microsoft.com/office/drawing/2014/main" id="{FF973A16-C2B8-4A67-8063-D31288D23D8A}"/>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3</a:t>
            </a:r>
          </a:p>
        </p:txBody>
      </p:sp>
      <p:graphicFrame>
        <p:nvGraphicFramePr>
          <p:cNvPr id="3" name="">
            <a:extLst xmlns:a="http://schemas.openxmlformats.org/drawingml/2006/main">
              <a:ext uri="{FF2B5EF4-FFF2-40B4-BE49-F238E27FC236}">
                <a16:creationId xmlns:a16="http://schemas.microsoft.com/office/drawing/2014/main" id="{F237DADC-EE9A-49F2-A100-8343189F5A65}"/>
              </a:ext>
            </a:extLst>
          </p:cNvPr>
          <p:cNvGraphicFramePr/>
          <p:nvPr/>
        </p:nvGraphicFramePr>
        <p:xfrm>
          <a:off xmlns:a="http://schemas.openxmlformats.org/drawingml/2006/main" x="609600" y="1476375"/>
          <a:ext xmlns:a="http://schemas.openxmlformats.org/drawingml/2006/main" cx="10972800" cy="2286000"/>
        </p:xfrm>
        <a:graphic xmlns:a="http://schemas.openxmlformats.org/drawingml/2006/main">
          <a:graphicData uri="http://schemas.openxmlformats.org/drawingml/2006/table">
            <a:tbl>
              <a:tblPr/>
              <a:tblGrid>
                <a:gridCol w="3619500"/>
                <a:gridCol w="3676650"/>
                <a:gridCol w="3676650"/>
              </a:tblGrid>
              <a:tr h="571500">
                <a:tc>
                  <a:txBody>
                    <a:bodyPr lIns="114300" tIns="114300" rIns="114300" bIns="114300"/>
                    <a:lstStyle/>
                    <a:p>
                      <a:r>
                        <a:rPr sz="1950" b="1">
                          <a:solidFill>
                            <a:srgbClr val="22362F"/>
                          </a:solidFill>
                          <a:latin typeface="Arial"/>
                          <a:ea typeface="Arial"/>
                          <a:cs typeface="Arial"/>
                        </a:rPr>
                        <a:t/>
                      </a:r>
                    </a:p>
                  </a:txBody>
                  <a:tcPr marL="91440" marR="91440" marT="45720" marB="45720" anchor="ctr">
                    <a:lnL w="5715">
                      <a:solidFill>
                        <a:srgbClr val="D7DEDA"/>
                      </a:solidFill>
                      <a:prstDash val="solid"/>
                    </a:lnL>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950" b="1">
                          <a:solidFill>
                            <a:srgbClr val="22362F"/>
                          </a:solidFill>
                          <a:latin typeface="Arial"/>
                          <a:ea typeface="Arial"/>
                          <a:cs typeface="Arial"/>
                        </a:rPr>
                        <a:t>DINOv2-S/14</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950" b="1">
                          <a:solidFill>
                            <a:srgbClr val="22362F"/>
                          </a:solidFill>
                          <a:latin typeface="Arial"/>
                          <a:ea typeface="Arial"/>
                          <a:cs typeface="Arial"/>
                        </a:rPr>
                        <a:t>SigLIP 2-B/16</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r>
              <a:tr h="571500">
                <a:tc>
                  <a:txBody>
                    <a:bodyPr lIns="114300" tIns="114300" rIns="114300" bIns="114300"/>
                    <a:lstStyle/>
                    <a:p>
                      <a:r>
                        <a:rPr sz="1950" b="0">
                          <a:solidFill>
                            <a:srgbClr val="22362F"/>
                          </a:solidFill>
                          <a:latin typeface="Arial"/>
                          <a:ea typeface="Arial"/>
                          <a:cs typeface="Arial"/>
                        </a:rPr>
                        <a:t>Published</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2023</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2025</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71500">
                <a:tc>
                  <a:txBody>
                    <a:bodyPr lIns="114300" tIns="114300" rIns="114300" bIns="114300"/>
                    <a:lstStyle/>
                    <a:p>
                      <a:r>
                        <a:rPr sz="1950" b="0">
                          <a:solidFill>
                            <a:srgbClr val="22362F"/>
                          </a:solidFill>
                          <a:latin typeface="Arial"/>
                          <a:ea typeface="Arial"/>
                          <a:cs typeface="Arial"/>
                        </a:rPr>
                        <a:t>Image-model parameters</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22.06 million</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92.89 million</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71500">
                <a:tc>
                  <a:txBody>
                    <a:bodyPr lIns="114300" tIns="114300" rIns="114300" bIns="114300"/>
                    <a:lstStyle/>
                    <a:p>
                      <a:r>
                        <a:rPr sz="1950" b="0">
                          <a:solidFill>
                            <a:srgbClr val="22362F"/>
                          </a:solidFill>
                          <a:latin typeface="Arial"/>
                          <a:ea typeface="Arial"/>
                          <a:cs typeface="Arial"/>
                        </a:rPr>
                        <a:t>Image representation</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Class token</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Attention pooling</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742A051-2649-4840-B3B2-82A5741583C4}"/>
              </a:ext>
            </a:extLst>
          </p:cNvPr>
          <p:cNvSpPr>
            <a:spLocks xmlns:a="http://schemas.openxmlformats.org/drawingml/2006/main" noGrp="1"/>
          </p:cNvSpPr>
          <p:nvPr/>
        </p:nvSpPr>
        <p:spPr>
          <a:xfrm xmlns:a="http://schemas.openxmlformats.org/drawingml/2006/main">
            <a:off x="609600" y="4095750"/>
            <a:ext cx="4762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34667C"/>
                </a:solidFill>
                <a:latin typeface="Arial"/>
                <a:ea typeface="Arial"/>
                <a:cs typeface="Arial"/>
              </a:defRPr>
            </a:defPPr>
            <a:lvl1pPr>
              <a:defRPr sz="2250" b="1">
                <a:solidFill>
                  <a:srgbClr val="34667C"/>
                </a:solidFill>
                <a:latin typeface="Arial"/>
                <a:ea typeface="Arial"/>
                <a:cs typeface="Arial"/>
              </a:defRPr>
            </a:lvl1pPr>
            <a:lvl2pPr>
              <a:defRPr sz="2250" b="1">
                <a:solidFill>
                  <a:srgbClr val="34667C"/>
                </a:solidFill>
                <a:latin typeface="Arial"/>
                <a:ea typeface="Arial"/>
                <a:cs typeface="Arial"/>
              </a:defRPr>
            </a:lvl2pPr>
            <a:lvl3pPr>
              <a:defRPr sz="2250" b="1">
                <a:solidFill>
                  <a:srgbClr val="34667C"/>
                </a:solidFill>
                <a:latin typeface="Arial"/>
                <a:ea typeface="Arial"/>
                <a:cs typeface="Arial"/>
              </a:defRPr>
            </a:lvl3pPr>
            <a:lvl4pPr>
              <a:defRPr sz="2250" b="1">
                <a:solidFill>
                  <a:srgbClr val="34667C"/>
                </a:solidFill>
                <a:latin typeface="Arial"/>
                <a:ea typeface="Arial"/>
                <a:cs typeface="Arial"/>
              </a:defRPr>
            </a:lvl4pPr>
            <a:lvl5pPr>
              <a:defRPr sz="2250" b="1">
                <a:solidFill>
                  <a:srgbClr val="34667C"/>
                </a:solidFill>
                <a:latin typeface="Arial"/>
                <a:ea typeface="Arial"/>
                <a:cs typeface="Arial"/>
              </a:defRPr>
            </a:lvl5pPr>
            <a:lvl6pPr>
              <a:defRPr sz="2250" b="1">
                <a:solidFill>
                  <a:srgbClr val="34667C"/>
                </a:solidFill>
                <a:latin typeface="Arial"/>
                <a:ea typeface="Arial"/>
                <a:cs typeface="Arial"/>
              </a:defRPr>
            </a:lvl6pPr>
            <a:lvl7pPr>
              <a:defRPr sz="2250" b="1">
                <a:solidFill>
                  <a:srgbClr val="34667C"/>
                </a:solidFill>
                <a:latin typeface="Arial"/>
                <a:ea typeface="Arial"/>
                <a:cs typeface="Arial"/>
              </a:defRPr>
            </a:lvl7pPr>
            <a:lvl8pPr>
              <a:defRPr sz="2250" b="1">
                <a:solidFill>
                  <a:srgbClr val="34667C"/>
                </a:solidFill>
                <a:latin typeface="Arial"/>
                <a:ea typeface="Arial"/>
                <a:cs typeface="Arial"/>
              </a:defRPr>
            </a:lvl8pPr>
            <a:lvl9pPr>
              <a:defRPr sz="2250" b="1">
                <a:solidFill>
                  <a:srgbClr val="34667C"/>
                </a:solidFill>
                <a:latin typeface="Arial"/>
                <a:ea typeface="Arial"/>
                <a:cs typeface="Arial"/>
              </a:defRPr>
            </a:lvl9pPr>
          </a:lstStyle>
          <a:p xmlns:a="http://schemas.openxmlformats.org/drawingml/2006/main">
            <a:pPr>
              <a:defRPr sz="2250" b="1">
                <a:solidFill>
                  <a:srgbClr val="34667C"/>
                </a:solidFill>
                <a:latin typeface="Arial"/>
                <a:ea typeface="Arial"/>
                <a:cs typeface="Arial"/>
              </a:defRPr>
            </a:pPr>
            <a:r>
              <a:rPr sz="2250" b="1">
                <a:solidFill>
                  <a:srgbClr val="34667C"/>
                </a:solidFill>
                <a:latin typeface="Arial"/>
                <a:ea typeface="Arial"/>
                <a:cs typeface="Arial"/>
              </a:rPr>
              <a:t>Frozen</a:t>
            </a:r>
          </a:p>
        </p:txBody>
      </p:sp>
      <p:sp>
        <p:nvSpPr>
          <p:cNvPr id="5" name="">
            <a:extLst xmlns:a="http://schemas.openxmlformats.org/drawingml/2006/main">
              <a:ext uri="{FF2B5EF4-FFF2-40B4-BE49-F238E27FC236}">
                <a16:creationId xmlns:a16="http://schemas.microsoft.com/office/drawing/2014/main" id="{AA896AF9-E04D-4444-8744-D0B18C892DA6}"/>
              </a:ext>
            </a:extLst>
          </p:cNvPr>
          <p:cNvSpPr>
            <a:spLocks xmlns:a="http://schemas.openxmlformats.org/drawingml/2006/main" noGrp="1"/>
          </p:cNvSpPr>
          <p:nvPr/>
        </p:nvSpPr>
        <p:spPr>
          <a:xfrm xmlns:a="http://schemas.openxmlformats.org/drawingml/2006/main">
            <a:off x="609600" y="4562475"/>
            <a:ext cx="4953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2362F"/>
                </a:solidFill>
                <a:latin typeface="Arial"/>
                <a:ea typeface="Arial"/>
                <a:cs typeface="Arial"/>
              </a:defRPr>
            </a:defPPr>
            <a:lvl1pPr>
              <a:defRPr sz="2100" b="0">
                <a:solidFill>
                  <a:srgbClr val="22362F"/>
                </a:solidFill>
                <a:latin typeface="Arial"/>
                <a:ea typeface="Arial"/>
                <a:cs typeface="Arial"/>
              </a:defRPr>
            </a:lvl1pPr>
            <a:lvl2pPr>
              <a:defRPr sz="2100" b="0">
                <a:solidFill>
                  <a:srgbClr val="22362F"/>
                </a:solidFill>
                <a:latin typeface="Arial"/>
                <a:ea typeface="Arial"/>
                <a:cs typeface="Arial"/>
              </a:defRPr>
            </a:lvl2pPr>
            <a:lvl3pPr>
              <a:defRPr sz="2100" b="0">
                <a:solidFill>
                  <a:srgbClr val="22362F"/>
                </a:solidFill>
                <a:latin typeface="Arial"/>
                <a:ea typeface="Arial"/>
                <a:cs typeface="Arial"/>
              </a:defRPr>
            </a:lvl3pPr>
            <a:lvl4pPr>
              <a:defRPr sz="2100" b="0">
                <a:solidFill>
                  <a:srgbClr val="22362F"/>
                </a:solidFill>
                <a:latin typeface="Arial"/>
                <a:ea typeface="Arial"/>
                <a:cs typeface="Arial"/>
              </a:defRPr>
            </a:lvl4pPr>
            <a:lvl5pPr>
              <a:defRPr sz="2100" b="0">
                <a:solidFill>
                  <a:srgbClr val="22362F"/>
                </a:solidFill>
                <a:latin typeface="Arial"/>
                <a:ea typeface="Arial"/>
                <a:cs typeface="Arial"/>
              </a:defRPr>
            </a:lvl5pPr>
            <a:lvl6pPr>
              <a:defRPr sz="2100" b="0">
                <a:solidFill>
                  <a:srgbClr val="22362F"/>
                </a:solidFill>
                <a:latin typeface="Arial"/>
                <a:ea typeface="Arial"/>
                <a:cs typeface="Arial"/>
              </a:defRPr>
            </a:lvl6pPr>
            <a:lvl7pPr>
              <a:defRPr sz="2100" b="0">
                <a:solidFill>
                  <a:srgbClr val="22362F"/>
                </a:solidFill>
                <a:latin typeface="Arial"/>
                <a:ea typeface="Arial"/>
                <a:cs typeface="Arial"/>
              </a:defRPr>
            </a:lvl7pPr>
            <a:lvl8pPr>
              <a:defRPr sz="2100" b="0">
                <a:solidFill>
                  <a:srgbClr val="22362F"/>
                </a:solidFill>
                <a:latin typeface="Arial"/>
                <a:ea typeface="Arial"/>
                <a:cs typeface="Arial"/>
              </a:defRPr>
            </a:lvl8pPr>
            <a:lvl9pPr>
              <a:defRPr sz="2100" b="0">
                <a:solidFill>
                  <a:srgbClr val="22362F"/>
                </a:solidFill>
                <a:latin typeface="Arial"/>
                <a:ea typeface="Arial"/>
                <a:cs typeface="Arial"/>
              </a:defRPr>
            </a:lvl9pPr>
          </a:lstStyle>
          <a:p xmlns:a="http://schemas.openxmlformats.org/drawingml/2006/main">
            <a:pPr>
              <a:defRPr sz="2100" b="0">
                <a:solidFill>
                  <a:srgbClr val="22362F"/>
                </a:solidFill>
                <a:latin typeface="Arial"/>
                <a:ea typeface="Arial"/>
                <a:cs typeface="Arial"/>
              </a:defRPr>
            </a:pPr>
            <a:r>
              <a:rPr sz="2100" b="0">
                <a:solidFill>
                  <a:srgbClr val="22362F"/>
                </a:solidFill>
                <a:latin typeface="Arial"/>
                <a:ea typeface="Arial"/>
                <a:cs typeface="Arial"/>
              </a:rPr>
              <a:t>Train the new classifier</a:t>
            </a:r>
          </a:p>
        </p:txBody>
      </p:sp>
      <p:sp>
        <p:nvSpPr>
          <p:cNvPr id="6" name="">
            <a:extLst xmlns:a="http://schemas.openxmlformats.org/drawingml/2006/main">
              <a:ext uri="{FF2B5EF4-FFF2-40B4-BE49-F238E27FC236}">
                <a16:creationId xmlns:a16="http://schemas.microsoft.com/office/drawing/2014/main" id="{94AD3D29-480E-44B2-8967-13257B4FFBD0}"/>
              </a:ext>
            </a:extLst>
          </p:cNvPr>
          <p:cNvSpPr>
            <a:spLocks xmlns:a="http://schemas.openxmlformats.org/drawingml/2006/main" noGrp="1"/>
          </p:cNvSpPr>
          <p:nvPr/>
        </p:nvSpPr>
        <p:spPr>
          <a:xfrm xmlns:a="http://schemas.openxmlformats.org/drawingml/2006/main">
            <a:off x="6286500" y="40957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B35B38"/>
                </a:solidFill>
                <a:latin typeface="Arial"/>
                <a:ea typeface="Arial"/>
                <a:cs typeface="Arial"/>
              </a:defRPr>
            </a:defPPr>
            <a:lvl1pPr>
              <a:defRPr sz="2250" b="1">
                <a:solidFill>
                  <a:srgbClr val="B35B38"/>
                </a:solidFill>
                <a:latin typeface="Arial"/>
                <a:ea typeface="Arial"/>
                <a:cs typeface="Arial"/>
              </a:defRPr>
            </a:lvl1pPr>
            <a:lvl2pPr>
              <a:defRPr sz="2250" b="1">
                <a:solidFill>
                  <a:srgbClr val="B35B38"/>
                </a:solidFill>
                <a:latin typeface="Arial"/>
                <a:ea typeface="Arial"/>
                <a:cs typeface="Arial"/>
              </a:defRPr>
            </a:lvl2pPr>
            <a:lvl3pPr>
              <a:defRPr sz="2250" b="1">
                <a:solidFill>
                  <a:srgbClr val="B35B38"/>
                </a:solidFill>
                <a:latin typeface="Arial"/>
                <a:ea typeface="Arial"/>
                <a:cs typeface="Arial"/>
              </a:defRPr>
            </a:lvl3pPr>
            <a:lvl4pPr>
              <a:defRPr sz="2250" b="1">
                <a:solidFill>
                  <a:srgbClr val="B35B38"/>
                </a:solidFill>
                <a:latin typeface="Arial"/>
                <a:ea typeface="Arial"/>
                <a:cs typeface="Arial"/>
              </a:defRPr>
            </a:lvl4pPr>
            <a:lvl5pPr>
              <a:defRPr sz="2250" b="1">
                <a:solidFill>
                  <a:srgbClr val="B35B38"/>
                </a:solidFill>
                <a:latin typeface="Arial"/>
                <a:ea typeface="Arial"/>
                <a:cs typeface="Arial"/>
              </a:defRPr>
            </a:lvl5pPr>
            <a:lvl6pPr>
              <a:defRPr sz="2250" b="1">
                <a:solidFill>
                  <a:srgbClr val="B35B38"/>
                </a:solidFill>
                <a:latin typeface="Arial"/>
                <a:ea typeface="Arial"/>
                <a:cs typeface="Arial"/>
              </a:defRPr>
            </a:lvl6pPr>
            <a:lvl7pPr>
              <a:defRPr sz="2250" b="1">
                <a:solidFill>
                  <a:srgbClr val="B35B38"/>
                </a:solidFill>
                <a:latin typeface="Arial"/>
                <a:ea typeface="Arial"/>
                <a:cs typeface="Arial"/>
              </a:defRPr>
            </a:lvl7pPr>
            <a:lvl8pPr>
              <a:defRPr sz="2250" b="1">
                <a:solidFill>
                  <a:srgbClr val="B35B38"/>
                </a:solidFill>
                <a:latin typeface="Arial"/>
                <a:ea typeface="Arial"/>
                <a:cs typeface="Arial"/>
              </a:defRPr>
            </a:lvl8pPr>
            <a:lvl9pPr>
              <a:defRPr sz="2250" b="1">
                <a:solidFill>
                  <a:srgbClr val="B35B38"/>
                </a:solidFill>
                <a:latin typeface="Arial"/>
                <a:ea typeface="Arial"/>
                <a:cs typeface="Arial"/>
              </a:defRPr>
            </a:lvl9pPr>
          </a:lstStyle>
          <a:p xmlns:a="http://schemas.openxmlformats.org/drawingml/2006/main">
            <a:pPr>
              <a:defRPr sz="2250" b="1">
                <a:solidFill>
                  <a:srgbClr val="B35B38"/>
                </a:solidFill>
                <a:latin typeface="Arial"/>
                <a:ea typeface="Arial"/>
                <a:cs typeface="Arial"/>
              </a:defRPr>
            </a:pPr>
            <a:r>
              <a:rPr sz="2250" b="1">
                <a:solidFill>
                  <a:srgbClr val="B35B38"/>
                </a:solidFill>
                <a:latin typeface="Arial"/>
                <a:ea typeface="Arial"/>
                <a:cs typeface="Arial"/>
              </a:rPr>
              <a:t>Partial fine-tuning</a:t>
            </a:r>
          </a:p>
        </p:txBody>
      </p:sp>
      <p:sp>
        <p:nvSpPr>
          <p:cNvPr id="7" name="">
            <a:extLst xmlns:a="http://schemas.openxmlformats.org/drawingml/2006/main">
              <a:ext uri="{FF2B5EF4-FFF2-40B4-BE49-F238E27FC236}">
                <a16:creationId xmlns:a16="http://schemas.microsoft.com/office/drawing/2014/main" id="{59D3AE1C-A7A2-4095-9BC2-2F0DA088FC37}"/>
              </a:ext>
            </a:extLst>
          </p:cNvPr>
          <p:cNvSpPr>
            <a:spLocks xmlns:a="http://schemas.openxmlformats.org/drawingml/2006/main" noGrp="1"/>
          </p:cNvSpPr>
          <p:nvPr/>
        </p:nvSpPr>
        <p:spPr>
          <a:xfrm xmlns:a="http://schemas.openxmlformats.org/drawingml/2006/main">
            <a:off x="6286500" y="4562475"/>
            <a:ext cx="5238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22362F"/>
                </a:solidFill>
                <a:latin typeface="Arial"/>
                <a:ea typeface="Arial"/>
                <a:cs typeface="Arial"/>
              </a:defRPr>
            </a:defPPr>
            <a:lvl1pPr>
              <a:defRPr sz="2100" b="0">
                <a:solidFill>
                  <a:srgbClr val="22362F"/>
                </a:solidFill>
                <a:latin typeface="Arial"/>
                <a:ea typeface="Arial"/>
                <a:cs typeface="Arial"/>
              </a:defRPr>
            </a:lvl1pPr>
            <a:lvl2pPr>
              <a:defRPr sz="2100" b="0">
                <a:solidFill>
                  <a:srgbClr val="22362F"/>
                </a:solidFill>
                <a:latin typeface="Arial"/>
                <a:ea typeface="Arial"/>
                <a:cs typeface="Arial"/>
              </a:defRPr>
            </a:lvl2pPr>
            <a:lvl3pPr>
              <a:defRPr sz="2100" b="0">
                <a:solidFill>
                  <a:srgbClr val="22362F"/>
                </a:solidFill>
                <a:latin typeface="Arial"/>
                <a:ea typeface="Arial"/>
                <a:cs typeface="Arial"/>
              </a:defRPr>
            </a:lvl3pPr>
            <a:lvl4pPr>
              <a:defRPr sz="2100" b="0">
                <a:solidFill>
                  <a:srgbClr val="22362F"/>
                </a:solidFill>
                <a:latin typeface="Arial"/>
                <a:ea typeface="Arial"/>
                <a:cs typeface="Arial"/>
              </a:defRPr>
            </a:lvl4pPr>
            <a:lvl5pPr>
              <a:defRPr sz="2100" b="0">
                <a:solidFill>
                  <a:srgbClr val="22362F"/>
                </a:solidFill>
                <a:latin typeface="Arial"/>
                <a:ea typeface="Arial"/>
                <a:cs typeface="Arial"/>
              </a:defRPr>
            </a:lvl5pPr>
            <a:lvl6pPr>
              <a:defRPr sz="2100" b="0">
                <a:solidFill>
                  <a:srgbClr val="22362F"/>
                </a:solidFill>
                <a:latin typeface="Arial"/>
                <a:ea typeface="Arial"/>
                <a:cs typeface="Arial"/>
              </a:defRPr>
            </a:lvl6pPr>
            <a:lvl7pPr>
              <a:defRPr sz="2100" b="0">
                <a:solidFill>
                  <a:srgbClr val="22362F"/>
                </a:solidFill>
                <a:latin typeface="Arial"/>
                <a:ea typeface="Arial"/>
                <a:cs typeface="Arial"/>
              </a:defRPr>
            </a:lvl7pPr>
            <a:lvl8pPr>
              <a:defRPr sz="2100" b="0">
                <a:solidFill>
                  <a:srgbClr val="22362F"/>
                </a:solidFill>
                <a:latin typeface="Arial"/>
                <a:ea typeface="Arial"/>
                <a:cs typeface="Arial"/>
              </a:defRPr>
            </a:lvl8pPr>
            <a:lvl9pPr>
              <a:defRPr sz="2100" b="0">
                <a:solidFill>
                  <a:srgbClr val="22362F"/>
                </a:solidFill>
                <a:latin typeface="Arial"/>
                <a:ea typeface="Arial"/>
                <a:cs typeface="Arial"/>
              </a:defRPr>
            </a:lvl9pPr>
          </a:lstStyle>
          <a:p xmlns:a="http://schemas.openxmlformats.org/drawingml/2006/main">
            <a:pPr>
              <a:defRPr sz="2100" b="0">
                <a:solidFill>
                  <a:srgbClr val="22362F"/>
                </a:solidFill>
                <a:latin typeface="Arial"/>
                <a:ea typeface="Arial"/>
                <a:cs typeface="Arial"/>
              </a:defRPr>
            </a:pPr>
            <a:r>
              <a:rPr sz="2100" b="0">
                <a:solidFill>
                  <a:srgbClr val="22362F"/>
                </a:solidFill>
                <a:latin typeface="Arial"/>
                <a:ea typeface="Arial"/>
                <a:cs typeface="Arial"/>
              </a:rPr>
              <a:t>Also train the final two blocks</a:t>
            </a:r>
          </a:p>
          <a:p xmlns:a="http://schemas.openxmlformats.org/drawingml/2006/main">
            <a:pPr>
              <a:defRPr sz="2100" b="0">
                <a:solidFill>
                  <a:srgbClr val="22362F"/>
                </a:solidFill>
                <a:latin typeface="Arial"/>
                <a:ea typeface="Arial"/>
                <a:cs typeface="Arial"/>
              </a:defRPr>
            </a:pPr>
            <a:r>
              <a:rPr sz="2100" b="0">
                <a:solidFill>
                  <a:srgbClr val="22362F"/>
                </a:solidFill>
                <a:latin typeface="Arial"/>
                <a:ea typeface="Arial"/>
                <a:cs typeface="Arial"/>
              </a:rPr>
              <a:t>and final normalisation</a:t>
            </a:r>
          </a:p>
        </p:txBody>
      </p:sp>
      <p:sp>
        <p:nvSpPr>
          <p:cNvPr id="8" name="">
            <a:extLst xmlns:a="http://schemas.openxmlformats.org/drawingml/2006/main">
              <a:ext uri="{FF2B5EF4-FFF2-40B4-BE49-F238E27FC236}">
                <a16:creationId xmlns:a16="http://schemas.microsoft.com/office/drawing/2014/main" id="{16884F8C-61A8-47A9-A6FA-F19518E7C4D0}"/>
              </a:ext>
            </a:extLst>
          </p:cNvPr>
          <p:cNvSpPr>
            <a:spLocks xmlns:a="http://schemas.openxmlformats.org/drawingml/2006/main" noGrp="1"/>
          </p:cNvSpPr>
          <p:nvPr/>
        </p:nvSpPr>
        <p:spPr>
          <a:xfrm xmlns:a="http://schemas.openxmlformats.org/drawingml/2006/main">
            <a:off x="609600" y="61150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3 seeds per setting. Maximum 10 epochs. Validation selects the checkpoint. All runs fit a 4 GB GPU.</a:t>
            </a:r>
          </a:p>
        </p:txBody>
      </p:sp>
    </p:spTree>
    <p:extLst>
      <p:ext uri="{BB962C8B-B14F-4D97-AF65-F5344CB8AC3E}">
        <p14:creationId xmlns:p14="http://schemas.microsoft.com/office/powerpoint/2010/main" val="144157348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33C8099A-B11C-4671-98FC-1599FD33B21D}"/>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SigLIP 2 helped most with frozen features</a:t>
            </a:r>
          </a:p>
        </p:txBody>
      </p:sp>
      <p:sp>
        <p:nvSpPr>
          <p:cNvPr id="2" name="">
            <a:extLst xmlns:a="http://schemas.openxmlformats.org/drawingml/2006/main">
              <a:ext uri="{FF2B5EF4-FFF2-40B4-BE49-F238E27FC236}">
                <a16:creationId xmlns:a16="http://schemas.microsoft.com/office/drawing/2014/main" id="{F8DAE818-7FD3-44F2-B7E7-3F062F7C3DE4}"/>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4</a:t>
            </a:r>
          </a:p>
        </p:txBody>
      </p:sp>
      <p:graphicFrame>
        <p:nvGraphicFramePr>
          <p:cNvPr id="3" name="Chart">
            <a:extLst xmlns:a="http://schemas.openxmlformats.org/drawingml/2006/main">
              <a:ext uri="{FF2B5EF4-FFF2-40B4-BE49-F238E27FC236}">
                <a16:creationId xmlns:a16="http://schemas.microsoft.com/office/drawing/2014/main" id="{B3B29507-0730-47ED-97B2-23D4E8EF163F}"/>
              </a:ext>
            </a:extLst>
          </p:cNvPr>
          <p:cNvGraphicFramePr/>
          <p:nvPr/>
        </p:nvGraphicFramePr>
        <p:xfrm>
          <a:off xmlns:a="http://schemas.openxmlformats.org/drawingml/2006/main" x="609600" y="1476375"/>
          <a:ext xmlns:a="http://schemas.openxmlformats.org/drawingml/2006/main" cx="7334250" cy="4191000"/>
        </p:xfrm>
        <a:graphic xmlns:a="http://schemas.openxmlformats.org/drawingml/2006/main">
          <a:graphicData uri="http://schemas.openxmlformats.org/drawingml/2006/chart">
            <c:chart xmlns:r="http://schemas.openxmlformats.org/officeDocument/2006/relationships" xmlns:c="http://schemas.openxmlformats.org/drawingml/2006/chart" r:id="R7558f46b26674ec4"/>
          </a:graphicData>
        </a:graphic>
      </p:graphicFrame>
      <p:sp>
        <p:nvSpPr>
          <p:cNvPr id="4" name="">
            <a:extLst xmlns:a="http://schemas.openxmlformats.org/drawingml/2006/main">
              <a:ext uri="{FF2B5EF4-FFF2-40B4-BE49-F238E27FC236}">
                <a16:creationId xmlns:a16="http://schemas.microsoft.com/office/drawing/2014/main" id="{2527B5B2-15EB-4DDF-9598-BF1CB563E74E}"/>
              </a:ext>
            </a:extLst>
          </p:cNvPr>
          <p:cNvSpPr>
            <a:spLocks xmlns:a="http://schemas.openxmlformats.org/drawingml/2006/main" noGrp="1"/>
          </p:cNvSpPr>
          <p:nvPr/>
        </p:nvSpPr>
        <p:spPr>
          <a:xfrm xmlns:a="http://schemas.openxmlformats.org/drawingml/2006/main">
            <a:off x="8477250" y="1828800"/>
            <a:ext cx="3048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245844"/>
                </a:solidFill>
                <a:latin typeface="Arial"/>
                <a:ea typeface="Arial"/>
                <a:cs typeface="Arial"/>
              </a:defRPr>
            </a:defPPr>
            <a:lvl1pPr>
              <a:defRPr sz="4200" b="1">
                <a:solidFill>
                  <a:srgbClr val="245844"/>
                </a:solidFill>
                <a:latin typeface="Arial"/>
                <a:ea typeface="Arial"/>
                <a:cs typeface="Arial"/>
              </a:defRPr>
            </a:lvl1pPr>
            <a:lvl2pPr>
              <a:defRPr sz="4200" b="1">
                <a:solidFill>
                  <a:srgbClr val="245844"/>
                </a:solidFill>
                <a:latin typeface="Arial"/>
                <a:ea typeface="Arial"/>
                <a:cs typeface="Arial"/>
              </a:defRPr>
            </a:lvl2pPr>
            <a:lvl3pPr>
              <a:defRPr sz="4200" b="1">
                <a:solidFill>
                  <a:srgbClr val="245844"/>
                </a:solidFill>
                <a:latin typeface="Arial"/>
                <a:ea typeface="Arial"/>
                <a:cs typeface="Arial"/>
              </a:defRPr>
            </a:lvl3pPr>
            <a:lvl4pPr>
              <a:defRPr sz="4200" b="1">
                <a:solidFill>
                  <a:srgbClr val="245844"/>
                </a:solidFill>
                <a:latin typeface="Arial"/>
                <a:ea typeface="Arial"/>
                <a:cs typeface="Arial"/>
              </a:defRPr>
            </a:lvl4pPr>
            <a:lvl5pPr>
              <a:defRPr sz="4200" b="1">
                <a:solidFill>
                  <a:srgbClr val="245844"/>
                </a:solidFill>
                <a:latin typeface="Arial"/>
                <a:ea typeface="Arial"/>
                <a:cs typeface="Arial"/>
              </a:defRPr>
            </a:lvl5pPr>
            <a:lvl6pPr>
              <a:defRPr sz="4200" b="1">
                <a:solidFill>
                  <a:srgbClr val="245844"/>
                </a:solidFill>
                <a:latin typeface="Arial"/>
                <a:ea typeface="Arial"/>
                <a:cs typeface="Arial"/>
              </a:defRPr>
            </a:lvl6pPr>
            <a:lvl7pPr>
              <a:defRPr sz="4200" b="1">
                <a:solidFill>
                  <a:srgbClr val="245844"/>
                </a:solidFill>
                <a:latin typeface="Arial"/>
                <a:ea typeface="Arial"/>
                <a:cs typeface="Arial"/>
              </a:defRPr>
            </a:lvl7pPr>
            <a:lvl8pPr>
              <a:defRPr sz="4200" b="1">
                <a:solidFill>
                  <a:srgbClr val="245844"/>
                </a:solidFill>
                <a:latin typeface="Arial"/>
                <a:ea typeface="Arial"/>
                <a:cs typeface="Arial"/>
              </a:defRPr>
            </a:lvl8pPr>
            <a:lvl9pPr>
              <a:defRPr sz="4200" b="1">
                <a:solidFill>
                  <a:srgbClr val="245844"/>
                </a:solidFill>
                <a:latin typeface="Arial"/>
                <a:ea typeface="Arial"/>
                <a:cs typeface="Arial"/>
              </a:defRPr>
            </a:lvl9pPr>
          </a:lstStyle>
          <a:p xmlns:a="http://schemas.openxmlformats.org/drawingml/2006/main">
            <a:pPr>
              <a:defRPr sz="4200" b="1">
                <a:solidFill>
                  <a:srgbClr val="245844"/>
                </a:solidFill>
                <a:latin typeface="Arial"/>
                <a:ea typeface="Arial"/>
                <a:cs typeface="Arial"/>
              </a:defRPr>
            </a:pPr>
            <a:r>
              <a:rPr sz="4200" b="1">
                <a:solidFill>
                  <a:srgbClr val="245844"/>
                </a:solidFill>
                <a:latin typeface="Arial"/>
                <a:ea typeface="Arial"/>
                <a:cs typeface="Arial"/>
              </a:rPr>
              <a:t>96.90%</a:t>
            </a:r>
          </a:p>
        </p:txBody>
      </p:sp>
      <p:sp>
        <p:nvSpPr>
          <p:cNvPr id="5" name="">
            <a:extLst xmlns:a="http://schemas.openxmlformats.org/drawingml/2006/main">
              <a:ext uri="{FF2B5EF4-FFF2-40B4-BE49-F238E27FC236}">
                <a16:creationId xmlns:a16="http://schemas.microsoft.com/office/drawing/2014/main" id="{07CBCA69-4CA1-4C01-ACAB-EF637520225C}"/>
              </a:ext>
            </a:extLst>
          </p:cNvPr>
          <p:cNvSpPr>
            <a:spLocks xmlns:a="http://schemas.openxmlformats.org/drawingml/2006/main" noGrp="1"/>
          </p:cNvSpPr>
          <p:nvPr/>
        </p:nvSpPr>
        <p:spPr>
          <a:xfrm xmlns:a="http://schemas.openxmlformats.org/drawingml/2006/main">
            <a:off x="8477250" y="2686050"/>
            <a:ext cx="300037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2362F"/>
                </a:solidFill>
                <a:latin typeface="Arial"/>
                <a:ea typeface="Arial"/>
                <a:cs typeface="Arial"/>
              </a:defRPr>
            </a:defPPr>
            <a:lvl1pPr>
              <a:defRPr sz="1950" b="0">
                <a:solidFill>
                  <a:srgbClr val="22362F"/>
                </a:solidFill>
                <a:latin typeface="Arial"/>
                <a:ea typeface="Arial"/>
                <a:cs typeface="Arial"/>
              </a:defRPr>
            </a:lvl1pPr>
            <a:lvl2pPr>
              <a:defRPr sz="1950" b="0">
                <a:solidFill>
                  <a:srgbClr val="22362F"/>
                </a:solidFill>
                <a:latin typeface="Arial"/>
                <a:ea typeface="Arial"/>
                <a:cs typeface="Arial"/>
              </a:defRPr>
            </a:lvl2pPr>
            <a:lvl3pPr>
              <a:defRPr sz="1950" b="0">
                <a:solidFill>
                  <a:srgbClr val="22362F"/>
                </a:solidFill>
                <a:latin typeface="Arial"/>
                <a:ea typeface="Arial"/>
                <a:cs typeface="Arial"/>
              </a:defRPr>
            </a:lvl3pPr>
            <a:lvl4pPr>
              <a:defRPr sz="1950" b="0">
                <a:solidFill>
                  <a:srgbClr val="22362F"/>
                </a:solidFill>
                <a:latin typeface="Arial"/>
                <a:ea typeface="Arial"/>
                <a:cs typeface="Arial"/>
              </a:defRPr>
            </a:lvl4pPr>
            <a:lvl5pPr>
              <a:defRPr sz="1950" b="0">
                <a:solidFill>
                  <a:srgbClr val="22362F"/>
                </a:solidFill>
                <a:latin typeface="Arial"/>
                <a:ea typeface="Arial"/>
                <a:cs typeface="Arial"/>
              </a:defRPr>
            </a:lvl5pPr>
            <a:lvl6pPr>
              <a:defRPr sz="1950" b="0">
                <a:solidFill>
                  <a:srgbClr val="22362F"/>
                </a:solidFill>
                <a:latin typeface="Arial"/>
                <a:ea typeface="Arial"/>
                <a:cs typeface="Arial"/>
              </a:defRPr>
            </a:lvl6pPr>
            <a:lvl7pPr>
              <a:defRPr sz="1950" b="0">
                <a:solidFill>
                  <a:srgbClr val="22362F"/>
                </a:solidFill>
                <a:latin typeface="Arial"/>
                <a:ea typeface="Arial"/>
                <a:cs typeface="Arial"/>
              </a:defRPr>
            </a:lvl7pPr>
            <a:lvl8pPr>
              <a:defRPr sz="1950" b="0">
                <a:solidFill>
                  <a:srgbClr val="22362F"/>
                </a:solidFill>
                <a:latin typeface="Arial"/>
                <a:ea typeface="Arial"/>
                <a:cs typeface="Arial"/>
              </a:defRPr>
            </a:lvl8pPr>
            <a:lvl9pPr>
              <a:defRPr sz="1950" b="0">
                <a:solidFill>
                  <a:srgbClr val="22362F"/>
                </a:solidFill>
                <a:latin typeface="Arial"/>
                <a:ea typeface="Arial"/>
                <a:cs typeface="Arial"/>
              </a:defRPr>
            </a:lvl9pPr>
          </a:lstStyle>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Both partial models</a:t>
            </a:r>
          </a:p>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Mean across 3 seeds</a:t>
            </a:r>
          </a:p>
        </p:txBody>
      </p:sp>
      <p:sp>
        <p:nvSpPr>
          <p:cNvPr id="6" name="">
            <a:extLst xmlns:a="http://schemas.openxmlformats.org/drawingml/2006/main">
              <a:ext uri="{FF2B5EF4-FFF2-40B4-BE49-F238E27FC236}">
                <a16:creationId xmlns:a16="http://schemas.microsoft.com/office/drawing/2014/main" id="{4498CB6D-2A5E-4088-BE61-A371FE15D787}"/>
              </a:ext>
            </a:extLst>
          </p:cNvPr>
          <p:cNvSpPr>
            <a:spLocks xmlns:a="http://schemas.openxmlformats.org/drawingml/2006/main" noGrp="1"/>
          </p:cNvSpPr>
          <p:nvPr/>
        </p:nvSpPr>
        <p:spPr>
          <a:xfrm xmlns:a="http://schemas.openxmlformats.org/drawingml/2006/main">
            <a:off x="8477250" y="4143375"/>
            <a:ext cx="30003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5D6864"/>
                </a:solidFill>
                <a:latin typeface="Arial"/>
                <a:ea typeface="Arial"/>
                <a:cs typeface="Arial"/>
              </a:defRPr>
            </a:defPPr>
            <a:lvl1pPr>
              <a:defRPr sz="1800" b="0">
                <a:solidFill>
                  <a:srgbClr val="5D6864"/>
                </a:solidFill>
                <a:latin typeface="Arial"/>
                <a:ea typeface="Arial"/>
                <a:cs typeface="Arial"/>
              </a:defRPr>
            </a:lvl1pPr>
            <a:lvl2pPr>
              <a:defRPr sz="1800" b="0">
                <a:solidFill>
                  <a:srgbClr val="5D6864"/>
                </a:solidFill>
                <a:latin typeface="Arial"/>
                <a:ea typeface="Arial"/>
                <a:cs typeface="Arial"/>
              </a:defRPr>
            </a:lvl2pPr>
            <a:lvl3pPr>
              <a:defRPr sz="1800" b="0">
                <a:solidFill>
                  <a:srgbClr val="5D6864"/>
                </a:solidFill>
                <a:latin typeface="Arial"/>
                <a:ea typeface="Arial"/>
                <a:cs typeface="Arial"/>
              </a:defRPr>
            </a:lvl3pPr>
            <a:lvl4pPr>
              <a:defRPr sz="1800" b="0">
                <a:solidFill>
                  <a:srgbClr val="5D6864"/>
                </a:solidFill>
                <a:latin typeface="Arial"/>
                <a:ea typeface="Arial"/>
                <a:cs typeface="Arial"/>
              </a:defRPr>
            </a:lvl4pPr>
            <a:lvl5pPr>
              <a:defRPr sz="1800" b="0">
                <a:solidFill>
                  <a:srgbClr val="5D6864"/>
                </a:solidFill>
                <a:latin typeface="Arial"/>
                <a:ea typeface="Arial"/>
                <a:cs typeface="Arial"/>
              </a:defRPr>
            </a:lvl5pPr>
            <a:lvl6pPr>
              <a:defRPr sz="1800" b="0">
                <a:solidFill>
                  <a:srgbClr val="5D6864"/>
                </a:solidFill>
                <a:latin typeface="Arial"/>
                <a:ea typeface="Arial"/>
                <a:cs typeface="Arial"/>
              </a:defRPr>
            </a:lvl6pPr>
            <a:lvl7pPr>
              <a:defRPr sz="1800" b="0">
                <a:solidFill>
                  <a:srgbClr val="5D6864"/>
                </a:solidFill>
                <a:latin typeface="Arial"/>
                <a:ea typeface="Arial"/>
                <a:cs typeface="Arial"/>
              </a:defRPr>
            </a:lvl7pPr>
            <a:lvl8pPr>
              <a:defRPr sz="1800" b="0">
                <a:solidFill>
                  <a:srgbClr val="5D6864"/>
                </a:solidFill>
                <a:latin typeface="Arial"/>
                <a:ea typeface="Arial"/>
                <a:cs typeface="Arial"/>
              </a:defRPr>
            </a:lvl8pPr>
            <a:lvl9pPr>
              <a:defRPr sz="1800" b="0">
                <a:solidFill>
                  <a:srgbClr val="5D6864"/>
                </a:solidFill>
                <a:latin typeface="Arial"/>
                <a:ea typeface="Arial"/>
                <a:cs typeface="Arial"/>
              </a:defRPr>
            </a:lvl9pPr>
          </a:lstStyle>
          <a:p xmlns:a="http://schemas.openxmlformats.org/drawingml/2006/main">
            <a:pPr>
              <a:defRPr sz="1800" b="0">
                <a:solidFill>
                  <a:srgbClr val="5D6864"/>
                </a:solidFill>
                <a:latin typeface="Arial"/>
                <a:ea typeface="Arial"/>
                <a:cs typeface="Arial"/>
              </a:defRPr>
            </a:pPr>
            <a:r>
              <a:rPr sz="1800" b="0">
                <a:solidFill>
                  <a:srgbClr val="5D6864"/>
                </a:solidFill>
                <a:latin typeface="Arial"/>
                <a:ea typeface="Arial"/>
                <a:cs typeface="Arial"/>
              </a:rPr>
              <a:t>Peak allocated memory</a:t>
            </a:r>
          </a:p>
        </p:txBody>
      </p:sp>
      <p:sp>
        <p:nvSpPr>
          <p:cNvPr id="7" name="">
            <a:extLst xmlns:a="http://schemas.openxmlformats.org/drawingml/2006/main">
              <a:ext uri="{FF2B5EF4-FFF2-40B4-BE49-F238E27FC236}">
                <a16:creationId xmlns:a16="http://schemas.microsoft.com/office/drawing/2014/main" id="{81957CBC-E278-4F8D-B450-A25C4FD84322}"/>
              </a:ext>
            </a:extLst>
          </p:cNvPr>
          <p:cNvSpPr>
            <a:spLocks xmlns:a="http://schemas.openxmlformats.org/drawingml/2006/main" noGrp="1"/>
          </p:cNvSpPr>
          <p:nvPr/>
        </p:nvSpPr>
        <p:spPr>
          <a:xfrm xmlns:a="http://schemas.openxmlformats.org/drawingml/2006/main">
            <a:off x="8477250" y="4572000"/>
            <a:ext cx="30003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2362F"/>
                </a:solidFill>
                <a:latin typeface="Arial"/>
                <a:ea typeface="Arial"/>
                <a:cs typeface="Arial"/>
              </a:defRPr>
            </a:defPPr>
            <a:lvl1pPr>
              <a:defRPr sz="1950" b="0">
                <a:solidFill>
                  <a:srgbClr val="22362F"/>
                </a:solidFill>
                <a:latin typeface="Arial"/>
                <a:ea typeface="Arial"/>
                <a:cs typeface="Arial"/>
              </a:defRPr>
            </a:lvl1pPr>
            <a:lvl2pPr>
              <a:defRPr sz="1950" b="0">
                <a:solidFill>
                  <a:srgbClr val="22362F"/>
                </a:solidFill>
                <a:latin typeface="Arial"/>
                <a:ea typeface="Arial"/>
                <a:cs typeface="Arial"/>
              </a:defRPr>
            </a:lvl2pPr>
            <a:lvl3pPr>
              <a:defRPr sz="1950" b="0">
                <a:solidFill>
                  <a:srgbClr val="22362F"/>
                </a:solidFill>
                <a:latin typeface="Arial"/>
                <a:ea typeface="Arial"/>
                <a:cs typeface="Arial"/>
              </a:defRPr>
            </a:lvl3pPr>
            <a:lvl4pPr>
              <a:defRPr sz="1950" b="0">
                <a:solidFill>
                  <a:srgbClr val="22362F"/>
                </a:solidFill>
                <a:latin typeface="Arial"/>
                <a:ea typeface="Arial"/>
                <a:cs typeface="Arial"/>
              </a:defRPr>
            </a:lvl4pPr>
            <a:lvl5pPr>
              <a:defRPr sz="1950" b="0">
                <a:solidFill>
                  <a:srgbClr val="22362F"/>
                </a:solidFill>
                <a:latin typeface="Arial"/>
                <a:ea typeface="Arial"/>
                <a:cs typeface="Arial"/>
              </a:defRPr>
            </a:lvl5pPr>
            <a:lvl6pPr>
              <a:defRPr sz="1950" b="0">
                <a:solidFill>
                  <a:srgbClr val="22362F"/>
                </a:solidFill>
                <a:latin typeface="Arial"/>
                <a:ea typeface="Arial"/>
                <a:cs typeface="Arial"/>
              </a:defRPr>
            </a:lvl6pPr>
            <a:lvl7pPr>
              <a:defRPr sz="1950" b="0">
                <a:solidFill>
                  <a:srgbClr val="22362F"/>
                </a:solidFill>
                <a:latin typeface="Arial"/>
                <a:ea typeface="Arial"/>
                <a:cs typeface="Arial"/>
              </a:defRPr>
            </a:lvl7pPr>
            <a:lvl8pPr>
              <a:defRPr sz="1950" b="0">
                <a:solidFill>
                  <a:srgbClr val="22362F"/>
                </a:solidFill>
                <a:latin typeface="Arial"/>
                <a:ea typeface="Arial"/>
                <a:cs typeface="Arial"/>
              </a:defRPr>
            </a:lvl8pPr>
            <a:lvl9pPr>
              <a:defRPr sz="1950" b="0">
                <a:solidFill>
                  <a:srgbClr val="22362F"/>
                </a:solidFill>
                <a:latin typeface="Arial"/>
                <a:ea typeface="Arial"/>
                <a:cs typeface="Arial"/>
              </a:defRPr>
            </a:lvl9pPr>
          </a:lstStyle>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DINOv2: 288 MB</a:t>
            </a:r>
          </a:p>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SigLIP 2: 722 MB</a:t>
            </a:r>
          </a:p>
        </p:txBody>
      </p:sp>
      <p:sp>
        <p:nvSpPr>
          <p:cNvPr id="8" name="">
            <a:extLst xmlns:a="http://schemas.openxmlformats.org/drawingml/2006/main">
              <a:ext uri="{FF2B5EF4-FFF2-40B4-BE49-F238E27FC236}">
                <a16:creationId xmlns:a16="http://schemas.microsoft.com/office/drawing/2014/main" id="{2B36A754-CB92-462F-8352-2643BA1712DA}"/>
              </a:ext>
            </a:extLst>
          </p:cNvPr>
          <p:cNvSpPr>
            <a:spLocks xmlns:a="http://schemas.openxmlformats.org/drawingml/2006/main" noGrp="1"/>
          </p:cNvSpPr>
          <p:nvPr/>
        </p:nvSpPr>
        <p:spPr>
          <a:xfrm xmlns:a="http://schemas.openxmlformats.org/drawingml/2006/main">
            <a:off x="609600" y="61150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Original comparison. Three-seed means. Seed SDs appear in the backup table. Reused test set, n = 128.</a:t>
            </a:r>
          </a:p>
        </p:txBody>
      </p:sp>
    </p:spTree>
    <p:extLst>
      <p:ext uri="{BB962C8B-B14F-4D97-AF65-F5344CB8AC3E}">
        <p14:creationId xmlns:p14="http://schemas.microsoft.com/office/powerpoint/2010/main" val="61268010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3F47C76-02D1-4C91-BF6C-D94FCD239B95}"/>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Later epochs showed overfitting or instability</a:t>
            </a:r>
          </a:p>
        </p:txBody>
      </p:sp>
      <p:sp>
        <p:nvSpPr>
          <p:cNvPr id="2" name="">
            <a:extLst xmlns:a="http://schemas.openxmlformats.org/drawingml/2006/main">
              <a:ext uri="{FF2B5EF4-FFF2-40B4-BE49-F238E27FC236}">
                <a16:creationId xmlns:a16="http://schemas.microsoft.com/office/drawing/2014/main" id="{7CCDD856-BB91-463F-A759-20F82E140138}"/>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5</a:t>
            </a:r>
          </a:p>
        </p:txBody>
      </p:sp>
      <p:graphicFrame>
        <p:nvGraphicFramePr>
          <p:cNvPr id="3" name="Chart">
            <a:extLst xmlns:a="http://schemas.openxmlformats.org/drawingml/2006/main">
              <a:ext uri="{FF2B5EF4-FFF2-40B4-BE49-F238E27FC236}">
                <a16:creationId xmlns:a16="http://schemas.microsoft.com/office/drawing/2014/main" id="{8BC66105-23A8-406C-9C3D-D15EFC240FC2}"/>
              </a:ext>
            </a:extLst>
          </p:cNvPr>
          <p:cNvGraphicFramePr/>
          <p:nvPr/>
        </p:nvGraphicFramePr>
        <p:xfrm>
          <a:off xmlns:a="http://schemas.openxmlformats.org/drawingml/2006/main" x="609600" y="1533525"/>
          <a:ext xmlns:a="http://schemas.openxmlformats.org/drawingml/2006/main" cx="7572375" cy="4114800"/>
        </p:xfrm>
        <a:graphic xmlns:a="http://schemas.openxmlformats.org/drawingml/2006/main">
          <a:graphicData uri="http://schemas.openxmlformats.org/drawingml/2006/chart">
            <c:chart xmlns:r="http://schemas.openxmlformats.org/officeDocument/2006/relationships" xmlns:c="http://schemas.openxmlformats.org/drawingml/2006/chart" r:id="Re9bd612a0c4544e6"/>
          </a:graphicData>
        </a:graphic>
      </p:graphicFrame>
      <p:sp>
        <p:nvSpPr>
          <p:cNvPr id="4" name="">
            <a:extLst xmlns:a="http://schemas.openxmlformats.org/drawingml/2006/main">
              <a:ext uri="{FF2B5EF4-FFF2-40B4-BE49-F238E27FC236}">
                <a16:creationId xmlns:a16="http://schemas.microsoft.com/office/drawing/2014/main" id="{36F30370-962C-4C9B-8883-DFED39DC259C}"/>
              </a:ext>
            </a:extLst>
          </p:cNvPr>
          <p:cNvSpPr>
            <a:spLocks xmlns:a="http://schemas.openxmlformats.org/drawingml/2006/main" noGrp="1"/>
          </p:cNvSpPr>
          <p:nvPr/>
        </p:nvSpPr>
        <p:spPr>
          <a:xfrm xmlns:a="http://schemas.openxmlformats.org/drawingml/2006/main">
            <a:off x="8572500" y="1762125"/>
            <a:ext cx="290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245844"/>
                </a:solidFill>
                <a:latin typeface="Arial"/>
                <a:ea typeface="Arial"/>
                <a:cs typeface="Arial"/>
              </a:defRPr>
            </a:defPPr>
            <a:lvl1pPr>
              <a:defRPr sz="2400" b="1">
                <a:solidFill>
                  <a:srgbClr val="245844"/>
                </a:solidFill>
                <a:latin typeface="Arial"/>
                <a:ea typeface="Arial"/>
                <a:cs typeface="Arial"/>
              </a:defRPr>
            </a:lvl1pPr>
            <a:lvl2pPr>
              <a:defRPr sz="2400" b="1">
                <a:solidFill>
                  <a:srgbClr val="245844"/>
                </a:solidFill>
                <a:latin typeface="Arial"/>
                <a:ea typeface="Arial"/>
                <a:cs typeface="Arial"/>
              </a:defRPr>
            </a:lvl2pPr>
            <a:lvl3pPr>
              <a:defRPr sz="2400" b="1">
                <a:solidFill>
                  <a:srgbClr val="245844"/>
                </a:solidFill>
                <a:latin typeface="Arial"/>
                <a:ea typeface="Arial"/>
                <a:cs typeface="Arial"/>
              </a:defRPr>
            </a:lvl3pPr>
            <a:lvl4pPr>
              <a:defRPr sz="2400" b="1">
                <a:solidFill>
                  <a:srgbClr val="245844"/>
                </a:solidFill>
                <a:latin typeface="Arial"/>
                <a:ea typeface="Arial"/>
                <a:cs typeface="Arial"/>
              </a:defRPr>
            </a:lvl4pPr>
            <a:lvl5pPr>
              <a:defRPr sz="2400" b="1">
                <a:solidFill>
                  <a:srgbClr val="245844"/>
                </a:solidFill>
                <a:latin typeface="Arial"/>
                <a:ea typeface="Arial"/>
                <a:cs typeface="Arial"/>
              </a:defRPr>
            </a:lvl5pPr>
            <a:lvl6pPr>
              <a:defRPr sz="2400" b="1">
                <a:solidFill>
                  <a:srgbClr val="245844"/>
                </a:solidFill>
                <a:latin typeface="Arial"/>
                <a:ea typeface="Arial"/>
                <a:cs typeface="Arial"/>
              </a:defRPr>
            </a:lvl6pPr>
            <a:lvl7pPr>
              <a:defRPr sz="2400" b="1">
                <a:solidFill>
                  <a:srgbClr val="245844"/>
                </a:solidFill>
                <a:latin typeface="Arial"/>
                <a:ea typeface="Arial"/>
                <a:cs typeface="Arial"/>
              </a:defRPr>
            </a:lvl7pPr>
            <a:lvl8pPr>
              <a:defRPr sz="2400" b="1">
                <a:solidFill>
                  <a:srgbClr val="245844"/>
                </a:solidFill>
                <a:latin typeface="Arial"/>
                <a:ea typeface="Arial"/>
                <a:cs typeface="Arial"/>
              </a:defRPr>
            </a:lvl8pPr>
            <a:lvl9pPr>
              <a:defRPr sz="2400" b="1">
                <a:solidFill>
                  <a:srgbClr val="245844"/>
                </a:solidFill>
                <a:latin typeface="Arial"/>
                <a:ea typeface="Arial"/>
                <a:cs typeface="Arial"/>
              </a:defRPr>
            </a:lvl9pPr>
          </a:lstStyle>
          <a:p xmlns:a="http://schemas.openxmlformats.org/drawingml/2006/main">
            <a:pPr>
              <a:defRPr sz="2400" b="1">
                <a:solidFill>
                  <a:srgbClr val="245844"/>
                </a:solidFill>
                <a:latin typeface="Arial"/>
                <a:ea typeface="Arial"/>
                <a:cs typeface="Arial"/>
              </a:defRPr>
            </a:pPr>
            <a:r>
              <a:rPr sz="2400" b="1">
                <a:solidFill>
                  <a:srgbClr val="245844"/>
                </a:solidFill>
                <a:latin typeface="Arial"/>
                <a:ea typeface="Arial"/>
                <a:cs typeface="Arial"/>
              </a:rPr>
              <a:t>Epoch 6 retained</a:t>
            </a:r>
          </a:p>
        </p:txBody>
      </p:sp>
      <p:sp>
        <p:nvSpPr>
          <p:cNvPr id="5" name="">
            <a:extLst xmlns:a="http://schemas.openxmlformats.org/drawingml/2006/main">
              <a:ext uri="{FF2B5EF4-FFF2-40B4-BE49-F238E27FC236}">
                <a16:creationId xmlns:a16="http://schemas.microsoft.com/office/drawing/2014/main" id="{712EF16C-D096-4EFB-ACE2-EA603A75B418}"/>
              </a:ext>
            </a:extLst>
          </p:cNvPr>
          <p:cNvSpPr>
            <a:spLocks xmlns:a="http://schemas.openxmlformats.org/drawingml/2006/main" noGrp="1"/>
          </p:cNvSpPr>
          <p:nvPr/>
        </p:nvSpPr>
        <p:spPr>
          <a:xfrm xmlns:a="http://schemas.openxmlformats.org/drawingml/2006/main">
            <a:off x="8572500" y="2714625"/>
            <a:ext cx="290512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2362F"/>
                </a:solidFill>
                <a:latin typeface="Arial"/>
                <a:ea typeface="Arial"/>
                <a:cs typeface="Arial"/>
              </a:defRPr>
            </a:defPPr>
            <a:lvl1pPr>
              <a:defRPr sz="1950" b="0">
                <a:solidFill>
                  <a:srgbClr val="22362F"/>
                </a:solidFill>
                <a:latin typeface="Arial"/>
                <a:ea typeface="Arial"/>
                <a:cs typeface="Arial"/>
              </a:defRPr>
            </a:lvl1pPr>
            <a:lvl2pPr>
              <a:defRPr sz="1950" b="0">
                <a:solidFill>
                  <a:srgbClr val="22362F"/>
                </a:solidFill>
                <a:latin typeface="Arial"/>
                <a:ea typeface="Arial"/>
                <a:cs typeface="Arial"/>
              </a:defRPr>
            </a:lvl2pPr>
            <a:lvl3pPr>
              <a:defRPr sz="1950" b="0">
                <a:solidFill>
                  <a:srgbClr val="22362F"/>
                </a:solidFill>
                <a:latin typeface="Arial"/>
                <a:ea typeface="Arial"/>
                <a:cs typeface="Arial"/>
              </a:defRPr>
            </a:lvl3pPr>
            <a:lvl4pPr>
              <a:defRPr sz="1950" b="0">
                <a:solidFill>
                  <a:srgbClr val="22362F"/>
                </a:solidFill>
                <a:latin typeface="Arial"/>
                <a:ea typeface="Arial"/>
                <a:cs typeface="Arial"/>
              </a:defRPr>
            </a:lvl4pPr>
            <a:lvl5pPr>
              <a:defRPr sz="1950" b="0">
                <a:solidFill>
                  <a:srgbClr val="22362F"/>
                </a:solidFill>
                <a:latin typeface="Arial"/>
                <a:ea typeface="Arial"/>
                <a:cs typeface="Arial"/>
              </a:defRPr>
            </a:lvl5pPr>
            <a:lvl6pPr>
              <a:defRPr sz="1950" b="0">
                <a:solidFill>
                  <a:srgbClr val="22362F"/>
                </a:solidFill>
                <a:latin typeface="Arial"/>
                <a:ea typeface="Arial"/>
                <a:cs typeface="Arial"/>
              </a:defRPr>
            </a:lvl6pPr>
            <a:lvl7pPr>
              <a:defRPr sz="1950" b="0">
                <a:solidFill>
                  <a:srgbClr val="22362F"/>
                </a:solidFill>
                <a:latin typeface="Arial"/>
                <a:ea typeface="Arial"/>
                <a:cs typeface="Arial"/>
              </a:defRPr>
            </a:lvl7pPr>
            <a:lvl8pPr>
              <a:defRPr sz="1950" b="0">
                <a:solidFill>
                  <a:srgbClr val="22362F"/>
                </a:solidFill>
                <a:latin typeface="Arial"/>
                <a:ea typeface="Arial"/>
                <a:cs typeface="Arial"/>
              </a:defRPr>
            </a:lvl8pPr>
            <a:lvl9pPr>
              <a:defRPr sz="1950" b="0">
                <a:solidFill>
                  <a:srgbClr val="22362F"/>
                </a:solidFill>
                <a:latin typeface="Arial"/>
                <a:ea typeface="Arial"/>
                <a:cs typeface="Arial"/>
              </a:defRPr>
            </a:lvl9pPr>
          </a:lstStyle>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Validation loss</a:t>
            </a:r>
          </a:p>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0.062 at epoch 6</a:t>
            </a:r>
          </a:p>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0.375 at epoch 9</a:t>
            </a:r>
          </a:p>
        </p:txBody>
      </p:sp>
      <p:sp>
        <p:nvSpPr>
          <p:cNvPr id="6" name="">
            <a:extLst xmlns:a="http://schemas.openxmlformats.org/drawingml/2006/main">
              <a:ext uri="{FF2B5EF4-FFF2-40B4-BE49-F238E27FC236}">
                <a16:creationId xmlns:a16="http://schemas.microsoft.com/office/drawing/2014/main" id="{82B4028B-3C22-40C8-B3D6-93CF728CD81C}"/>
              </a:ext>
            </a:extLst>
          </p:cNvPr>
          <p:cNvSpPr>
            <a:spLocks xmlns:a="http://schemas.openxmlformats.org/drawingml/2006/main" noGrp="1"/>
          </p:cNvSpPr>
          <p:nvPr/>
        </p:nvSpPr>
        <p:spPr>
          <a:xfrm xmlns:a="http://schemas.openxmlformats.org/drawingml/2006/main">
            <a:off x="8572500" y="4381500"/>
            <a:ext cx="2905125"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22362F"/>
                </a:solidFill>
                <a:latin typeface="Arial"/>
                <a:ea typeface="Arial"/>
                <a:cs typeface="Arial"/>
              </a:defRPr>
            </a:defPPr>
            <a:lvl1pPr>
              <a:defRPr sz="1875" b="0">
                <a:solidFill>
                  <a:srgbClr val="22362F"/>
                </a:solidFill>
                <a:latin typeface="Arial"/>
                <a:ea typeface="Arial"/>
                <a:cs typeface="Arial"/>
              </a:defRPr>
            </a:lvl1pPr>
            <a:lvl2pPr>
              <a:defRPr sz="1875" b="0">
                <a:solidFill>
                  <a:srgbClr val="22362F"/>
                </a:solidFill>
                <a:latin typeface="Arial"/>
                <a:ea typeface="Arial"/>
                <a:cs typeface="Arial"/>
              </a:defRPr>
            </a:lvl2pPr>
            <a:lvl3pPr>
              <a:defRPr sz="1875" b="0">
                <a:solidFill>
                  <a:srgbClr val="22362F"/>
                </a:solidFill>
                <a:latin typeface="Arial"/>
                <a:ea typeface="Arial"/>
                <a:cs typeface="Arial"/>
              </a:defRPr>
            </a:lvl3pPr>
            <a:lvl4pPr>
              <a:defRPr sz="1875" b="0">
                <a:solidFill>
                  <a:srgbClr val="22362F"/>
                </a:solidFill>
                <a:latin typeface="Arial"/>
                <a:ea typeface="Arial"/>
                <a:cs typeface="Arial"/>
              </a:defRPr>
            </a:lvl4pPr>
            <a:lvl5pPr>
              <a:defRPr sz="1875" b="0">
                <a:solidFill>
                  <a:srgbClr val="22362F"/>
                </a:solidFill>
                <a:latin typeface="Arial"/>
                <a:ea typeface="Arial"/>
                <a:cs typeface="Arial"/>
              </a:defRPr>
            </a:lvl5pPr>
            <a:lvl6pPr>
              <a:defRPr sz="1875" b="0">
                <a:solidFill>
                  <a:srgbClr val="22362F"/>
                </a:solidFill>
                <a:latin typeface="Arial"/>
                <a:ea typeface="Arial"/>
                <a:cs typeface="Arial"/>
              </a:defRPr>
            </a:lvl6pPr>
            <a:lvl7pPr>
              <a:defRPr sz="1875" b="0">
                <a:solidFill>
                  <a:srgbClr val="22362F"/>
                </a:solidFill>
                <a:latin typeface="Arial"/>
                <a:ea typeface="Arial"/>
                <a:cs typeface="Arial"/>
              </a:defRPr>
            </a:lvl7pPr>
            <a:lvl8pPr>
              <a:defRPr sz="1875" b="0">
                <a:solidFill>
                  <a:srgbClr val="22362F"/>
                </a:solidFill>
                <a:latin typeface="Arial"/>
                <a:ea typeface="Arial"/>
                <a:cs typeface="Arial"/>
              </a:defRPr>
            </a:lvl8pPr>
            <a:lvl9pPr>
              <a:defRPr sz="1875" b="0">
                <a:solidFill>
                  <a:srgbClr val="22362F"/>
                </a:solidFill>
                <a:latin typeface="Arial"/>
                <a:ea typeface="Arial"/>
                <a:cs typeface="Arial"/>
              </a:defRPr>
            </a:lvl9pPr>
          </a:lstStyle>
          <a:p xmlns:a="http://schemas.openxmlformats.org/drawingml/2006/main">
            <a:pPr>
              <a:defRPr sz="1875" b="0">
                <a:solidFill>
                  <a:srgbClr val="22362F"/>
                </a:solidFill>
                <a:latin typeface="Arial"/>
                <a:ea typeface="Arial"/>
                <a:cs typeface="Arial"/>
              </a:defRPr>
            </a:pPr>
            <a:r>
              <a:rPr sz="1875" b="0">
                <a:solidFill>
                  <a:srgbClr val="22362F"/>
                </a:solidFill>
                <a:latin typeface="Arial"/>
                <a:ea typeface="Arial"/>
                <a:cs typeface="Arial"/>
              </a:rPr>
              <a:t>Clean train–test F1 gap</a:t>
            </a:r>
          </a:p>
          <a:p xmlns:a="http://schemas.openxmlformats.org/drawingml/2006/main">
            <a:pPr>
              <a:defRPr sz="1875" b="0">
                <a:solidFill>
                  <a:srgbClr val="22362F"/>
                </a:solidFill>
                <a:latin typeface="Arial"/>
                <a:ea typeface="Arial"/>
                <a:cs typeface="Arial"/>
              </a:defRPr>
            </a:pPr>
            <a:r>
              <a:rPr sz="1875" b="0">
                <a:solidFill>
                  <a:srgbClr val="22362F"/>
                </a:solidFill>
                <a:latin typeface="Arial"/>
                <a:ea typeface="Arial"/>
                <a:cs typeface="Arial"/>
              </a:rPr>
              <a:t>DINOv2: 1.27 points</a:t>
            </a:r>
          </a:p>
          <a:p xmlns:a="http://schemas.openxmlformats.org/drawingml/2006/main">
            <a:pPr>
              <a:defRPr sz="1875" b="0">
                <a:solidFill>
                  <a:srgbClr val="22362F"/>
                </a:solidFill>
                <a:latin typeface="Arial"/>
                <a:ea typeface="Arial"/>
                <a:cs typeface="Arial"/>
              </a:defRPr>
            </a:pPr>
            <a:r>
              <a:rPr sz="1875" b="0">
                <a:solidFill>
                  <a:srgbClr val="22362F"/>
                </a:solidFill>
                <a:latin typeface="Arial"/>
                <a:ea typeface="Arial"/>
                <a:cs typeface="Arial"/>
              </a:rPr>
              <a:t>SigLIP 2: 2.01 points</a:t>
            </a:r>
          </a:p>
        </p:txBody>
      </p:sp>
      <p:sp>
        <p:nvSpPr>
          <p:cNvPr id="7" name="">
            <a:extLst xmlns:a="http://schemas.openxmlformats.org/drawingml/2006/main">
              <a:ext uri="{FF2B5EF4-FFF2-40B4-BE49-F238E27FC236}">
                <a16:creationId xmlns:a16="http://schemas.microsoft.com/office/drawing/2014/main" id="{7DDAC5B9-124B-4C7D-9D96-7A20C4757F1A}"/>
              </a:ext>
            </a:extLst>
          </p:cNvPr>
          <p:cNvSpPr>
            <a:spLocks xmlns:a="http://schemas.openxmlformats.org/drawingml/2006/main" noGrp="1"/>
          </p:cNvSpPr>
          <p:nvPr/>
        </p:nvSpPr>
        <p:spPr>
          <a:xfrm xmlns:a="http://schemas.openxmlformats.org/drawingml/2006/main">
            <a:off x="609600" y="61150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Example curve: SigLIP 2 partial, seed 17. Gap figures average selected checkpoints over all three seeds.</a:t>
            </a:r>
          </a:p>
        </p:txBody>
      </p:sp>
    </p:spTree>
    <p:extLst>
      <p:ext uri="{BB962C8B-B14F-4D97-AF65-F5344CB8AC3E}">
        <p14:creationId xmlns:p14="http://schemas.microsoft.com/office/powerpoint/2010/main" val="5758411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C9819605-F18C-4640-9FDC-151ED7AD4AF2}"/>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A confident prediction can still be wrong</a:t>
            </a:r>
          </a:p>
        </p:txBody>
      </p:sp>
      <p:sp>
        <p:nvSpPr>
          <p:cNvPr id="2" name="">
            <a:extLst xmlns:a="http://schemas.openxmlformats.org/drawingml/2006/main">
              <a:ext uri="{FF2B5EF4-FFF2-40B4-BE49-F238E27FC236}">
                <a16:creationId xmlns:a16="http://schemas.microsoft.com/office/drawing/2014/main" id="{094B734D-0118-460A-9E68-F4C78AF635C5}"/>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6</a:t>
            </a:r>
          </a:p>
        </p:txBody>
      </p:sp>
      <p:pic>
        <p:nvPicPr>
          <p:cNvPr id="3" name="">
            <a:extLst xmlns:a="http://schemas.openxmlformats.org/drawingml/2006/main">
              <a:ext uri="{FF2B5EF4-FFF2-40B4-BE49-F238E27FC236}">
                <a16:creationId xmlns:a16="http://schemas.microsoft.com/office/drawing/2014/main" id="{BF1AEDEC-E177-4369-9E61-D4EA4661F426}"/>
              </a:ext>
            </a:extLst>
          </p:cNvPr>
          <p:cNvPicPr>
            <a:picLocks xmlns:a="http://schemas.openxmlformats.org/drawingml/2006/main" noChangeAspect="1"/>
          </p:cNvPicPr>
          <p:nvPr/>
        </p:nvPicPr>
        <p:blipFill>
          <a:blip xmlns:r="http://schemas.openxmlformats.org/officeDocument/2006/relationships" xmlns:a="http://schemas.openxmlformats.org/drawingml/2006/main" r:embed="R8b41d9db688c4656"/>
          <a:stretch xmlns:a="http://schemas.openxmlformats.org/drawingml/2006/main"/>
        </p:blipFill>
        <p:spPr>
          <a:xfrm xmlns:a="http://schemas.openxmlformats.org/drawingml/2006/main">
            <a:off x="609600" y="1657350"/>
            <a:ext cx="2762250" cy="2762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75274DC5-B782-44FF-8422-F050D1DC273D}"/>
              </a:ext>
            </a:extLst>
          </p:cNvPr>
          <p:cNvPicPr>
            <a:picLocks xmlns:a="http://schemas.openxmlformats.org/drawingml/2006/main" noChangeAspect="1"/>
          </p:cNvPicPr>
          <p:nvPr/>
        </p:nvPicPr>
        <p:blipFill>
          <a:blip xmlns:r="http://schemas.openxmlformats.org/officeDocument/2006/relationships" xmlns:a="http://schemas.openxmlformats.org/drawingml/2006/main" r:embed="R068925f12d3540c4"/>
          <a:stretch xmlns:a="http://schemas.openxmlformats.org/drawingml/2006/main"/>
        </p:blipFill>
        <p:spPr>
          <a:xfrm xmlns:a="http://schemas.openxmlformats.org/drawingml/2006/main">
            <a:off x="3686175" y="1657350"/>
            <a:ext cx="2762250" cy="2762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4726D49-4AC3-429B-B1F4-8F756CEA97B1}"/>
              </a:ext>
            </a:extLst>
          </p:cNvPr>
          <p:cNvSpPr>
            <a:spLocks xmlns:a="http://schemas.openxmlformats.org/drawingml/2006/main" noGrp="1"/>
          </p:cNvSpPr>
          <p:nvPr/>
        </p:nvSpPr>
        <p:spPr>
          <a:xfrm xmlns:a="http://schemas.openxmlformats.org/drawingml/2006/main">
            <a:off x="609600" y="4572000"/>
            <a:ext cx="58578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2362F"/>
                </a:solidFill>
                <a:latin typeface="Arial"/>
                <a:ea typeface="Arial"/>
                <a:cs typeface="Arial"/>
              </a:defRPr>
            </a:defPPr>
            <a:lvl1pPr>
              <a:defRPr sz="2025" b="1">
                <a:solidFill>
                  <a:srgbClr val="22362F"/>
                </a:solidFill>
                <a:latin typeface="Arial"/>
                <a:ea typeface="Arial"/>
                <a:cs typeface="Arial"/>
              </a:defRPr>
            </a:lvl1pPr>
            <a:lvl2pPr>
              <a:defRPr sz="2025" b="1">
                <a:solidFill>
                  <a:srgbClr val="22362F"/>
                </a:solidFill>
                <a:latin typeface="Arial"/>
                <a:ea typeface="Arial"/>
                <a:cs typeface="Arial"/>
              </a:defRPr>
            </a:lvl2pPr>
            <a:lvl3pPr>
              <a:defRPr sz="2025" b="1">
                <a:solidFill>
                  <a:srgbClr val="22362F"/>
                </a:solidFill>
                <a:latin typeface="Arial"/>
                <a:ea typeface="Arial"/>
                <a:cs typeface="Arial"/>
              </a:defRPr>
            </a:lvl3pPr>
            <a:lvl4pPr>
              <a:defRPr sz="2025" b="1">
                <a:solidFill>
                  <a:srgbClr val="22362F"/>
                </a:solidFill>
                <a:latin typeface="Arial"/>
                <a:ea typeface="Arial"/>
                <a:cs typeface="Arial"/>
              </a:defRPr>
            </a:lvl4pPr>
            <a:lvl5pPr>
              <a:defRPr sz="2025" b="1">
                <a:solidFill>
                  <a:srgbClr val="22362F"/>
                </a:solidFill>
                <a:latin typeface="Arial"/>
                <a:ea typeface="Arial"/>
                <a:cs typeface="Arial"/>
              </a:defRPr>
            </a:lvl5pPr>
            <a:lvl6pPr>
              <a:defRPr sz="2025" b="1">
                <a:solidFill>
                  <a:srgbClr val="22362F"/>
                </a:solidFill>
                <a:latin typeface="Arial"/>
                <a:ea typeface="Arial"/>
                <a:cs typeface="Arial"/>
              </a:defRPr>
            </a:lvl6pPr>
            <a:lvl7pPr>
              <a:defRPr sz="2025" b="1">
                <a:solidFill>
                  <a:srgbClr val="22362F"/>
                </a:solidFill>
                <a:latin typeface="Arial"/>
                <a:ea typeface="Arial"/>
                <a:cs typeface="Arial"/>
              </a:defRPr>
            </a:lvl7pPr>
            <a:lvl8pPr>
              <a:defRPr sz="2025" b="1">
                <a:solidFill>
                  <a:srgbClr val="22362F"/>
                </a:solidFill>
                <a:latin typeface="Arial"/>
                <a:ea typeface="Arial"/>
                <a:cs typeface="Arial"/>
              </a:defRPr>
            </a:lvl8pPr>
            <a:lvl9pPr>
              <a:defRPr sz="2025" b="1">
                <a:solidFill>
                  <a:srgbClr val="22362F"/>
                </a:solidFill>
                <a:latin typeface="Arial"/>
                <a:ea typeface="Arial"/>
                <a:cs typeface="Arial"/>
              </a:defRPr>
            </a:lvl9pPr>
          </a:lstStyle>
          <a:p xmlns:a="http://schemas.openxmlformats.org/drawingml/2006/main">
            <a:pPr>
              <a:defRPr sz="2025" b="1">
                <a:solidFill>
                  <a:srgbClr val="22362F"/>
                </a:solidFill>
                <a:latin typeface="Arial"/>
                <a:ea typeface="Arial"/>
                <a:cs typeface="Arial"/>
              </a:defRPr>
            </a:pPr>
            <a:r>
              <a:rPr sz="2025" b="1">
                <a:solidFill>
                  <a:srgbClr val="22362F"/>
                </a:solidFill>
                <a:latin typeface="Arial"/>
                <a:ea typeface="Arial"/>
                <a:cs typeface="Arial"/>
              </a:rPr>
              <a:t>True: angular leaf spot</a:t>
            </a:r>
          </a:p>
        </p:txBody>
      </p:sp>
      <p:sp>
        <p:nvSpPr>
          <p:cNvPr id="6" name="">
            <a:extLst xmlns:a="http://schemas.openxmlformats.org/drawingml/2006/main">
              <a:ext uri="{FF2B5EF4-FFF2-40B4-BE49-F238E27FC236}">
                <a16:creationId xmlns:a16="http://schemas.microsoft.com/office/drawing/2014/main" id="{23259BF9-2969-4671-9907-EE7BE05102EC}"/>
              </a:ext>
            </a:extLst>
          </p:cNvPr>
          <p:cNvSpPr>
            <a:spLocks xmlns:a="http://schemas.openxmlformats.org/drawingml/2006/main" noGrp="1"/>
          </p:cNvSpPr>
          <p:nvPr/>
        </p:nvSpPr>
        <p:spPr>
          <a:xfrm xmlns:a="http://schemas.openxmlformats.org/drawingml/2006/main">
            <a:off x="609600" y="504825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5B38"/>
                </a:solidFill>
                <a:latin typeface="Arial"/>
                <a:ea typeface="Arial"/>
                <a:cs typeface="Arial"/>
              </a:defRPr>
            </a:defPPr>
            <a:lvl1pPr>
              <a:defRPr sz="1875" b="0">
                <a:solidFill>
                  <a:srgbClr val="B35B38"/>
                </a:solidFill>
                <a:latin typeface="Arial"/>
                <a:ea typeface="Arial"/>
                <a:cs typeface="Arial"/>
              </a:defRPr>
            </a:lvl1pPr>
            <a:lvl2pPr>
              <a:defRPr sz="1875" b="0">
                <a:solidFill>
                  <a:srgbClr val="B35B38"/>
                </a:solidFill>
                <a:latin typeface="Arial"/>
                <a:ea typeface="Arial"/>
                <a:cs typeface="Arial"/>
              </a:defRPr>
            </a:lvl2pPr>
            <a:lvl3pPr>
              <a:defRPr sz="1875" b="0">
                <a:solidFill>
                  <a:srgbClr val="B35B38"/>
                </a:solidFill>
                <a:latin typeface="Arial"/>
                <a:ea typeface="Arial"/>
                <a:cs typeface="Arial"/>
              </a:defRPr>
            </a:lvl3pPr>
            <a:lvl4pPr>
              <a:defRPr sz="1875" b="0">
                <a:solidFill>
                  <a:srgbClr val="B35B38"/>
                </a:solidFill>
                <a:latin typeface="Arial"/>
                <a:ea typeface="Arial"/>
                <a:cs typeface="Arial"/>
              </a:defRPr>
            </a:lvl4pPr>
            <a:lvl5pPr>
              <a:defRPr sz="1875" b="0">
                <a:solidFill>
                  <a:srgbClr val="B35B38"/>
                </a:solidFill>
                <a:latin typeface="Arial"/>
                <a:ea typeface="Arial"/>
                <a:cs typeface="Arial"/>
              </a:defRPr>
            </a:lvl5pPr>
            <a:lvl6pPr>
              <a:defRPr sz="1875" b="0">
                <a:solidFill>
                  <a:srgbClr val="B35B38"/>
                </a:solidFill>
                <a:latin typeface="Arial"/>
                <a:ea typeface="Arial"/>
                <a:cs typeface="Arial"/>
              </a:defRPr>
            </a:lvl6pPr>
            <a:lvl7pPr>
              <a:defRPr sz="1875" b="0">
                <a:solidFill>
                  <a:srgbClr val="B35B38"/>
                </a:solidFill>
                <a:latin typeface="Arial"/>
                <a:ea typeface="Arial"/>
                <a:cs typeface="Arial"/>
              </a:defRPr>
            </a:lvl7pPr>
            <a:lvl8pPr>
              <a:defRPr sz="1875" b="0">
                <a:solidFill>
                  <a:srgbClr val="B35B38"/>
                </a:solidFill>
                <a:latin typeface="Arial"/>
                <a:ea typeface="Arial"/>
                <a:cs typeface="Arial"/>
              </a:defRPr>
            </a:lvl8pPr>
            <a:lvl9pPr>
              <a:defRPr sz="1875" b="0">
                <a:solidFill>
                  <a:srgbClr val="B35B38"/>
                </a:solidFill>
                <a:latin typeface="Arial"/>
                <a:ea typeface="Arial"/>
                <a:cs typeface="Arial"/>
              </a:defRPr>
            </a:lvl9pPr>
          </a:lstStyle>
          <a:p xmlns:a="http://schemas.openxmlformats.org/drawingml/2006/main">
            <a:pPr>
              <a:defRPr sz="1875" b="0">
                <a:solidFill>
                  <a:srgbClr val="B35B38"/>
                </a:solidFill>
                <a:latin typeface="Arial"/>
                <a:ea typeface="Arial"/>
                <a:cs typeface="Arial"/>
              </a:defRPr>
            </a:pPr>
            <a:r>
              <a:rPr sz="1875" b="0">
                <a:solidFill>
                  <a:srgbClr val="B35B38"/>
                </a:solidFill>
                <a:latin typeface="Arial"/>
                <a:ea typeface="Arial"/>
                <a:cs typeface="Arial"/>
              </a:rPr>
              <a:t>Predicted: rust</a:t>
            </a:r>
          </a:p>
          <a:p xmlns:a="http://schemas.openxmlformats.org/drawingml/2006/main">
            <a:pPr>
              <a:defRPr sz="1875" b="0">
                <a:solidFill>
                  <a:srgbClr val="B35B38"/>
                </a:solidFill>
                <a:latin typeface="Arial"/>
                <a:ea typeface="Arial"/>
                <a:cs typeface="Arial"/>
              </a:defRPr>
            </a:pPr>
            <a:r>
              <a:rPr sz="1875" b="0">
                <a:solidFill>
                  <a:srgbClr val="B35B38"/>
                </a:solidFill>
                <a:latin typeface="Arial"/>
                <a:ea typeface="Arial"/>
                <a:cs typeface="Arial"/>
              </a:rPr>
              <a:t>98.65% confidence</a:t>
            </a:r>
          </a:p>
        </p:txBody>
      </p:sp>
      <p:sp>
        <p:nvSpPr>
          <p:cNvPr id="7" name="">
            <a:extLst xmlns:a="http://schemas.openxmlformats.org/drawingml/2006/main">
              <a:ext uri="{FF2B5EF4-FFF2-40B4-BE49-F238E27FC236}">
                <a16:creationId xmlns:a16="http://schemas.microsoft.com/office/drawing/2014/main" id="{2474CF86-3463-495F-87F1-BC1A9DAF2D86}"/>
              </a:ext>
            </a:extLst>
          </p:cNvPr>
          <p:cNvSpPr>
            <a:spLocks xmlns:a="http://schemas.openxmlformats.org/drawingml/2006/main" noGrp="1"/>
          </p:cNvSpPr>
          <p:nvPr/>
        </p:nvSpPr>
        <p:spPr>
          <a:xfrm xmlns:a="http://schemas.openxmlformats.org/drawingml/2006/main">
            <a:off x="3686175" y="5048250"/>
            <a:ext cx="2857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5B38"/>
                </a:solidFill>
                <a:latin typeface="Arial"/>
                <a:ea typeface="Arial"/>
                <a:cs typeface="Arial"/>
              </a:defRPr>
            </a:defPPr>
            <a:lvl1pPr>
              <a:defRPr sz="1875" b="0">
                <a:solidFill>
                  <a:srgbClr val="B35B38"/>
                </a:solidFill>
                <a:latin typeface="Arial"/>
                <a:ea typeface="Arial"/>
                <a:cs typeface="Arial"/>
              </a:defRPr>
            </a:lvl1pPr>
            <a:lvl2pPr>
              <a:defRPr sz="1875" b="0">
                <a:solidFill>
                  <a:srgbClr val="B35B38"/>
                </a:solidFill>
                <a:latin typeface="Arial"/>
                <a:ea typeface="Arial"/>
                <a:cs typeface="Arial"/>
              </a:defRPr>
            </a:lvl2pPr>
            <a:lvl3pPr>
              <a:defRPr sz="1875" b="0">
                <a:solidFill>
                  <a:srgbClr val="B35B38"/>
                </a:solidFill>
                <a:latin typeface="Arial"/>
                <a:ea typeface="Arial"/>
                <a:cs typeface="Arial"/>
              </a:defRPr>
            </a:lvl3pPr>
            <a:lvl4pPr>
              <a:defRPr sz="1875" b="0">
                <a:solidFill>
                  <a:srgbClr val="B35B38"/>
                </a:solidFill>
                <a:latin typeface="Arial"/>
                <a:ea typeface="Arial"/>
                <a:cs typeface="Arial"/>
              </a:defRPr>
            </a:lvl4pPr>
            <a:lvl5pPr>
              <a:defRPr sz="1875" b="0">
                <a:solidFill>
                  <a:srgbClr val="B35B38"/>
                </a:solidFill>
                <a:latin typeface="Arial"/>
                <a:ea typeface="Arial"/>
                <a:cs typeface="Arial"/>
              </a:defRPr>
            </a:lvl5pPr>
            <a:lvl6pPr>
              <a:defRPr sz="1875" b="0">
                <a:solidFill>
                  <a:srgbClr val="B35B38"/>
                </a:solidFill>
                <a:latin typeface="Arial"/>
                <a:ea typeface="Arial"/>
                <a:cs typeface="Arial"/>
              </a:defRPr>
            </a:lvl6pPr>
            <a:lvl7pPr>
              <a:defRPr sz="1875" b="0">
                <a:solidFill>
                  <a:srgbClr val="B35B38"/>
                </a:solidFill>
                <a:latin typeface="Arial"/>
                <a:ea typeface="Arial"/>
                <a:cs typeface="Arial"/>
              </a:defRPr>
            </a:lvl7pPr>
            <a:lvl8pPr>
              <a:defRPr sz="1875" b="0">
                <a:solidFill>
                  <a:srgbClr val="B35B38"/>
                </a:solidFill>
                <a:latin typeface="Arial"/>
                <a:ea typeface="Arial"/>
                <a:cs typeface="Arial"/>
              </a:defRPr>
            </a:lvl8pPr>
            <a:lvl9pPr>
              <a:defRPr sz="1875" b="0">
                <a:solidFill>
                  <a:srgbClr val="B35B38"/>
                </a:solidFill>
                <a:latin typeface="Arial"/>
                <a:ea typeface="Arial"/>
                <a:cs typeface="Arial"/>
              </a:defRPr>
            </a:lvl9pPr>
          </a:lstStyle>
          <a:p xmlns:a="http://schemas.openxmlformats.org/drawingml/2006/main">
            <a:pPr>
              <a:defRPr sz="1875" b="0">
                <a:solidFill>
                  <a:srgbClr val="B35B38"/>
                </a:solidFill>
                <a:latin typeface="Arial"/>
                <a:ea typeface="Arial"/>
                <a:cs typeface="Arial"/>
              </a:defRPr>
            </a:pPr>
            <a:r>
              <a:rPr sz="1875" b="0">
                <a:solidFill>
                  <a:srgbClr val="B35B38"/>
                </a:solidFill>
                <a:latin typeface="Arial"/>
                <a:ea typeface="Arial"/>
                <a:cs typeface="Arial"/>
              </a:rPr>
              <a:t>Predicted: rust</a:t>
            </a:r>
          </a:p>
          <a:p xmlns:a="http://schemas.openxmlformats.org/drawingml/2006/main">
            <a:pPr>
              <a:defRPr sz="1875" b="0">
                <a:solidFill>
                  <a:srgbClr val="B35B38"/>
                </a:solidFill>
                <a:latin typeface="Arial"/>
                <a:ea typeface="Arial"/>
                <a:cs typeface="Arial"/>
              </a:defRPr>
            </a:pPr>
            <a:r>
              <a:rPr sz="1875" b="0">
                <a:solidFill>
                  <a:srgbClr val="B35B38"/>
                </a:solidFill>
                <a:latin typeface="Arial"/>
                <a:ea typeface="Arial"/>
                <a:cs typeface="Arial"/>
              </a:rPr>
              <a:t>82.47% confidence</a:t>
            </a:r>
          </a:p>
        </p:txBody>
      </p:sp>
      <p:sp>
        <p:nvSpPr>
          <p:cNvPr id="8" name="">
            <a:extLst xmlns:a="http://schemas.openxmlformats.org/drawingml/2006/main">
              <a:ext uri="{FF2B5EF4-FFF2-40B4-BE49-F238E27FC236}">
                <a16:creationId xmlns:a16="http://schemas.microsoft.com/office/drawing/2014/main" id="{7A7A37D6-5C47-4AB7-B6A7-4DDB3411DA20}"/>
              </a:ext>
            </a:extLst>
          </p:cNvPr>
          <p:cNvSpPr>
            <a:spLocks xmlns:a="http://schemas.openxmlformats.org/drawingml/2006/main" noGrp="1"/>
          </p:cNvSpPr>
          <p:nvPr/>
        </p:nvSpPr>
        <p:spPr>
          <a:xfrm xmlns:a="http://schemas.openxmlformats.org/drawingml/2006/main">
            <a:off x="7096125" y="1676400"/>
            <a:ext cx="4476750" cy="990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1">
                <a:solidFill>
                  <a:srgbClr val="22362F"/>
                </a:solidFill>
                <a:latin typeface="Arial"/>
                <a:ea typeface="Arial"/>
                <a:cs typeface="Arial"/>
              </a:defRPr>
            </a:defPPr>
            <a:lvl1pPr>
              <a:defRPr sz="2175" b="1">
                <a:solidFill>
                  <a:srgbClr val="22362F"/>
                </a:solidFill>
                <a:latin typeface="Arial"/>
                <a:ea typeface="Arial"/>
                <a:cs typeface="Arial"/>
              </a:defRPr>
            </a:lvl1pPr>
            <a:lvl2pPr>
              <a:defRPr sz="2175" b="1">
                <a:solidFill>
                  <a:srgbClr val="22362F"/>
                </a:solidFill>
                <a:latin typeface="Arial"/>
                <a:ea typeface="Arial"/>
                <a:cs typeface="Arial"/>
              </a:defRPr>
            </a:lvl2pPr>
            <a:lvl3pPr>
              <a:defRPr sz="2175" b="1">
                <a:solidFill>
                  <a:srgbClr val="22362F"/>
                </a:solidFill>
                <a:latin typeface="Arial"/>
                <a:ea typeface="Arial"/>
                <a:cs typeface="Arial"/>
              </a:defRPr>
            </a:lvl3pPr>
            <a:lvl4pPr>
              <a:defRPr sz="2175" b="1">
                <a:solidFill>
                  <a:srgbClr val="22362F"/>
                </a:solidFill>
                <a:latin typeface="Arial"/>
                <a:ea typeface="Arial"/>
                <a:cs typeface="Arial"/>
              </a:defRPr>
            </a:lvl4pPr>
            <a:lvl5pPr>
              <a:defRPr sz="2175" b="1">
                <a:solidFill>
                  <a:srgbClr val="22362F"/>
                </a:solidFill>
                <a:latin typeface="Arial"/>
                <a:ea typeface="Arial"/>
                <a:cs typeface="Arial"/>
              </a:defRPr>
            </a:lvl5pPr>
            <a:lvl6pPr>
              <a:defRPr sz="2175" b="1">
                <a:solidFill>
                  <a:srgbClr val="22362F"/>
                </a:solidFill>
                <a:latin typeface="Arial"/>
                <a:ea typeface="Arial"/>
                <a:cs typeface="Arial"/>
              </a:defRPr>
            </a:lvl6pPr>
            <a:lvl7pPr>
              <a:defRPr sz="2175" b="1">
                <a:solidFill>
                  <a:srgbClr val="22362F"/>
                </a:solidFill>
                <a:latin typeface="Arial"/>
                <a:ea typeface="Arial"/>
                <a:cs typeface="Arial"/>
              </a:defRPr>
            </a:lvl7pPr>
            <a:lvl8pPr>
              <a:defRPr sz="2175" b="1">
                <a:solidFill>
                  <a:srgbClr val="22362F"/>
                </a:solidFill>
                <a:latin typeface="Arial"/>
                <a:ea typeface="Arial"/>
                <a:cs typeface="Arial"/>
              </a:defRPr>
            </a:lvl8pPr>
            <a:lvl9pPr>
              <a:defRPr sz="2175" b="1">
                <a:solidFill>
                  <a:srgbClr val="22362F"/>
                </a:solidFill>
                <a:latin typeface="Arial"/>
                <a:ea typeface="Arial"/>
                <a:cs typeface="Arial"/>
              </a:defRPr>
            </a:lvl9pPr>
          </a:lstStyle>
          <a:p xmlns:a="http://schemas.openxmlformats.org/drawingml/2006/main">
            <a:pPr>
              <a:defRPr sz="2175" b="1">
                <a:solidFill>
                  <a:srgbClr val="22362F"/>
                </a:solidFill>
                <a:latin typeface="Arial"/>
                <a:ea typeface="Arial"/>
                <a:cs typeface="Arial"/>
              </a:defRPr>
            </a:pPr>
            <a:r>
              <a:rPr sz="2175" b="1">
                <a:solidFill>
                  <a:srgbClr val="22362F"/>
                </a:solidFill>
                <a:latin typeface="Arial"/>
                <a:ea typeface="Arial"/>
                <a:cs typeface="Arial"/>
              </a:rPr>
              <a:t>Wrong disease labels can lead</a:t>
            </a:r>
          </a:p>
          <a:p xmlns:a="http://schemas.openxmlformats.org/drawingml/2006/main">
            <a:pPr>
              <a:defRPr sz="2175" b="1">
                <a:solidFill>
                  <a:srgbClr val="22362F"/>
                </a:solidFill>
                <a:latin typeface="Arial"/>
                <a:ea typeface="Arial"/>
                <a:cs typeface="Arial"/>
              </a:defRPr>
            </a:pPr>
            <a:r>
              <a:rPr sz="2175" b="1">
                <a:solidFill>
                  <a:srgbClr val="22362F"/>
                </a:solidFill>
                <a:latin typeface="Arial"/>
                <a:ea typeface="Arial"/>
                <a:cs typeface="Arial"/>
              </a:rPr>
              <a:t>to unsuitable intervention.</a:t>
            </a:r>
          </a:p>
        </p:txBody>
      </p:sp>
      <p:sp>
        <p:nvSpPr>
          <p:cNvPr id="9" name="">
            <a:extLst xmlns:a="http://schemas.openxmlformats.org/drawingml/2006/main">
              <a:ext uri="{FF2B5EF4-FFF2-40B4-BE49-F238E27FC236}">
                <a16:creationId xmlns:a16="http://schemas.microsoft.com/office/drawing/2014/main" id="{9CAA7450-DB05-4F23-BBAD-50BA85222C7B}"/>
              </a:ext>
            </a:extLst>
          </p:cNvPr>
          <p:cNvSpPr>
            <a:spLocks xmlns:a="http://schemas.openxmlformats.org/drawingml/2006/main" noGrp="1"/>
          </p:cNvSpPr>
          <p:nvPr/>
        </p:nvSpPr>
        <p:spPr>
          <a:xfrm xmlns:a="http://schemas.openxmlformats.org/drawingml/2006/main">
            <a:off x="7096125" y="3067050"/>
            <a:ext cx="4476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2362F"/>
                </a:solidFill>
                <a:latin typeface="Arial"/>
                <a:ea typeface="Arial"/>
                <a:cs typeface="Arial"/>
              </a:defRPr>
            </a:defPPr>
            <a:lvl1pPr>
              <a:defRPr sz="2025" b="0">
                <a:solidFill>
                  <a:srgbClr val="22362F"/>
                </a:solidFill>
                <a:latin typeface="Arial"/>
                <a:ea typeface="Arial"/>
                <a:cs typeface="Arial"/>
              </a:defRPr>
            </a:lvl1pPr>
            <a:lvl2pPr>
              <a:defRPr sz="2025" b="0">
                <a:solidFill>
                  <a:srgbClr val="22362F"/>
                </a:solidFill>
                <a:latin typeface="Arial"/>
                <a:ea typeface="Arial"/>
                <a:cs typeface="Arial"/>
              </a:defRPr>
            </a:lvl2pPr>
            <a:lvl3pPr>
              <a:defRPr sz="2025" b="0">
                <a:solidFill>
                  <a:srgbClr val="22362F"/>
                </a:solidFill>
                <a:latin typeface="Arial"/>
                <a:ea typeface="Arial"/>
                <a:cs typeface="Arial"/>
              </a:defRPr>
            </a:lvl3pPr>
            <a:lvl4pPr>
              <a:defRPr sz="2025" b="0">
                <a:solidFill>
                  <a:srgbClr val="22362F"/>
                </a:solidFill>
                <a:latin typeface="Arial"/>
                <a:ea typeface="Arial"/>
                <a:cs typeface="Arial"/>
              </a:defRPr>
            </a:lvl4pPr>
            <a:lvl5pPr>
              <a:defRPr sz="2025" b="0">
                <a:solidFill>
                  <a:srgbClr val="22362F"/>
                </a:solidFill>
                <a:latin typeface="Arial"/>
                <a:ea typeface="Arial"/>
                <a:cs typeface="Arial"/>
              </a:defRPr>
            </a:lvl5pPr>
            <a:lvl6pPr>
              <a:defRPr sz="2025" b="0">
                <a:solidFill>
                  <a:srgbClr val="22362F"/>
                </a:solidFill>
                <a:latin typeface="Arial"/>
                <a:ea typeface="Arial"/>
                <a:cs typeface="Arial"/>
              </a:defRPr>
            </a:lvl6pPr>
            <a:lvl7pPr>
              <a:defRPr sz="2025" b="0">
                <a:solidFill>
                  <a:srgbClr val="22362F"/>
                </a:solidFill>
                <a:latin typeface="Arial"/>
                <a:ea typeface="Arial"/>
                <a:cs typeface="Arial"/>
              </a:defRPr>
            </a:lvl7pPr>
            <a:lvl8pPr>
              <a:defRPr sz="2025" b="0">
                <a:solidFill>
                  <a:srgbClr val="22362F"/>
                </a:solidFill>
                <a:latin typeface="Arial"/>
                <a:ea typeface="Arial"/>
                <a:cs typeface="Arial"/>
              </a:defRPr>
            </a:lvl8pPr>
            <a:lvl9pPr>
              <a:defRPr sz="2025" b="0">
                <a:solidFill>
                  <a:srgbClr val="22362F"/>
                </a:solidFill>
                <a:latin typeface="Arial"/>
                <a:ea typeface="Arial"/>
                <a:cs typeface="Arial"/>
              </a:defRPr>
            </a:lvl9pPr>
          </a:lstStyle>
          <a:p xmlns:a="http://schemas.openxmlformats.org/drawingml/2006/main">
            <a:pPr>
              <a:defRPr sz="2025" b="0">
                <a:solidFill>
                  <a:srgbClr val="22362F"/>
                </a:solidFill>
                <a:latin typeface="Arial"/>
                <a:ea typeface="Arial"/>
                <a:cs typeface="Arial"/>
              </a:defRPr>
            </a:pPr>
            <a:r>
              <a:rPr sz="2025" b="0">
                <a:solidFill>
                  <a:srgbClr val="22362F"/>
                </a:solidFill>
                <a:latin typeface="Arial"/>
                <a:ea typeface="Arial"/>
                <a:cs typeface="Arial"/>
              </a:rPr>
              <a:t>Three labels cannot cover every</a:t>
            </a:r>
          </a:p>
          <a:p xmlns:a="http://schemas.openxmlformats.org/drawingml/2006/main">
            <a:pPr>
              <a:defRPr sz="2025" b="0">
                <a:solidFill>
                  <a:srgbClr val="22362F"/>
                </a:solidFill>
                <a:latin typeface="Arial"/>
                <a:ea typeface="Arial"/>
                <a:cs typeface="Arial"/>
              </a:defRPr>
            </a:pPr>
            <a:r>
              <a:rPr sz="2025" b="0">
                <a:solidFill>
                  <a:srgbClr val="22362F"/>
                </a:solidFill>
                <a:latin typeface="Arial"/>
                <a:ea typeface="Arial"/>
                <a:cs typeface="Arial"/>
              </a:rPr>
              <a:t>disease, pest or nutrient problem.</a:t>
            </a:r>
          </a:p>
        </p:txBody>
      </p:sp>
      <p:sp>
        <p:nvSpPr>
          <p:cNvPr id="10" name="">
            <a:extLst xmlns:a="http://schemas.openxmlformats.org/drawingml/2006/main">
              <a:ext uri="{FF2B5EF4-FFF2-40B4-BE49-F238E27FC236}">
                <a16:creationId xmlns:a16="http://schemas.microsoft.com/office/drawing/2014/main" id="{8E29ED28-CA59-44A8-B2E5-F7406BF8C351}"/>
              </a:ext>
            </a:extLst>
          </p:cNvPr>
          <p:cNvSpPr>
            <a:spLocks xmlns:a="http://schemas.openxmlformats.org/drawingml/2006/main" noGrp="1"/>
          </p:cNvSpPr>
          <p:nvPr/>
        </p:nvSpPr>
        <p:spPr>
          <a:xfrm xmlns:a="http://schemas.openxmlformats.org/drawingml/2006/main">
            <a:off x="7096125" y="4476750"/>
            <a:ext cx="44767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45844"/>
                </a:solidFill>
                <a:latin typeface="Arial"/>
                <a:ea typeface="Arial"/>
                <a:cs typeface="Arial"/>
              </a:defRPr>
            </a:defPPr>
            <a:lvl1pPr>
              <a:defRPr sz="2025" b="1">
                <a:solidFill>
                  <a:srgbClr val="245844"/>
                </a:solidFill>
                <a:latin typeface="Arial"/>
                <a:ea typeface="Arial"/>
                <a:cs typeface="Arial"/>
              </a:defRPr>
            </a:lvl1pPr>
            <a:lvl2pPr>
              <a:defRPr sz="2025" b="1">
                <a:solidFill>
                  <a:srgbClr val="245844"/>
                </a:solidFill>
                <a:latin typeface="Arial"/>
                <a:ea typeface="Arial"/>
                <a:cs typeface="Arial"/>
              </a:defRPr>
            </a:lvl2pPr>
            <a:lvl3pPr>
              <a:defRPr sz="2025" b="1">
                <a:solidFill>
                  <a:srgbClr val="245844"/>
                </a:solidFill>
                <a:latin typeface="Arial"/>
                <a:ea typeface="Arial"/>
                <a:cs typeface="Arial"/>
              </a:defRPr>
            </a:lvl3pPr>
            <a:lvl4pPr>
              <a:defRPr sz="2025" b="1">
                <a:solidFill>
                  <a:srgbClr val="245844"/>
                </a:solidFill>
                <a:latin typeface="Arial"/>
                <a:ea typeface="Arial"/>
                <a:cs typeface="Arial"/>
              </a:defRPr>
            </a:lvl4pPr>
            <a:lvl5pPr>
              <a:defRPr sz="2025" b="1">
                <a:solidFill>
                  <a:srgbClr val="245844"/>
                </a:solidFill>
                <a:latin typeface="Arial"/>
                <a:ea typeface="Arial"/>
                <a:cs typeface="Arial"/>
              </a:defRPr>
            </a:lvl5pPr>
            <a:lvl6pPr>
              <a:defRPr sz="2025" b="1">
                <a:solidFill>
                  <a:srgbClr val="245844"/>
                </a:solidFill>
                <a:latin typeface="Arial"/>
                <a:ea typeface="Arial"/>
                <a:cs typeface="Arial"/>
              </a:defRPr>
            </a:lvl6pPr>
            <a:lvl7pPr>
              <a:defRPr sz="2025" b="1">
                <a:solidFill>
                  <a:srgbClr val="245844"/>
                </a:solidFill>
                <a:latin typeface="Arial"/>
                <a:ea typeface="Arial"/>
                <a:cs typeface="Arial"/>
              </a:defRPr>
            </a:lvl7pPr>
            <a:lvl8pPr>
              <a:defRPr sz="2025" b="1">
                <a:solidFill>
                  <a:srgbClr val="245844"/>
                </a:solidFill>
                <a:latin typeface="Arial"/>
                <a:ea typeface="Arial"/>
                <a:cs typeface="Arial"/>
              </a:defRPr>
            </a:lvl8pPr>
            <a:lvl9pPr>
              <a:defRPr sz="2025" b="1">
                <a:solidFill>
                  <a:srgbClr val="245844"/>
                </a:solidFill>
                <a:latin typeface="Arial"/>
                <a:ea typeface="Arial"/>
                <a:cs typeface="Arial"/>
              </a:defRPr>
            </a:lvl9pPr>
          </a:lstStyle>
          <a:p xmlns:a="http://schemas.openxmlformats.org/drawingml/2006/main">
            <a:pPr>
              <a:defRPr sz="2025" b="1">
                <a:solidFill>
                  <a:srgbClr val="245844"/>
                </a:solidFill>
                <a:latin typeface="Arial"/>
                <a:ea typeface="Arial"/>
                <a:cs typeface="Arial"/>
              </a:defRPr>
            </a:pPr>
            <a:r>
              <a:rPr sz="2025" b="1">
                <a:solidFill>
                  <a:srgbClr val="245844"/>
                </a:solidFill>
                <a:latin typeface="Arial"/>
                <a:ea typeface="Arial"/>
                <a:cs typeface="Arial"/>
              </a:rPr>
              <a:t>Independent field tests and</a:t>
            </a:r>
          </a:p>
          <a:p xmlns:a="http://schemas.openxmlformats.org/drawingml/2006/main">
            <a:pPr>
              <a:defRPr sz="2025" b="1">
                <a:solidFill>
                  <a:srgbClr val="245844"/>
                </a:solidFill>
                <a:latin typeface="Arial"/>
                <a:ea typeface="Arial"/>
                <a:cs typeface="Arial"/>
              </a:defRPr>
            </a:pPr>
            <a:r>
              <a:rPr sz="2025" b="1">
                <a:solidFill>
                  <a:srgbClr val="245844"/>
                </a:solidFill>
                <a:latin typeface="Arial"/>
                <a:ea typeface="Arial"/>
                <a:cs typeface="Arial"/>
              </a:rPr>
              <a:t>expert review are still needed.</a:t>
            </a:r>
          </a:p>
        </p:txBody>
      </p:sp>
      <p:sp>
        <p:nvSpPr>
          <p:cNvPr id="11" name="">
            <a:extLst xmlns:a="http://schemas.openxmlformats.org/drawingml/2006/main">
              <a:ext uri="{FF2B5EF4-FFF2-40B4-BE49-F238E27FC236}">
                <a16:creationId xmlns:a16="http://schemas.microsoft.com/office/drawing/2014/main" id="{EB76A3E6-C2D7-4DBC-ABB6-EA012BC63C5F}"/>
              </a:ext>
            </a:extLst>
          </p:cNvPr>
          <p:cNvSpPr>
            <a:spLocks xmlns:a="http://schemas.openxmlformats.org/drawingml/2006/main" noGrp="1"/>
          </p:cNvSpPr>
          <p:nvPr/>
        </p:nvSpPr>
        <p:spPr>
          <a:xfrm xmlns:a="http://schemas.openxmlformats.org/drawingml/2006/main">
            <a:off x="609600" y="61150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Softmax confidence is uncalibrated. Geography, phone quality and access to advice may affect who benefits.</a:t>
            </a:r>
          </a:p>
        </p:txBody>
      </p:sp>
    </p:spTree>
    <p:extLst>
      <p:ext uri="{BB962C8B-B14F-4D97-AF65-F5344CB8AC3E}">
        <p14:creationId xmlns:p14="http://schemas.microsoft.com/office/powerpoint/2010/main" val="740088661"/>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9E81B91-1A00-4D83-889C-84E3411DF5B3}"/>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What the comparison supports</a:t>
            </a:r>
          </a:p>
        </p:txBody>
      </p:sp>
      <p:sp>
        <p:nvSpPr>
          <p:cNvPr id="2" name="">
            <a:extLst xmlns:a="http://schemas.openxmlformats.org/drawingml/2006/main">
              <a:ext uri="{FF2B5EF4-FFF2-40B4-BE49-F238E27FC236}">
                <a16:creationId xmlns:a16="http://schemas.microsoft.com/office/drawing/2014/main" id="{3F18E3CB-0F49-4DE4-8392-3596FE3D091B}"/>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7</a:t>
            </a:r>
          </a:p>
        </p:txBody>
      </p:sp>
      <p:sp>
        <p:nvSpPr>
          <p:cNvPr id="3" name="">
            <a:extLst xmlns:a="http://schemas.openxmlformats.org/drawingml/2006/main">
              <a:ext uri="{FF2B5EF4-FFF2-40B4-BE49-F238E27FC236}">
                <a16:creationId xmlns:a16="http://schemas.microsoft.com/office/drawing/2014/main" id="{4B66E5A0-7E6B-4AAB-AF9F-B1BDF658FBE0}"/>
              </a:ext>
            </a:extLst>
          </p:cNvPr>
          <p:cNvSpPr>
            <a:spLocks xmlns:a="http://schemas.openxmlformats.org/drawingml/2006/main" noGrp="1"/>
          </p:cNvSpPr>
          <p:nvPr/>
        </p:nvSpPr>
        <p:spPr>
          <a:xfrm xmlns:a="http://schemas.openxmlformats.org/drawingml/2006/main">
            <a:off x="609600" y="1752600"/>
            <a:ext cx="105727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45844"/>
                </a:solidFill>
                <a:latin typeface="Arial"/>
                <a:ea typeface="Arial"/>
                <a:cs typeface="Arial"/>
              </a:defRPr>
            </a:defPPr>
            <a:lvl1pPr>
              <a:defRPr sz="2850" b="1">
                <a:solidFill>
                  <a:srgbClr val="245844"/>
                </a:solidFill>
                <a:latin typeface="Arial"/>
                <a:ea typeface="Arial"/>
                <a:cs typeface="Arial"/>
              </a:defRPr>
            </a:lvl1pPr>
            <a:lvl2pPr>
              <a:defRPr sz="2850" b="1">
                <a:solidFill>
                  <a:srgbClr val="245844"/>
                </a:solidFill>
                <a:latin typeface="Arial"/>
                <a:ea typeface="Arial"/>
                <a:cs typeface="Arial"/>
              </a:defRPr>
            </a:lvl2pPr>
            <a:lvl3pPr>
              <a:defRPr sz="2850" b="1">
                <a:solidFill>
                  <a:srgbClr val="245844"/>
                </a:solidFill>
                <a:latin typeface="Arial"/>
                <a:ea typeface="Arial"/>
                <a:cs typeface="Arial"/>
              </a:defRPr>
            </a:lvl3pPr>
            <a:lvl4pPr>
              <a:defRPr sz="2850" b="1">
                <a:solidFill>
                  <a:srgbClr val="245844"/>
                </a:solidFill>
                <a:latin typeface="Arial"/>
                <a:ea typeface="Arial"/>
                <a:cs typeface="Arial"/>
              </a:defRPr>
            </a:lvl4pPr>
            <a:lvl5pPr>
              <a:defRPr sz="2850" b="1">
                <a:solidFill>
                  <a:srgbClr val="245844"/>
                </a:solidFill>
                <a:latin typeface="Arial"/>
                <a:ea typeface="Arial"/>
                <a:cs typeface="Arial"/>
              </a:defRPr>
            </a:lvl5pPr>
            <a:lvl6pPr>
              <a:defRPr sz="2850" b="1">
                <a:solidFill>
                  <a:srgbClr val="245844"/>
                </a:solidFill>
                <a:latin typeface="Arial"/>
                <a:ea typeface="Arial"/>
                <a:cs typeface="Arial"/>
              </a:defRPr>
            </a:lvl6pPr>
            <a:lvl7pPr>
              <a:defRPr sz="2850" b="1">
                <a:solidFill>
                  <a:srgbClr val="245844"/>
                </a:solidFill>
                <a:latin typeface="Arial"/>
                <a:ea typeface="Arial"/>
                <a:cs typeface="Arial"/>
              </a:defRPr>
            </a:lvl7pPr>
            <a:lvl8pPr>
              <a:defRPr sz="2850" b="1">
                <a:solidFill>
                  <a:srgbClr val="245844"/>
                </a:solidFill>
                <a:latin typeface="Arial"/>
                <a:ea typeface="Arial"/>
                <a:cs typeface="Arial"/>
              </a:defRPr>
            </a:lvl8pPr>
            <a:lvl9pPr>
              <a:defRPr sz="2850" b="1">
                <a:solidFill>
                  <a:srgbClr val="245844"/>
                </a:solidFill>
                <a:latin typeface="Arial"/>
                <a:ea typeface="Arial"/>
                <a:cs typeface="Arial"/>
              </a:defRPr>
            </a:lvl9pPr>
          </a:lstStyle>
          <a:p xmlns:a="http://schemas.openxmlformats.org/drawingml/2006/main">
            <a:pPr>
              <a:defRPr sz="2850" b="1">
                <a:solidFill>
                  <a:srgbClr val="245844"/>
                </a:solidFill>
                <a:latin typeface="Arial"/>
                <a:ea typeface="Arial"/>
                <a:cs typeface="Arial"/>
              </a:defRPr>
            </a:pPr>
            <a:r>
              <a:rPr sz="2850" b="1">
                <a:solidFill>
                  <a:srgbClr val="245844"/>
                </a:solidFill>
                <a:latin typeface="Arial"/>
                <a:ea typeface="Arial"/>
                <a:cs typeface="Arial"/>
              </a:rPr>
              <a:t>SigLIP 2 gave stronger frozen features</a:t>
            </a:r>
          </a:p>
        </p:txBody>
      </p:sp>
      <p:sp>
        <p:nvSpPr>
          <p:cNvPr id="4" name="">
            <a:extLst xmlns:a="http://schemas.openxmlformats.org/drawingml/2006/main">
              <a:ext uri="{FF2B5EF4-FFF2-40B4-BE49-F238E27FC236}">
                <a16:creationId xmlns:a16="http://schemas.microsoft.com/office/drawing/2014/main" id="{F9A3C324-91DA-4062-8BD8-2EB7DC67308B}"/>
              </a:ext>
            </a:extLst>
          </p:cNvPr>
          <p:cNvSpPr>
            <a:spLocks xmlns:a="http://schemas.openxmlformats.org/drawingml/2006/main" noGrp="1"/>
          </p:cNvSpPr>
          <p:nvPr/>
        </p:nvSpPr>
        <p:spPr>
          <a:xfrm xmlns:a="http://schemas.openxmlformats.org/drawingml/2006/main">
            <a:off x="609600" y="2857500"/>
            <a:ext cx="10572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2362F"/>
                </a:solidFill>
                <a:latin typeface="Arial"/>
                <a:ea typeface="Arial"/>
                <a:cs typeface="Arial"/>
              </a:defRPr>
            </a:defPPr>
            <a:lvl1pPr>
              <a:defRPr sz="2850" b="1">
                <a:solidFill>
                  <a:srgbClr val="22362F"/>
                </a:solidFill>
                <a:latin typeface="Arial"/>
                <a:ea typeface="Arial"/>
                <a:cs typeface="Arial"/>
              </a:defRPr>
            </a:lvl1pPr>
            <a:lvl2pPr>
              <a:defRPr sz="2850" b="1">
                <a:solidFill>
                  <a:srgbClr val="22362F"/>
                </a:solidFill>
                <a:latin typeface="Arial"/>
                <a:ea typeface="Arial"/>
                <a:cs typeface="Arial"/>
              </a:defRPr>
            </a:lvl2pPr>
            <a:lvl3pPr>
              <a:defRPr sz="2850" b="1">
                <a:solidFill>
                  <a:srgbClr val="22362F"/>
                </a:solidFill>
                <a:latin typeface="Arial"/>
                <a:ea typeface="Arial"/>
                <a:cs typeface="Arial"/>
              </a:defRPr>
            </a:lvl3pPr>
            <a:lvl4pPr>
              <a:defRPr sz="2850" b="1">
                <a:solidFill>
                  <a:srgbClr val="22362F"/>
                </a:solidFill>
                <a:latin typeface="Arial"/>
                <a:ea typeface="Arial"/>
                <a:cs typeface="Arial"/>
              </a:defRPr>
            </a:lvl4pPr>
            <a:lvl5pPr>
              <a:defRPr sz="2850" b="1">
                <a:solidFill>
                  <a:srgbClr val="22362F"/>
                </a:solidFill>
                <a:latin typeface="Arial"/>
                <a:ea typeface="Arial"/>
                <a:cs typeface="Arial"/>
              </a:defRPr>
            </a:lvl5pPr>
            <a:lvl6pPr>
              <a:defRPr sz="2850" b="1">
                <a:solidFill>
                  <a:srgbClr val="22362F"/>
                </a:solidFill>
                <a:latin typeface="Arial"/>
                <a:ea typeface="Arial"/>
                <a:cs typeface="Arial"/>
              </a:defRPr>
            </a:lvl6pPr>
            <a:lvl7pPr>
              <a:defRPr sz="2850" b="1">
                <a:solidFill>
                  <a:srgbClr val="22362F"/>
                </a:solidFill>
                <a:latin typeface="Arial"/>
                <a:ea typeface="Arial"/>
                <a:cs typeface="Arial"/>
              </a:defRPr>
            </a:lvl7pPr>
            <a:lvl8pPr>
              <a:defRPr sz="2850" b="1">
                <a:solidFill>
                  <a:srgbClr val="22362F"/>
                </a:solidFill>
                <a:latin typeface="Arial"/>
                <a:ea typeface="Arial"/>
                <a:cs typeface="Arial"/>
              </a:defRPr>
            </a:lvl8pPr>
            <a:lvl9pPr>
              <a:defRPr sz="2850" b="1">
                <a:solidFill>
                  <a:srgbClr val="22362F"/>
                </a:solidFill>
                <a:latin typeface="Arial"/>
                <a:ea typeface="Arial"/>
                <a:cs typeface="Arial"/>
              </a:defRPr>
            </a:lvl9pPr>
          </a:lstStyle>
          <a:p xmlns:a="http://schemas.openxmlformats.org/drawingml/2006/main">
            <a:pPr>
              <a:defRPr sz="2850" b="1">
                <a:solidFill>
                  <a:srgbClr val="22362F"/>
                </a:solidFill>
                <a:latin typeface="Arial"/>
                <a:ea typeface="Arial"/>
                <a:cs typeface="Arial"/>
              </a:defRPr>
            </a:pPr>
            <a:r>
              <a:rPr sz="2850" b="1">
                <a:solidFill>
                  <a:srgbClr val="22362F"/>
                </a:solidFill>
                <a:latin typeface="Arial"/>
                <a:ea typeface="Arial"/>
                <a:cs typeface="Arial"/>
              </a:rPr>
              <a:t>Partial DINOv2 reached a similar mean score</a:t>
            </a:r>
          </a:p>
          <a:p xmlns:a="http://schemas.openxmlformats.org/drawingml/2006/main">
            <a:pPr>
              <a:defRPr sz="2850" b="1">
                <a:solidFill>
                  <a:srgbClr val="22362F"/>
                </a:solidFill>
                <a:latin typeface="Arial"/>
                <a:ea typeface="Arial"/>
                <a:cs typeface="Arial"/>
              </a:defRPr>
            </a:pPr>
            <a:r>
              <a:rPr sz="2850" b="1">
                <a:solidFill>
                  <a:srgbClr val="22362F"/>
                </a:solidFill>
                <a:latin typeface="Arial"/>
                <a:ea typeface="Arial"/>
                <a:cs typeface="Arial"/>
              </a:rPr>
              <a:t>with a smaller model and memory footprint</a:t>
            </a:r>
          </a:p>
        </p:txBody>
      </p:sp>
      <p:sp>
        <p:nvSpPr>
          <p:cNvPr id="5" name="">
            <a:extLst xmlns:a="http://schemas.openxmlformats.org/drawingml/2006/main">
              <a:ext uri="{FF2B5EF4-FFF2-40B4-BE49-F238E27FC236}">
                <a16:creationId xmlns:a16="http://schemas.microsoft.com/office/drawing/2014/main" id="{44AE3F25-3B12-4477-A9D3-6355E41BE2F8}"/>
              </a:ext>
            </a:extLst>
          </p:cNvPr>
          <p:cNvSpPr>
            <a:spLocks xmlns:a="http://schemas.openxmlformats.org/drawingml/2006/main" noGrp="1"/>
          </p:cNvSpPr>
          <p:nvPr/>
        </p:nvSpPr>
        <p:spPr>
          <a:xfrm xmlns:a="http://schemas.openxmlformats.org/drawingml/2006/main">
            <a:off x="609600" y="4762500"/>
            <a:ext cx="105727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5D6864"/>
                </a:solidFill>
                <a:latin typeface="Arial"/>
                <a:ea typeface="Arial"/>
                <a:cs typeface="Arial"/>
              </a:defRPr>
            </a:defPPr>
            <a:lvl1pPr>
              <a:defRPr sz="2250" b="0">
                <a:solidFill>
                  <a:srgbClr val="5D6864"/>
                </a:solidFill>
                <a:latin typeface="Arial"/>
                <a:ea typeface="Arial"/>
                <a:cs typeface="Arial"/>
              </a:defRPr>
            </a:lvl1pPr>
            <a:lvl2pPr>
              <a:defRPr sz="2250" b="0">
                <a:solidFill>
                  <a:srgbClr val="5D6864"/>
                </a:solidFill>
                <a:latin typeface="Arial"/>
                <a:ea typeface="Arial"/>
                <a:cs typeface="Arial"/>
              </a:defRPr>
            </a:lvl2pPr>
            <a:lvl3pPr>
              <a:defRPr sz="2250" b="0">
                <a:solidFill>
                  <a:srgbClr val="5D6864"/>
                </a:solidFill>
                <a:latin typeface="Arial"/>
                <a:ea typeface="Arial"/>
                <a:cs typeface="Arial"/>
              </a:defRPr>
            </a:lvl3pPr>
            <a:lvl4pPr>
              <a:defRPr sz="2250" b="0">
                <a:solidFill>
                  <a:srgbClr val="5D6864"/>
                </a:solidFill>
                <a:latin typeface="Arial"/>
                <a:ea typeface="Arial"/>
                <a:cs typeface="Arial"/>
              </a:defRPr>
            </a:lvl4pPr>
            <a:lvl5pPr>
              <a:defRPr sz="2250" b="0">
                <a:solidFill>
                  <a:srgbClr val="5D6864"/>
                </a:solidFill>
                <a:latin typeface="Arial"/>
                <a:ea typeface="Arial"/>
                <a:cs typeface="Arial"/>
              </a:defRPr>
            </a:lvl5pPr>
            <a:lvl6pPr>
              <a:defRPr sz="2250" b="0">
                <a:solidFill>
                  <a:srgbClr val="5D6864"/>
                </a:solidFill>
                <a:latin typeface="Arial"/>
                <a:ea typeface="Arial"/>
                <a:cs typeface="Arial"/>
              </a:defRPr>
            </a:lvl6pPr>
            <a:lvl7pPr>
              <a:defRPr sz="2250" b="0">
                <a:solidFill>
                  <a:srgbClr val="5D6864"/>
                </a:solidFill>
                <a:latin typeface="Arial"/>
                <a:ea typeface="Arial"/>
                <a:cs typeface="Arial"/>
              </a:defRPr>
            </a:lvl7pPr>
            <a:lvl8pPr>
              <a:defRPr sz="2250" b="0">
                <a:solidFill>
                  <a:srgbClr val="5D6864"/>
                </a:solidFill>
                <a:latin typeface="Arial"/>
                <a:ea typeface="Arial"/>
                <a:cs typeface="Arial"/>
              </a:defRPr>
            </a:lvl8pPr>
            <a:lvl9pPr>
              <a:defRPr sz="2250" b="0">
                <a:solidFill>
                  <a:srgbClr val="5D6864"/>
                </a:solidFill>
                <a:latin typeface="Arial"/>
                <a:ea typeface="Arial"/>
                <a:cs typeface="Arial"/>
              </a:defRPr>
            </a:lvl9pPr>
          </a:lstStyle>
          <a:p xmlns:a="http://schemas.openxmlformats.org/drawingml/2006/main">
            <a:pPr>
              <a:defRPr sz="2250" b="0">
                <a:solidFill>
                  <a:srgbClr val="5D6864"/>
                </a:solidFill>
                <a:latin typeface="Arial"/>
                <a:ea typeface="Arial"/>
                <a:cs typeface="Arial"/>
              </a:defRPr>
            </a:pPr>
            <a:r>
              <a:rPr sz="2250" b="0">
                <a:solidFill>
                  <a:srgbClr val="5D6864"/>
                </a:solidFill>
                <a:latin typeface="Arial"/>
                <a:ea typeface="Arial"/>
                <a:cs typeface="Arial"/>
              </a:rPr>
              <a:t>Next: independently collected farms and validation-only tuning</a:t>
            </a:r>
          </a:p>
        </p:txBody>
      </p:sp>
      <p:sp>
        <p:nvSpPr>
          <p:cNvPr id="6" name="">
            <a:extLst xmlns:a="http://schemas.openxmlformats.org/drawingml/2006/main">
              <a:ext uri="{FF2B5EF4-FFF2-40B4-BE49-F238E27FC236}">
                <a16:creationId xmlns:a16="http://schemas.microsoft.com/office/drawing/2014/main" id="{5F35F15B-DC4A-4879-BB06-B5BD6A226809}"/>
              </a:ext>
            </a:extLst>
          </p:cNvPr>
          <p:cNvSpPr>
            <a:spLocks xmlns:a="http://schemas.openxmlformats.org/drawingml/2006/main" noGrp="1"/>
          </p:cNvSpPr>
          <p:nvPr/>
        </p:nvSpPr>
        <p:spPr>
          <a:xfrm xmlns:a="http://schemas.openxmlformats.org/drawingml/2006/main">
            <a:off x="609600" y="61150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AI assistance: Codex supported research, implementation, analysis, drafting and review.</a:t>
            </a:r>
          </a:p>
        </p:txBody>
      </p:sp>
    </p:spTree>
    <p:extLst>
      <p:ext uri="{BB962C8B-B14F-4D97-AF65-F5344CB8AC3E}">
        <p14:creationId xmlns:p14="http://schemas.microsoft.com/office/powerpoint/2010/main" val="1563720102"/>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00E5BC5-1E20-463D-9B96-93F3BD3F603B}"/>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Backup: results and uncertainty</a:t>
            </a:r>
          </a:p>
        </p:txBody>
      </p:sp>
      <p:sp>
        <p:nvSpPr>
          <p:cNvPr id="2" name="">
            <a:extLst xmlns:a="http://schemas.openxmlformats.org/drawingml/2006/main">
              <a:ext uri="{FF2B5EF4-FFF2-40B4-BE49-F238E27FC236}">
                <a16:creationId xmlns:a16="http://schemas.microsoft.com/office/drawing/2014/main" id="{14E6C89E-1254-41F0-8BCA-613339263AC1}"/>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8</a:t>
            </a:r>
          </a:p>
        </p:txBody>
      </p:sp>
      <p:graphicFrame>
        <p:nvGraphicFramePr>
          <p:cNvPr id="3" name="">
            <a:extLst xmlns:a="http://schemas.openxmlformats.org/drawingml/2006/main">
              <a:ext uri="{FF2B5EF4-FFF2-40B4-BE49-F238E27FC236}">
                <a16:creationId xmlns:a16="http://schemas.microsoft.com/office/drawing/2014/main" id="{766508CD-0B70-4A9C-B5EB-65DDEB83C9FC}"/>
              </a:ext>
            </a:extLst>
          </p:cNvPr>
          <p:cNvGraphicFramePr/>
          <p:nvPr/>
        </p:nvGraphicFramePr>
        <p:xfrm>
          <a:off xmlns:a="http://schemas.openxmlformats.org/drawingml/2006/main" x="609600" y="1524000"/>
          <a:ext xmlns:a="http://schemas.openxmlformats.org/drawingml/2006/main" cx="10972800" cy="2952750"/>
        </p:xfrm>
        <a:graphic xmlns:a="http://schemas.openxmlformats.org/drawingml/2006/main">
          <a:graphicData uri="http://schemas.openxmlformats.org/drawingml/2006/table">
            <a:tbl>
              <a:tblPr/>
              <a:tblGrid>
                <a:gridCol w="3333750"/>
                <a:gridCol w="2476500"/>
                <a:gridCol w="2476500"/>
                <a:gridCol w="2686050"/>
              </a:tblGrid>
              <a:tr h="590550">
                <a:tc>
                  <a:txBody>
                    <a:bodyPr lIns="114300" tIns="114300" rIns="114300" bIns="114300"/>
                    <a:lstStyle/>
                    <a:p>
                      <a:r>
                        <a:rPr sz="1875" b="1">
                          <a:solidFill>
                            <a:srgbClr val="22362F"/>
                          </a:solidFill>
                          <a:latin typeface="Arial"/>
                          <a:ea typeface="Arial"/>
                          <a:cs typeface="Arial"/>
                        </a:rPr>
                        <a:t>Configuration</a:t>
                      </a:r>
                    </a:p>
                  </a:txBody>
                  <a:tcPr marL="91440" marR="91440" marT="45720" marB="45720" anchor="ctr">
                    <a:lnL w="5715">
                      <a:solidFill>
                        <a:srgbClr val="D7DEDA"/>
                      </a:solidFill>
                      <a:prstDash val="solid"/>
                    </a:lnL>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875" b="1">
                          <a:solidFill>
                            <a:srgbClr val="22362F"/>
                          </a:solidFill>
                          <a:latin typeface="Arial"/>
                          <a:ea typeface="Arial"/>
                          <a:cs typeface="Arial"/>
                        </a:rPr>
                        <a:t>Accuracy (%)</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875" b="1">
                          <a:solidFill>
                            <a:srgbClr val="22362F"/>
                          </a:solidFill>
                          <a:latin typeface="Arial"/>
                          <a:ea typeface="Arial"/>
                          <a:cs typeface="Arial"/>
                        </a:rPr>
                        <a:t>Macro-F1 (%)</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875" b="1">
                          <a:solidFill>
                            <a:srgbClr val="22362F"/>
                          </a:solidFill>
                          <a:latin typeface="Arial"/>
                          <a:ea typeface="Arial"/>
                          <a:cs typeface="Arial"/>
                        </a:rPr>
                        <a:t>Median epoch (s)</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r>
              <a:tr h="590550">
                <a:tc>
                  <a:txBody>
                    <a:bodyPr lIns="114300" tIns="114300" rIns="114300" bIns="114300"/>
                    <a:lstStyle/>
                    <a:p>
                      <a:r>
                        <a:rPr sz="1875" b="0">
                          <a:solidFill>
                            <a:srgbClr val="22362F"/>
                          </a:solidFill>
                          <a:latin typeface="Arial"/>
                          <a:ea typeface="Arial"/>
                          <a:cs typeface="Arial"/>
                        </a:rPr>
                        <a:t>DINOv2 frozen</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90.62 ± 2.07</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90.71 ± 2.05</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11.94</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90550">
                <a:tc>
                  <a:txBody>
                    <a:bodyPr lIns="114300" tIns="114300" rIns="114300" bIns="114300"/>
                    <a:lstStyle/>
                    <a:p>
                      <a:r>
                        <a:rPr sz="1875" b="0">
                          <a:solidFill>
                            <a:srgbClr val="22362F"/>
                          </a:solidFill>
                          <a:latin typeface="Arial"/>
                          <a:ea typeface="Arial"/>
                          <a:cs typeface="Arial"/>
                        </a:rPr>
                        <a:t>DINOv2 partial</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96.88 ± 1.56</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96.90 ± 1.55</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12.62</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90550">
                <a:tc>
                  <a:txBody>
                    <a:bodyPr lIns="114300" tIns="114300" rIns="114300" bIns="114300"/>
                    <a:lstStyle/>
                    <a:p>
                      <a:r>
                        <a:rPr sz="1875" b="0">
                          <a:solidFill>
                            <a:srgbClr val="22362F"/>
                          </a:solidFill>
                          <a:latin typeface="Arial"/>
                          <a:ea typeface="Arial"/>
                          <a:cs typeface="Arial"/>
                        </a:rPr>
                        <a:t>SigLIP 2 frozen</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96.88 ± 1.35</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96.90 ± 1.34</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12.99</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90550">
                <a:tc>
                  <a:txBody>
                    <a:bodyPr lIns="114300" tIns="114300" rIns="114300" bIns="114300"/>
                    <a:lstStyle/>
                    <a:p>
                      <a:r>
                        <a:rPr sz="1875" b="0">
                          <a:solidFill>
                            <a:srgbClr val="22362F"/>
                          </a:solidFill>
                          <a:latin typeface="Arial"/>
                          <a:ea typeface="Arial"/>
                          <a:cs typeface="Arial"/>
                        </a:rPr>
                        <a:t>SigLIP 2 partial</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96.88 ± 0.78</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96.90 ± 0.78</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16.08</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B8AA716-62DC-4E3A-A23E-ED2A96858F10}"/>
              </a:ext>
            </a:extLst>
          </p:cNvPr>
          <p:cNvSpPr>
            <a:spLocks xmlns:a="http://schemas.openxmlformats.org/drawingml/2006/main" noGrp="1"/>
          </p:cNvSpPr>
          <p:nvPr/>
        </p:nvSpPr>
        <p:spPr>
          <a:xfrm xmlns:a="http://schemas.openxmlformats.org/drawingml/2006/main">
            <a:off x="609600" y="4848225"/>
            <a:ext cx="10763250"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1">
                <a:solidFill>
                  <a:srgbClr val="245844"/>
                </a:solidFill>
                <a:latin typeface="Arial"/>
                <a:ea typeface="Arial"/>
                <a:cs typeface="Arial"/>
              </a:defRPr>
            </a:defPPr>
            <a:lvl1pPr>
              <a:defRPr sz="2100" b="1">
                <a:solidFill>
                  <a:srgbClr val="245844"/>
                </a:solidFill>
                <a:latin typeface="Arial"/>
                <a:ea typeface="Arial"/>
                <a:cs typeface="Arial"/>
              </a:defRPr>
            </a:lvl1pPr>
            <a:lvl2pPr>
              <a:defRPr sz="2100" b="1">
                <a:solidFill>
                  <a:srgbClr val="245844"/>
                </a:solidFill>
                <a:latin typeface="Arial"/>
                <a:ea typeface="Arial"/>
                <a:cs typeface="Arial"/>
              </a:defRPr>
            </a:lvl2pPr>
            <a:lvl3pPr>
              <a:defRPr sz="2100" b="1">
                <a:solidFill>
                  <a:srgbClr val="245844"/>
                </a:solidFill>
                <a:latin typeface="Arial"/>
                <a:ea typeface="Arial"/>
                <a:cs typeface="Arial"/>
              </a:defRPr>
            </a:lvl3pPr>
            <a:lvl4pPr>
              <a:defRPr sz="2100" b="1">
                <a:solidFill>
                  <a:srgbClr val="245844"/>
                </a:solidFill>
                <a:latin typeface="Arial"/>
                <a:ea typeface="Arial"/>
                <a:cs typeface="Arial"/>
              </a:defRPr>
            </a:lvl4pPr>
            <a:lvl5pPr>
              <a:defRPr sz="2100" b="1">
                <a:solidFill>
                  <a:srgbClr val="245844"/>
                </a:solidFill>
                <a:latin typeface="Arial"/>
                <a:ea typeface="Arial"/>
                <a:cs typeface="Arial"/>
              </a:defRPr>
            </a:lvl5pPr>
            <a:lvl6pPr>
              <a:defRPr sz="2100" b="1">
                <a:solidFill>
                  <a:srgbClr val="245844"/>
                </a:solidFill>
                <a:latin typeface="Arial"/>
                <a:ea typeface="Arial"/>
                <a:cs typeface="Arial"/>
              </a:defRPr>
            </a:lvl6pPr>
            <a:lvl7pPr>
              <a:defRPr sz="2100" b="1">
                <a:solidFill>
                  <a:srgbClr val="245844"/>
                </a:solidFill>
                <a:latin typeface="Arial"/>
                <a:ea typeface="Arial"/>
                <a:cs typeface="Arial"/>
              </a:defRPr>
            </a:lvl7pPr>
            <a:lvl8pPr>
              <a:defRPr sz="2100" b="1">
                <a:solidFill>
                  <a:srgbClr val="245844"/>
                </a:solidFill>
                <a:latin typeface="Arial"/>
                <a:ea typeface="Arial"/>
                <a:cs typeface="Arial"/>
              </a:defRPr>
            </a:lvl8pPr>
            <a:lvl9pPr>
              <a:defRPr sz="2100" b="1">
                <a:solidFill>
                  <a:srgbClr val="245844"/>
                </a:solidFill>
                <a:latin typeface="Arial"/>
                <a:ea typeface="Arial"/>
                <a:cs typeface="Arial"/>
              </a:defRPr>
            </a:lvl9pPr>
          </a:lstStyle>
          <a:p xmlns:a="http://schemas.openxmlformats.org/drawingml/2006/main">
            <a:pPr>
              <a:defRPr sz="2100" b="1">
                <a:solidFill>
                  <a:srgbClr val="245844"/>
                </a:solidFill>
                <a:latin typeface="Arial"/>
                <a:ea typeface="Arial"/>
                <a:cs typeface="Arial"/>
              </a:defRPr>
            </a:pPr>
            <a:r>
              <a:rPr sz="2100" b="1">
                <a:solidFill>
                  <a:srgbClr val="245844"/>
                </a:solidFill>
                <a:latin typeface="Arial"/>
                <a:ea typeface="Arial"/>
                <a:cs typeface="Arial"/>
              </a:rPr>
              <a:t>Reference partial-model difference: −0.78 percentage points</a:t>
            </a:r>
          </a:p>
          <a:p xmlns:a="http://schemas.openxmlformats.org/drawingml/2006/main">
            <a:pPr>
              <a:defRPr sz="2100" b="1">
                <a:solidFill>
                  <a:srgbClr val="245844"/>
                </a:solidFill>
                <a:latin typeface="Arial"/>
                <a:ea typeface="Arial"/>
                <a:cs typeface="Arial"/>
              </a:defRPr>
            </a:pPr>
            <a:r>
              <a:rPr sz="2100" b="1">
                <a:solidFill>
                  <a:srgbClr val="245844"/>
                </a:solidFill>
                <a:latin typeface="Arial"/>
                <a:ea typeface="Arial"/>
                <a:cs typeface="Arial"/>
              </a:rPr>
              <a:t>Paired 95% bootstrap interval: [−3.13, +1.57]</a:t>
            </a:r>
          </a:p>
        </p:txBody>
      </p:sp>
      <p:sp>
        <p:nvSpPr>
          <p:cNvPr id="5" name="">
            <a:extLst xmlns:a="http://schemas.openxmlformats.org/drawingml/2006/main">
              <a:ext uri="{FF2B5EF4-FFF2-40B4-BE49-F238E27FC236}">
                <a16:creationId xmlns:a16="http://schemas.microsoft.com/office/drawing/2014/main" id="{11AA41EB-3DA8-47BD-9403-F90387872C44}"/>
              </a:ext>
            </a:extLst>
          </p:cNvPr>
          <p:cNvSpPr>
            <a:spLocks xmlns:a="http://schemas.openxmlformats.org/drawingml/2006/main" noGrp="1"/>
          </p:cNvSpPr>
          <p:nvPr/>
        </p:nvSpPr>
        <p:spPr>
          <a:xfrm xmlns:a="http://schemas.openxmlformats.org/drawingml/2006/main">
            <a:off x="609600" y="61150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Mean ± sample SD, 3 seeds. Bootstrap applies to seed 17 only. Timing includes unexplained long epochs.</a:t>
            </a:r>
          </a:p>
        </p:txBody>
      </p:sp>
    </p:spTree>
    <p:extLst>
      <p:ext uri="{BB962C8B-B14F-4D97-AF65-F5344CB8AC3E}">
        <p14:creationId xmlns:p14="http://schemas.microsoft.com/office/powerpoint/2010/main" val="2021750034"/>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7A2D365A-81EF-4FCB-A4B5-F367919E25DF}"/>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Backup: where the reference models failed</a:t>
            </a:r>
          </a:p>
        </p:txBody>
      </p:sp>
      <p:sp>
        <p:nvSpPr>
          <p:cNvPr id="2" name="">
            <a:extLst xmlns:a="http://schemas.openxmlformats.org/drawingml/2006/main">
              <a:ext uri="{FF2B5EF4-FFF2-40B4-BE49-F238E27FC236}">
                <a16:creationId xmlns:a16="http://schemas.microsoft.com/office/drawing/2014/main" id="{92FC9A52-CDAE-42EB-A398-AFC39B6A2318}"/>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9</a:t>
            </a:r>
          </a:p>
        </p:txBody>
      </p:sp>
      <p:sp>
        <p:nvSpPr>
          <p:cNvPr id="3" name="">
            <a:extLst xmlns:a="http://schemas.openxmlformats.org/drawingml/2006/main">
              <a:ext uri="{FF2B5EF4-FFF2-40B4-BE49-F238E27FC236}">
                <a16:creationId xmlns:a16="http://schemas.microsoft.com/office/drawing/2014/main" id="{C844B5EE-4EAF-4498-A002-1B358CA33589}"/>
              </a:ext>
            </a:extLst>
          </p:cNvPr>
          <p:cNvSpPr>
            <a:spLocks xmlns:a="http://schemas.openxmlformats.org/drawingml/2006/main" noGrp="1"/>
          </p:cNvSpPr>
          <p:nvPr/>
        </p:nvSpPr>
        <p:spPr>
          <a:xfrm xmlns:a="http://schemas.openxmlformats.org/drawingml/2006/main">
            <a:off x="609600" y="16002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34667C"/>
                </a:solidFill>
                <a:latin typeface="Arial"/>
                <a:ea typeface="Arial"/>
                <a:cs typeface="Arial"/>
              </a:defRPr>
            </a:defPPr>
            <a:lvl1pPr>
              <a:defRPr sz="2250" b="1">
                <a:solidFill>
                  <a:srgbClr val="34667C"/>
                </a:solidFill>
                <a:latin typeface="Arial"/>
                <a:ea typeface="Arial"/>
                <a:cs typeface="Arial"/>
              </a:defRPr>
            </a:lvl1pPr>
            <a:lvl2pPr>
              <a:defRPr sz="2250" b="1">
                <a:solidFill>
                  <a:srgbClr val="34667C"/>
                </a:solidFill>
                <a:latin typeface="Arial"/>
                <a:ea typeface="Arial"/>
                <a:cs typeface="Arial"/>
              </a:defRPr>
            </a:lvl2pPr>
            <a:lvl3pPr>
              <a:defRPr sz="2250" b="1">
                <a:solidFill>
                  <a:srgbClr val="34667C"/>
                </a:solidFill>
                <a:latin typeface="Arial"/>
                <a:ea typeface="Arial"/>
                <a:cs typeface="Arial"/>
              </a:defRPr>
            </a:lvl3pPr>
            <a:lvl4pPr>
              <a:defRPr sz="2250" b="1">
                <a:solidFill>
                  <a:srgbClr val="34667C"/>
                </a:solidFill>
                <a:latin typeface="Arial"/>
                <a:ea typeface="Arial"/>
                <a:cs typeface="Arial"/>
              </a:defRPr>
            </a:lvl4pPr>
            <a:lvl5pPr>
              <a:defRPr sz="2250" b="1">
                <a:solidFill>
                  <a:srgbClr val="34667C"/>
                </a:solidFill>
                <a:latin typeface="Arial"/>
                <a:ea typeface="Arial"/>
                <a:cs typeface="Arial"/>
              </a:defRPr>
            </a:lvl5pPr>
            <a:lvl6pPr>
              <a:defRPr sz="2250" b="1">
                <a:solidFill>
                  <a:srgbClr val="34667C"/>
                </a:solidFill>
                <a:latin typeface="Arial"/>
                <a:ea typeface="Arial"/>
                <a:cs typeface="Arial"/>
              </a:defRPr>
            </a:lvl6pPr>
            <a:lvl7pPr>
              <a:defRPr sz="2250" b="1">
                <a:solidFill>
                  <a:srgbClr val="34667C"/>
                </a:solidFill>
                <a:latin typeface="Arial"/>
                <a:ea typeface="Arial"/>
                <a:cs typeface="Arial"/>
              </a:defRPr>
            </a:lvl7pPr>
            <a:lvl8pPr>
              <a:defRPr sz="2250" b="1">
                <a:solidFill>
                  <a:srgbClr val="34667C"/>
                </a:solidFill>
                <a:latin typeface="Arial"/>
                <a:ea typeface="Arial"/>
                <a:cs typeface="Arial"/>
              </a:defRPr>
            </a:lvl8pPr>
            <a:lvl9pPr>
              <a:defRPr sz="2250" b="1">
                <a:solidFill>
                  <a:srgbClr val="34667C"/>
                </a:solidFill>
                <a:latin typeface="Arial"/>
                <a:ea typeface="Arial"/>
                <a:cs typeface="Arial"/>
              </a:defRPr>
            </a:lvl9pPr>
          </a:lstStyle>
          <a:p xmlns:a="http://schemas.openxmlformats.org/drawingml/2006/main">
            <a:pPr>
              <a:defRPr sz="2250" b="1">
                <a:solidFill>
                  <a:srgbClr val="34667C"/>
                </a:solidFill>
                <a:latin typeface="Arial"/>
                <a:ea typeface="Arial"/>
                <a:cs typeface="Arial"/>
              </a:defRPr>
            </a:pPr>
            <a:r>
              <a:rPr sz="2250" b="1">
                <a:solidFill>
                  <a:srgbClr val="34667C"/>
                </a:solidFill>
                <a:latin typeface="Arial"/>
                <a:ea typeface="Arial"/>
                <a:cs typeface="Arial"/>
              </a:rPr>
              <a:t>DINOv2 partial</a:t>
            </a:r>
          </a:p>
        </p:txBody>
      </p:sp>
      <p:graphicFrame>
        <p:nvGraphicFramePr>
          <p:cNvPr id="4" name="">
            <a:extLst xmlns:a="http://schemas.openxmlformats.org/drawingml/2006/main">
              <a:ext uri="{FF2B5EF4-FFF2-40B4-BE49-F238E27FC236}">
                <a16:creationId xmlns:a16="http://schemas.microsoft.com/office/drawing/2014/main" id="{26483E00-690C-426F-A82B-33CB847BF8A8}"/>
              </a:ext>
            </a:extLst>
          </p:cNvPr>
          <p:cNvGraphicFramePr/>
          <p:nvPr/>
        </p:nvGraphicFramePr>
        <p:xfrm>
          <a:off xmlns:a="http://schemas.openxmlformats.org/drawingml/2006/main" x="609600" y="2228850"/>
          <a:ext xmlns:a="http://schemas.openxmlformats.org/drawingml/2006/main" cx="5238750" cy="2514600"/>
        </p:xfrm>
        <a:graphic xmlns:a="http://schemas.openxmlformats.org/drawingml/2006/main">
          <a:graphicData uri="http://schemas.openxmlformats.org/drawingml/2006/table">
            <a:tbl>
              <a:tblPr/>
              <a:tblGrid>
                <a:gridCol w="2038350"/>
                <a:gridCol w="1066800"/>
                <a:gridCol w="1066800"/>
                <a:gridCol w="1066800"/>
              </a:tblGrid>
              <a:tr h="628650">
                <a:tc>
                  <a:txBody>
                    <a:bodyPr lIns="114300" tIns="114300" rIns="114300" bIns="114300"/>
                    <a:lstStyle/>
                    <a:p>
                      <a:r>
                        <a:rPr sz="1650" b="1">
                          <a:solidFill>
                            <a:srgbClr val="22362F"/>
                          </a:solidFill>
                          <a:latin typeface="Arial"/>
                          <a:ea typeface="Arial"/>
                          <a:cs typeface="Arial"/>
                        </a:rPr>
                        <a:t>True / predicted</a:t>
                      </a:r>
                    </a:p>
                  </a:txBody>
                  <a:tcPr marL="91440" marR="91440" marT="45720" marB="45720" anchor="ctr">
                    <a:lnL w="5715">
                      <a:solidFill>
                        <a:srgbClr val="D7DEDA"/>
                      </a:solidFill>
                      <a:prstDash val="solid"/>
                    </a:lnL>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650" b="1">
                          <a:solidFill>
                            <a:srgbClr val="22362F"/>
                          </a:solidFill>
                          <a:latin typeface="Arial"/>
                          <a:ea typeface="Arial"/>
                          <a:cs typeface="Arial"/>
                        </a:rPr>
                        <a:t>Leaf spot</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650" b="1">
                          <a:solidFill>
                            <a:srgbClr val="22362F"/>
                          </a:solidFill>
                          <a:latin typeface="Arial"/>
                          <a:ea typeface="Arial"/>
                          <a:cs typeface="Arial"/>
                        </a:rPr>
                        <a:t>Rust</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650" b="1">
                          <a:solidFill>
                            <a:srgbClr val="22362F"/>
                          </a:solidFill>
                          <a:latin typeface="Arial"/>
                          <a:ea typeface="Arial"/>
                          <a:cs typeface="Arial"/>
                        </a:rPr>
                        <a:t>Healthy</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r>
              <a:tr h="628650">
                <a:tc>
                  <a:txBody>
                    <a:bodyPr lIns="114300" tIns="114300" rIns="114300" bIns="114300"/>
                    <a:lstStyle/>
                    <a:p>
                      <a:r>
                        <a:rPr sz="1650" b="0">
                          <a:solidFill>
                            <a:srgbClr val="22362F"/>
                          </a:solidFill>
                          <a:latin typeface="Arial"/>
                          <a:ea typeface="Arial"/>
                          <a:cs typeface="Arial"/>
                        </a:rPr>
                        <a:t>Leaf spot</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42</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1</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0</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628650">
                <a:tc>
                  <a:txBody>
                    <a:bodyPr lIns="114300" tIns="114300" rIns="114300" bIns="114300"/>
                    <a:lstStyle/>
                    <a:p>
                      <a:r>
                        <a:rPr sz="1650" b="0">
                          <a:solidFill>
                            <a:srgbClr val="22362F"/>
                          </a:solidFill>
                          <a:latin typeface="Arial"/>
                          <a:ea typeface="Arial"/>
                          <a:cs typeface="Arial"/>
                        </a:rPr>
                        <a:t>Rust</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0</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43</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0</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628650">
                <a:tc>
                  <a:txBody>
                    <a:bodyPr lIns="114300" tIns="114300" rIns="114300" bIns="114300"/>
                    <a:lstStyle/>
                    <a:p>
                      <a:r>
                        <a:rPr sz="1650" b="0">
                          <a:solidFill>
                            <a:srgbClr val="22362F"/>
                          </a:solidFill>
                          <a:latin typeface="Arial"/>
                          <a:ea typeface="Arial"/>
                          <a:cs typeface="Arial"/>
                        </a:rPr>
                        <a:t>Healthy</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0</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1</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41</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A1AB1F8D-2C4D-41D1-8C5D-8C4675789E33}"/>
              </a:ext>
            </a:extLst>
          </p:cNvPr>
          <p:cNvSpPr>
            <a:spLocks xmlns:a="http://schemas.openxmlformats.org/drawingml/2006/main" noGrp="1"/>
          </p:cNvSpPr>
          <p:nvPr/>
        </p:nvSpPr>
        <p:spPr>
          <a:xfrm xmlns:a="http://schemas.openxmlformats.org/drawingml/2006/main">
            <a:off x="6229350" y="1600200"/>
            <a:ext cx="5238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B35B38"/>
                </a:solidFill>
                <a:latin typeface="Arial"/>
                <a:ea typeface="Arial"/>
                <a:cs typeface="Arial"/>
              </a:defRPr>
            </a:defPPr>
            <a:lvl1pPr>
              <a:defRPr sz="2250" b="1">
                <a:solidFill>
                  <a:srgbClr val="B35B38"/>
                </a:solidFill>
                <a:latin typeface="Arial"/>
                <a:ea typeface="Arial"/>
                <a:cs typeface="Arial"/>
              </a:defRPr>
            </a:lvl1pPr>
            <a:lvl2pPr>
              <a:defRPr sz="2250" b="1">
                <a:solidFill>
                  <a:srgbClr val="B35B38"/>
                </a:solidFill>
                <a:latin typeface="Arial"/>
                <a:ea typeface="Arial"/>
                <a:cs typeface="Arial"/>
              </a:defRPr>
            </a:lvl2pPr>
            <a:lvl3pPr>
              <a:defRPr sz="2250" b="1">
                <a:solidFill>
                  <a:srgbClr val="B35B38"/>
                </a:solidFill>
                <a:latin typeface="Arial"/>
                <a:ea typeface="Arial"/>
                <a:cs typeface="Arial"/>
              </a:defRPr>
            </a:lvl3pPr>
            <a:lvl4pPr>
              <a:defRPr sz="2250" b="1">
                <a:solidFill>
                  <a:srgbClr val="B35B38"/>
                </a:solidFill>
                <a:latin typeface="Arial"/>
                <a:ea typeface="Arial"/>
                <a:cs typeface="Arial"/>
              </a:defRPr>
            </a:lvl4pPr>
            <a:lvl5pPr>
              <a:defRPr sz="2250" b="1">
                <a:solidFill>
                  <a:srgbClr val="B35B38"/>
                </a:solidFill>
                <a:latin typeface="Arial"/>
                <a:ea typeface="Arial"/>
                <a:cs typeface="Arial"/>
              </a:defRPr>
            </a:lvl5pPr>
            <a:lvl6pPr>
              <a:defRPr sz="2250" b="1">
                <a:solidFill>
                  <a:srgbClr val="B35B38"/>
                </a:solidFill>
                <a:latin typeface="Arial"/>
                <a:ea typeface="Arial"/>
                <a:cs typeface="Arial"/>
              </a:defRPr>
            </a:lvl6pPr>
            <a:lvl7pPr>
              <a:defRPr sz="2250" b="1">
                <a:solidFill>
                  <a:srgbClr val="B35B38"/>
                </a:solidFill>
                <a:latin typeface="Arial"/>
                <a:ea typeface="Arial"/>
                <a:cs typeface="Arial"/>
              </a:defRPr>
            </a:lvl7pPr>
            <a:lvl8pPr>
              <a:defRPr sz="2250" b="1">
                <a:solidFill>
                  <a:srgbClr val="B35B38"/>
                </a:solidFill>
                <a:latin typeface="Arial"/>
                <a:ea typeface="Arial"/>
                <a:cs typeface="Arial"/>
              </a:defRPr>
            </a:lvl8pPr>
            <a:lvl9pPr>
              <a:defRPr sz="2250" b="1">
                <a:solidFill>
                  <a:srgbClr val="B35B38"/>
                </a:solidFill>
                <a:latin typeface="Arial"/>
                <a:ea typeface="Arial"/>
                <a:cs typeface="Arial"/>
              </a:defRPr>
            </a:lvl9pPr>
          </a:lstStyle>
          <a:p xmlns:a="http://schemas.openxmlformats.org/drawingml/2006/main">
            <a:pPr>
              <a:defRPr sz="2250" b="1">
                <a:solidFill>
                  <a:srgbClr val="B35B38"/>
                </a:solidFill>
                <a:latin typeface="Arial"/>
                <a:ea typeface="Arial"/>
                <a:cs typeface="Arial"/>
              </a:defRPr>
            </a:pPr>
            <a:r>
              <a:rPr sz="2250" b="1">
                <a:solidFill>
                  <a:srgbClr val="B35B38"/>
                </a:solidFill>
                <a:latin typeface="Arial"/>
                <a:ea typeface="Arial"/>
                <a:cs typeface="Arial"/>
              </a:rPr>
              <a:t>SigLIP 2 partial</a:t>
            </a:r>
          </a:p>
        </p:txBody>
      </p:sp>
      <p:graphicFrame>
        <p:nvGraphicFramePr>
          <p:cNvPr id="6" name="">
            <a:extLst xmlns:a="http://schemas.openxmlformats.org/drawingml/2006/main">
              <a:ext uri="{FF2B5EF4-FFF2-40B4-BE49-F238E27FC236}">
                <a16:creationId xmlns:a16="http://schemas.microsoft.com/office/drawing/2014/main" id="{93A2A81E-39E6-44EB-81AE-B63DD2294CFA}"/>
              </a:ext>
            </a:extLst>
          </p:cNvPr>
          <p:cNvGraphicFramePr/>
          <p:nvPr/>
        </p:nvGraphicFramePr>
        <p:xfrm>
          <a:off xmlns:a="http://schemas.openxmlformats.org/drawingml/2006/main" x="6229350" y="2228850"/>
          <a:ext xmlns:a="http://schemas.openxmlformats.org/drawingml/2006/main" cx="5238750" cy="2514600"/>
        </p:xfrm>
        <a:graphic xmlns:a="http://schemas.openxmlformats.org/drawingml/2006/main">
          <a:graphicData uri="http://schemas.openxmlformats.org/drawingml/2006/table">
            <a:tbl>
              <a:tblPr/>
              <a:tblGrid>
                <a:gridCol w="2038350"/>
                <a:gridCol w="1066800"/>
                <a:gridCol w="1066800"/>
                <a:gridCol w="1066800"/>
              </a:tblGrid>
              <a:tr h="628650">
                <a:tc>
                  <a:txBody>
                    <a:bodyPr lIns="114300" tIns="114300" rIns="114300" bIns="114300"/>
                    <a:lstStyle/>
                    <a:p>
                      <a:r>
                        <a:rPr sz="1650" b="1">
                          <a:solidFill>
                            <a:srgbClr val="22362F"/>
                          </a:solidFill>
                          <a:latin typeface="Arial"/>
                          <a:ea typeface="Arial"/>
                          <a:cs typeface="Arial"/>
                        </a:rPr>
                        <a:t>True / predicted</a:t>
                      </a:r>
                    </a:p>
                  </a:txBody>
                  <a:tcPr marL="91440" marR="91440" marT="45720" marB="45720" anchor="ctr">
                    <a:lnL w="5715">
                      <a:solidFill>
                        <a:srgbClr val="D7DEDA"/>
                      </a:solidFill>
                      <a:prstDash val="solid"/>
                    </a:lnL>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650" b="1">
                          <a:solidFill>
                            <a:srgbClr val="22362F"/>
                          </a:solidFill>
                          <a:latin typeface="Arial"/>
                          <a:ea typeface="Arial"/>
                          <a:cs typeface="Arial"/>
                        </a:rPr>
                        <a:t>Leaf spot</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650" b="1">
                          <a:solidFill>
                            <a:srgbClr val="22362F"/>
                          </a:solidFill>
                          <a:latin typeface="Arial"/>
                          <a:ea typeface="Arial"/>
                          <a:cs typeface="Arial"/>
                        </a:rPr>
                        <a:t>Rust</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650" b="1">
                          <a:solidFill>
                            <a:srgbClr val="22362F"/>
                          </a:solidFill>
                          <a:latin typeface="Arial"/>
                          <a:ea typeface="Arial"/>
                          <a:cs typeface="Arial"/>
                        </a:rPr>
                        <a:t>Healthy</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r>
              <a:tr h="628650">
                <a:tc>
                  <a:txBody>
                    <a:bodyPr lIns="114300" tIns="114300" rIns="114300" bIns="114300"/>
                    <a:lstStyle/>
                    <a:p>
                      <a:r>
                        <a:rPr sz="1650" b="0">
                          <a:solidFill>
                            <a:srgbClr val="22362F"/>
                          </a:solidFill>
                          <a:latin typeface="Arial"/>
                          <a:ea typeface="Arial"/>
                          <a:cs typeface="Arial"/>
                        </a:rPr>
                        <a:t>Leaf spot</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40</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3</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0</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628650">
                <a:tc>
                  <a:txBody>
                    <a:bodyPr lIns="114300" tIns="114300" rIns="114300" bIns="114300"/>
                    <a:lstStyle/>
                    <a:p>
                      <a:r>
                        <a:rPr sz="1650" b="0">
                          <a:solidFill>
                            <a:srgbClr val="22362F"/>
                          </a:solidFill>
                          <a:latin typeface="Arial"/>
                          <a:ea typeface="Arial"/>
                          <a:cs typeface="Arial"/>
                        </a:rPr>
                        <a:t>Rust</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0</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43</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0</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628650">
                <a:tc>
                  <a:txBody>
                    <a:bodyPr lIns="114300" tIns="114300" rIns="114300" bIns="114300"/>
                    <a:lstStyle/>
                    <a:p>
                      <a:r>
                        <a:rPr sz="1650" b="0">
                          <a:solidFill>
                            <a:srgbClr val="22362F"/>
                          </a:solidFill>
                          <a:latin typeface="Arial"/>
                          <a:ea typeface="Arial"/>
                          <a:cs typeface="Arial"/>
                        </a:rPr>
                        <a:t>Healthy</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0</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0</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650" b="0">
                          <a:solidFill>
                            <a:srgbClr val="22362F"/>
                          </a:solidFill>
                          <a:latin typeface="Arial"/>
                          <a:ea typeface="Arial"/>
                          <a:cs typeface="Arial"/>
                        </a:rPr>
                        <a:t>42</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bl>
          </a:graphicData>
        </a:graphic>
      </p:graphicFrame>
      <p:sp>
        <p:nvSpPr>
          <p:cNvPr id="7" name="">
            <a:extLst xmlns:a="http://schemas.openxmlformats.org/drawingml/2006/main">
              <a:ext uri="{FF2B5EF4-FFF2-40B4-BE49-F238E27FC236}">
                <a16:creationId xmlns:a16="http://schemas.microsoft.com/office/drawing/2014/main" id="{736F1237-89E9-4196-A404-145210EA9B63}"/>
              </a:ext>
            </a:extLst>
          </p:cNvPr>
          <p:cNvSpPr>
            <a:spLocks xmlns:a="http://schemas.openxmlformats.org/drawingml/2006/main" noGrp="1"/>
          </p:cNvSpPr>
          <p:nvPr/>
        </p:nvSpPr>
        <p:spPr>
          <a:xfrm xmlns:a="http://schemas.openxmlformats.org/drawingml/2006/main">
            <a:off x="609600" y="5162550"/>
            <a:ext cx="109537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44"/>
                </a:solidFill>
                <a:latin typeface="Arial"/>
                <a:ea typeface="Arial"/>
                <a:cs typeface="Arial"/>
              </a:defRPr>
            </a:defPPr>
            <a:lvl1pPr>
              <a:defRPr sz="2250" b="1">
                <a:solidFill>
                  <a:srgbClr val="245844"/>
                </a:solidFill>
                <a:latin typeface="Arial"/>
                <a:ea typeface="Arial"/>
                <a:cs typeface="Arial"/>
              </a:defRPr>
            </a:lvl1pPr>
            <a:lvl2pPr>
              <a:defRPr sz="2250" b="1">
                <a:solidFill>
                  <a:srgbClr val="245844"/>
                </a:solidFill>
                <a:latin typeface="Arial"/>
                <a:ea typeface="Arial"/>
                <a:cs typeface="Arial"/>
              </a:defRPr>
            </a:lvl2pPr>
            <a:lvl3pPr>
              <a:defRPr sz="2250" b="1">
                <a:solidFill>
                  <a:srgbClr val="245844"/>
                </a:solidFill>
                <a:latin typeface="Arial"/>
                <a:ea typeface="Arial"/>
                <a:cs typeface="Arial"/>
              </a:defRPr>
            </a:lvl3pPr>
            <a:lvl4pPr>
              <a:defRPr sz="2250" b="1">
                <a:solidFill>
                  <a:srgbClr val="245844"/>
                </a:solidFill>
                <a:latin typeface="Arial"/>
                <a:ea typeface="Arial"/>
                <a:cs typeface="Arial"/>
              </a:defRPr>
            </a:lvl4pPr>
            <a:lvl5pPr>
              <a:defRPr sz="2250" b="1">
                <a:solidFill>
                  <a:srgbClr val="245844"/>
                </a:solidFill>
                <a:latin typeface="Arial"/>
                <a:ea typeface="Arial"/>
                <a:cs typeface="Arial"/>
              </a:defRPr>
            </a:lvl5pPr>
            <a:lvl6pPr>
              <a:defRPr sz="2250" b="1">
                <a:solidFill>
                  <a:srgbClr val="245844"/>
                </a:solidFill>
                <a:latin typeface="Arial"/>
                <a:ea typeface="Arial"/>
                <a:cs typeface="Arial"/>
              </a:defRPr>
            </a:lvl6pPr>
            <a:lvl7pPr>
              <a:defRPr sz="2250" b="1">
                <a:solidFill>
                  <a:srgbClr val="245844"/>
                </a:solidFill>
                <a:latin typeface="Arial"/>
                <a:ea typeface="Arial"/>
                <a:cs typeface="Arial"/>
              </a:defRPr>
            </a:lvl7pPr>
            <a:lvl8pPr>
              <a:defRPr sz="2250" b="1">
                <a:solidFill>
                  <a:srgbClr val="245844"/>
                </a:solidFill>
                <a:latin typeface="Arial"/>
                <a:ea typeface="Arial"/>
                <a:cs typeface="Arial"/>
              </a:defRPr>
            </a:lvl8pPr>
            <a:lvl9pPr>
              <a:defRPr sz="2250" b="1">
                <a:solidFill>
                  <a:srgbClr val="245844"/>
                </a:solidFill>
                <a:latin typeface="Arial"/>
                <a:ea typeface="Arial"/>
                <a:cs typeface="Arial"/>
              </a:defRPr>
            </a:lvl9pPr>
          </a:lstStyle>
          <a:p xmlns:a="http://schemas.openxmlformats.org/drawingml/2006/main">
            <a:pPr>
              <a:defRPr sz="2250" b="1">
                <a:solidFill>
                  <a:srgbClr val="245844"/>
                </a:solidFill>
                <a:latin typeface="Arial"/>
                <a:ea typeface="Arial"/>
                <a:cs typeface="Arial"/>
              </a:defRPr>
            </a:pPr>
            <a:r>
              <a:rPr sz="2250" b="1">
                <a:solidFill>
                  <a:srgbClr val="245844"/>
                </a:solidFill>
                <a:latin typeface="Arial"/>
                <a:ea typeface="Arial"/>
                <a:cs typeface="Arial"/>
              </a:rPr>
              <a:t>0 of 86 diseased leaves predicted healthy in either reference model</a:t>
            </a:r>
          </a:p>
        </p:txBody>
      </p:sp>
      <p:sp>
        <p:nvSpPr>
          <p:cNvPr id="8" name="">
            <a:extLst xmlns:a="http://schemas.openxmlformats.org/drawingml/2006/main">
              <a:ext uri="{FF2B5EF4-FFF2-40B4-BE49-F238E27FC236}">
                <a16:creationId xmlns:a16="http://schemas.microsoft.com/office/drawing/2014/main" id="{E03D72F2-0EB0-4EF0-A509-38C7A68ACEA3}"/>
              </a:ext>
            </a:extLst>
          </p:cNvPr>
          <p:cNvSpPr>
            <a:spLocks xmlns:a="http://schemas.openxmlformats.org/drawingml/2006/main" noGrp="1"/>
          </p:cNvSpPr>
          <p:nvPr/>
        </p:nvSpPr>
        <p:spPr>
          <a:xfrm xmlns:a="http://schemas.openxmlformats.org/drawingml/2006/main">
            <a:off x="609600" y="61150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Seed 17, 128 test images. Counts describe this sample and cannot establish safety in new fields.</a:t>
            </a:r>
          </a:p>
        </p:txBody>
      </p:sp>
    </p:spTree>
    <p:extLst>
      <p:ext uri="{BB962C8B-B14F-4D97-AF65-F5344CB8AC3E}">
        <p14:creationId xmlns:p14="http://schemas.microsoft.com/office/powerpoint/2010/main" val="161257204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6DD9734A-E9D7-45AE-B3B9-0010AB42C1DF}"/>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Backup: preprocessing and training settings</a:t>
            </a:r>
          </a:p>
        </p:txBody>
      </p:sp>
      <p:sp>
        <p:nvSpPr>
          <p:cNvPr id="2" name="">
            <a:extLst xmlns:a="http://schemas.openxmlformats.org/drawingml/2006/main">
              <a:ext uri="{FF2B5EF4-FFF2-40B4-BE49-F238E27FC236}">
                <a16:creationId xmlns:a16="http://schemas.microsoft.com/office/drawing/2014/main" id="{28D708F5-0FB6-4B5E-9667-C43059EFE9F4}"/>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10</a:t>
            </a:r>
          </a:p>
        </p:txBody>
      </p:sp>
      <p:graphicFrame>
        <p:nvGraphicFramePr>
          <p:cNvPr id="3" name="">
            <a:extLst xmlns:a="http://schemas.openxmlformats.org/drawingml/2006/main">
              <a:ext uri="{FF2B5EF4-FFF2-40B4-BE49-F238E27FC236}">
                <a16:creationId xmlns:a16="http://schemas.microsoft.com/office/drawing/2014/main" id="{F3A1143F-84DF-42BA-9FB6-53AB192796D1}"/>
              </a:ext>
            </a:extLst>
          </p:cNvPr>
          <p:cNvGraphicFramePr/>
          <p:nvPr/>
        </p:nvGraphicFramePr>
        <p:xfrm>
          <a:off xmlns:a="http://schemas.openxmlformats.org/drawingml/2006/main" x="609600" y="1466850"/>
          <a:ext xmlns:a="http://schemas.openxmlformats.org/drawingml/2006/main" cx="10972800" cy="3810000"/>
        </p:xfrm>
        <a:graphic xmlns:a="http://schemas.openxmlformats.org/drawingml/2006/main">
          <a:graphicData uri="http://schemas.openxmlformats.org/drawingml/2006/table">
            <a:tbl>
              <a:tblPr/>
              <a:tblGrid>
                <a:gridCol w="3619500"/>
                <a:gridCol w="7353300"/>
              </a:tblGrid>
              <a:tr h="544286">
                <a:tc>
                  <a:txBody>
                    <a:bodyPr lIns="114300" tIns="114300" rIns="114300" bIns="114300"/>
                    <a:lstStyle/>
                    <a:p>
                      <a:r>
                        <a:rPr sz="1875" b="1">
                          <a:solidFill>
                            <a:srgbClr val="22362F"/>
                          </a:solidFill>
                          <a:latin typeface="Arial"/>
                          <a:ea typeface="Arial"/>
                          <a:cs typeface="Arial"/>
                        </a:rPr>
                        <a:t>Setting</a:t>
                      </a:r>
                    </a:p>
                  </a:txBody>
                  <a:tcPr marL="91440" marR="91440" marT="45720" marB="45720" anchor="ctr">
                    <a:lnL w="5715">
                      <a:solidFill>
                        <a:srgbClr val="D7DEDA"/>
                      </a:solidFill>
                      <a:prstDash val="solid"/>
                    </a:lnL>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875" b="1">
                          <a:solidFill>
                            <a:srgbClr val="22362F"/>
                          </a:solidFill>
                          <a:latin typeface="Arial"/>
                          <a:ea typeface="Arial"/>
                          <a:cs typeface="Arial"/>
                        </a:rPr>
                        <a:t>Value</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r>
              <a:tr h="544286">
                <a:tc>
                  <a:txBody>
                    <a:bodyPr lIns="114300" tIns="114300" rIns="114300" bIns="114300"/>
                    <a:lstStyle/>
                    <a:p>
                      <a:r>
                        <a:rPr sz="1875" b="0">
                          <a:solidFill>
                            <a:srgbClr val="22362F"/>
                          </a:solidFill>
                          <a:latin typeface="Arial"/>
                          <a:ea typeface="Arial"/>
                          <a:cs typeface="Arial"/>
                        </a:rPr>
                        <a:t>Input and augmentation</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224 × 224 RGB, flips, rotation ±15°</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44286">
                <a:tc>
                  <a:txBody>
                    <a:bodyPr lIns="114300" tIns="114300" rIns="114300" bIns="114300"/>
                    <a:lstStyle/>
                    <a:p>
                      <a:r>
                        <a:rPr sz="1875" b="0">
                          <a:solidFill>
                            <a:srgbClr val="22362F"/>
                          </a:solidFill>
                          <a:latin typeface="Arial"/>
                          <a:ea typeface="Arial"/>
                          <a:cs typeface="Arial"/>
                        </a:rPr>
                        <a:t>Optimiser</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AdamW, cross-entropy, weight decay 0.01</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44286">
                <a:tc>
                  <a:txBody>
                    <a:bodyPr lIns="114300" tIns="114300" rIns="114300" bIns="114300"/>
                    <a:lstStyle/>
                    <a:p>
                      <a:r>
                        <a:rPr sz="1875" b="0">
                          <a:solidFill>
                            <a:srgbClr val="22362F"/>
                          </a:solidFill>
                          <a:latin typeface="Arial"/>
                          <a:ea typeface="Arial"/>
                          <a:cs typeface="Arial"/>
                        </a:rPr>
                        <a:t>Learning rates</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Classifier 0.001, backbone 0.00001</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44286">
                <a:tc>
                  <a:txBody>
                    <a:bodyPr lIns="114300" tIns="114300" rIns="114300" bIns="114300"/>
                    <a:lstStyle/>
                    <a:p>
                      <a:r>
                        <a:rPr sz="1875" b="0">
                          <a:solidFill>
                            <a:srgbClr val="22362F"/>
                          </a:solidFill>
                          <a:latin typeface="Arial"/>
                          <a:ea typeface="Arial"/>
                          <a:cs typeface="Arial"/>
                        </a:rPr>
                        <a:t>Batch and precision</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8 images, CUDA FP16, gradient clip 1</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44286">
                <a:tc>
                  <a:txBody>
                    <a:bodyPr lIns="114300" tIns="114300" rIns="114300" bIns="114300"/>
                    <a:lstStyle/>
                    <a:p>
                      <a:r>
                        <a:rPr sz="1875" b="0">
                          <a:solidFill>
                            <a:srgbClr val="22362F"/>
                          </a:solidFill>
                          <a:latin typeface="Arial"/>
                          <a:ea typeface="Arial"/>
                          <a:cs typeface="Arial"/>
                        </a:rPr>
                        <a:t>Stopping rule</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10 epochs maximum, patience 3</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544286">
                <a:tc>
                  <a:txBody>
                    <a:bodyPr lIns="114300" tIns="114300" rIns="114300" bIns="114300"/>
                    <a:lstStyle/>
                    <a:p>
                      <a:r>
                        <a:rPr sz="1875" b="0">
                          <a:solidFill>
                            <a:srgbClr val="22362F"/>
                          </a:solidFill>
                          <a:latin typeface="Arial"/>
                          <a:ea typeface="Arial"/>
                          <a:cs typeface="Arial"/>
                        </a:rPr>
                        <a:t>Seeds</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875" b="0">
                          <a:solidFill>
                            <a:srgbClr val="22362F"/>
                          </a:solidFill>
                          <a:latin typeface="Arial"/>
                          <a:ea typeface="Arial"/>
                          <a:cs typeface="Arial"/>
                        </a:rPr>
                        <a:t>17, 42 and 2026</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FCD82DE1-9069-44B7-A74E-C824E43555BE}"/>
              </a:ext>
            </a:extLst>
          </p:cNvPr>
          <p:cNvSpPr>
            <a:spLocks xmlns:a="http://schemas.openxmlformats.org/drawingml/2006/main" noGrp="1"/>
          </p:cNvSpPr>
          <p:nvPr/>
        </p:nvSpPr>
        <p:spPr>
          <a:xfrm xmlns:a="http://schemas.openxmlformats.org/drawingml/2006/main">
            <a:off x="609600" y="5514975"/>
            <a:ext cx="10953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1">
                <a:solidFill>
                  <a:srgbClr val="245844"/>
                </a:solidFill>
                <a:latin typeface="Arial"/>
                <a:ea typeface="Arial"/>
                <a:cs typeface="Arial"/>
              </a:defRPr>
            </a:defPPr>
            <a:lvl1pPr>
              <a:defRPr sz="2025" b="1">
                <a:solidFill>
                  <a:srgbClr val="245844"/>
                </a:solidFill>
                <a:latin typeface="Arial"/>
                <a:ea typeface="Arial"/>
                <a:cs typeface="Arial"/>
              </a:defRPr>
            </a:lvl1pPr>
            <a:lvl2pPr>
              <a:defRPr sz="2025" b="1">
                <a:solidFill>
                  <a:srgbClr val="245844"/>
                </a:solidFill>
                <a:latin typeface="Arial"/>
                <a:ea typeface="Arial"/>
                <a:cs typeface="Arial"/>
              </a:defRPr>
            </a:lvl2pPr>
            <a:lvl3pPr>
              <a:defRPr sz="2025" b="1">
                <a:solidFill>
                  <a:srgbClr val="245844"/>
                </a:solidFill>
                <a:latin typeface="Arial"/>
                <a:ea typeface="Arial"/>
                <a:cs typeface="Arial"/>
              </a:defRPr>
            </a:lvl3pPr>
            <a:lvl4pPr>
              <a:defRPr sz="2025" b="1">
                <a:solidFill>
                  <a:srgbClr val="245844"/>
                </a:solidFill>
                <a:latin typeface="Arial"/>
                <a:ea typeface="Arial"/>
                <a:cs typeface="Arial"/>
              </a:defRPr>
            </a:lvl4pPr>
            <a:lvl5pPr>
              <a:defRPr sz="2025" b="1">
                <a:solidFill>
                  <a:srgbClr val="245844"/>
                </a:solidFill>
                <a:latin typeface="Arial"/>
                <a:ea typeface="Arial"/>
                <a:cs typeface="Arial"/>
              </a:defRPr>
            </a:lvl5pPr>
            <a:lvl6pPr>
              <a:defRPr sz="2025" b="1">
                <a:solidFill>
                  <a:srgbClr val="245844"/>
                </a:solidFill>
                <a:latin typeface="Arial"/>
                <a:ea typeface="Arial"/>
                <a:cs typeface="Arial"/>
              </a:defRPr>
            </a:lvl6pPr>
            <a:lvl7pPr>
              <a:defRPr sz="2025" b="1">
                <a:solidFill>
                  <a:srgbClr val="245844"/>
                </a:solidFill>
                <a:latin typeface="Arial"/>
                <a:ea typeface="Arial"/>
                <a:cs typeface="Arial"/>
              </a:defRPr>
            </a:lvl7pPr>
            <a:lvl8pPr>
              <a:defRPr sz="2025" b="1">
                <a:solidFill>
                  <a:srgbClr val="245844"/>
                </a:solidFill>
                <a:latin typeface="Arial"/>
                <a:ea typeface="Arial"/>
                <a:cs typeface="Arial"/>
              </a:defRPr>
            </a:lvl8pPr>
            <a:lvl9pPr>
              <a:defRPr sz="2025" b="1">
                <a:solidFill>
                  <a:srgbClr val="245844"/>
                </a:solidFill>
                <a:latin typeface="Arial"/>
                <a:ea typeface="Arial"/>
                <a:cs typeface="Arial"/>
              </a:defRPr>
            </a:lvl9pPr>
          </a:lstStyle>
          <a:p xmlns:a="http://schemas.openxmlformats.org/drawingml/2006/main">
            <a:pPr>
              <a:defRPr sz="2025" b="1">
                <a:solidFill>
                  <a:srgbClr val="245844"/>
                </a:solidFill>
                <a:latin typeface="Arial"/>
                <a:ea typeface="Arial"/>
                <a:cs typeface="Arial"/>
              </a:defRPr>
            </a:pPr>
            <a:r>
              <a:rPr sz="2025" b="1">
                <a:solidFill>
                  <a:srgbClr val="245844"/>
                </a:solidFill>
                <a:latin typeface="Arial"/>
                <a:ea typeface="Arial"/>
                <a:cs typeface="Arial"/>
              </a:rPr>
              <a:t>Native normalisation differs by model. SigLIP pooling stays frozen.</a:t>
            </a:r>
          </a:p>
        </p:txBody>
      </p:sp>
    </p:spTree>
    <p:extLst>
      <p:ext uri="{BB962C8B-B14F-4D97-AF65-F5344CB8AC3E}">
        <p14:creationId xmlns:p14="http://schemas.microsoft.com/office/powerpoint/2010/main" val="5850417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85999DB-D3F7-4335-BB15-E6440A9C92E7}"/>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Backup: reproducibility and remaining limits</a:t>
            </a:r>
          </a:p>
        </p:txBody>
      </p:sp>
      <p:sp>
        <p:nvSpPr>
          <p:cNvPr id="2" name="">
            <a:extLst xmlns:a="http://schemas.openxmlformats.org/drawingml/2006/main">
              <a:ext uri="{FF2B5EF4-FFF2-40B4-BE49-F238E27FC236}">
                <a16:creationId xmlns:a16="http://schemas.microsoft.com/office/drawing/2014/main" id="{D9087CCA-ADA1-4315-9269-DD7F5B7A7A76}"/>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11</a:t>
            </a:r>
          </a:p>
        </p:txBody>
      </p:sp>
      <p:sp>
        <p:nvSpPr>
          <p:cNvPr id="3" name="">
            <a:extLst xmlns:a="http://schemas.openxmlformats.org/drawingml/2006/main">
              <a:ext uri="{FF2B5EF4-FFF2-40B4-BE49-F238E27FC236}">
                <a16:creationId xmlns:a16="http://schemas.microsoft.com/office/drawing/2014/main" id="{8DBE17CF-41EE-495C-A1FC-44ACD1464783}"/>
              </a:ext>
            </a:extLst>
          </p:cNvPr>
          <p:cNvSpPr>
            <a:spLocks xmlns:a="http://schemas.openxmlformats.org/drawingml/2006/main" noGrp="1"/>
          </p:cNvSpPr>
          <p:nvPr/>
        </p:nvSpPr>
        <p:spPr>
          <a:xfrm xmlns:a="http://schemas.openxmlformats.org/drawingml/2006/main">
            <a:off x="609600" y="1685925"/>
            <a:ext cx="109728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850" b="1">
                <a:solidFill>
                  <a:srgbClr val="245844"/>
                </a:solidFill>
                <a:latin typeface="Arial"/>
                <a:ea typeface="Arial"/>
                <a:cs typeface="Arial"/>
              </a:defRPr>
            </a:defPPr>
            <a:lvl1pPr>
              <a:defRPr sz="2850" b="1">
                <a:solidFill>
                  <a:srgbClr val="245844"/>
                </a:solidFill>
                <a:latin typeface="Arial"/>
                <a:ea typeface="Arial"/>
                <a:cs typeface="Arial"/>
              </a:defRPr>
            </a:lvl1pPr>
            <a:lvl2pPr>
              <a:defRPr sz="2850" b="1">
                <a:solidFill>
                  <a:srgbClr val="245844"/>
                </a:solidFill>
                <a:latin typeface="Arial"/>
                <a:ea typeface="Arial"/>
                <a:cs typeface="Arial"/>
              </a:defRPr>
            </a:lvl2pPr>
            <a:lvl3pPr>
              <a:defRPr sz="2850" b="1">
                <a:solidFill>
                  <a:srgbClr val="245844"/>
                </a:solidFill>
                <a:latin typeface="Arial"/>
                <a:ea typeface="Arial"/>
                <a:cs typeface="Arial"/>
              </a:defRPr>
            </a:lvl3pPr>
            <a:lvl4pPr>
              <a:defRPr sz="2850" b="1">
                <a:solidFill>
                  <a:srgbClr val="245844"/>
                </a:solidFill>
                <a:latin typeface="Arial"/>
                <a:ea typeface="Arial"/>
                <a:cs typeface="Arial"/>
              </a:defRPr>
            </a:lvl4pPr>
            <a:lvl5pPr>
              <a:defRPr sz="2850" b="1">
                <a:solidFill>
                  <a:srgbClr val="245844"/>
                </a:solidFill>
                <a:latin typeface="Arial"/>
                <a:ea typeface="Arial"/>
                <a:cs typeface="Arial"/>
              </a:defRPr>
            </a:lvl5pPr>
            <a:lvl6pPr>
              <a:defRPr sz="2850" b="1">
                <a:solidFill>
                  <a:srgbClr val="245844"/>
                </a:solidFill>
                <a:latin typeface="Arial"/>
                <a:ea typeface="Arial"/>
                <a:cs typeface="Arial"/>
              </a:defRPr>
            </a:lvl6pPr>
            <a:lvl7pPr>
              <a:defRPr sz="2850" b="1">
                <a:solidFill>
                  <a:srgbClr val="245844"/>
                </a:solidFill>
                <a:latin typeface="Arial"/>
                <a:ea typeface="Arial"/>
                <a:cs typeface="Arial"/>
              </a:defRPr>
            </a:lvl7pPr>
            <a:lvl8pPr>
              <a:defRPr sz="2850" b="1">
                <a:solidFill>
                  <a:srgbClr val="245844"/>
                </a:solidFill>
                <a:latin typeface="Arial"/>
                <a:ea typeface="Arial"/>
                <a:cs typeface="Arial"/>
              </a:defRPr>
            </a:lvl8pPr>
            <a:lvl9pPr>
              <a:defRPr sz="2850" b="1">
                <a:solidFill>
                  <a:srgbClr val="245844"/>
                </a:solidFill>
                <a:latin typeface="Arial"/>
                <a:ea typeface="Arial"/>
                <a:cs typeface="Arial"/>
              </a:defRPr>
            </a:lvl9pPr>
          </a:lstStyle>
          <a:p xmlns:a="http://schemas.openxmlformats.org/drawingml/2006/main">
            <a:pPr>
              <a:defRPr sz="2850" b="1">
                <a:solidFill>
                  <a:srgbClr val="245844"/>
                </a:solidFill>
                <a:latin typeface="Arial"/>
                <a:ea typeface="Arial"/>
                <a:cs typeface="Arial"/>
              </a:defRPr>
            </a:pPr>
            <a:r>
              <a:rPr sz="2850" b="1">
                <a:solidFill>
                  <a:srgbClr val="245844"/>
                </a:solidFill>
                <a:latin typeface="Arial"/>
                <a:ea typeface="Arial"/>
                <a:cs typeface="Arial"/>
              </a:rPr>
              <a:t>Full local notebook: 10 cells, 12 training runs, zero errors</a:t>
            </a:r>
          </a:p>
        </p:txBody>
      </p:sp>
      <p:graphicFrame>
        <p:nvGraphicFramePr>
          <p:cNvPr id="4" name="">
            <a:extLst xmlns:a="http://schemas.openxmlformats.org/drawingml/2006/main">
              <a:ext uri="{FF2B5EF4-FFF2-40B4-BE49-F238E27FC236}">
                <a16:creationId xmlns:a16="http://schemas.microsoft.com/office/drawing/2014/main" id="{5B30051C-C651-42D1-BBAC-06615F5445D5}"/>
              </a:ext>
            </a:extLst>
          </p:cNvPr>
          <p:cNvGraphicFramePr/>
          <p:nvPr/>
        </p:nvGraphicFramePr>
        <p:xfrm>
          <a:off xmlns:a="http://schemas.openxmlformats.org/drawingml/2006/main" x="609600" y="2924175"/>
          <a:ext xmlns:a="http://schemas.openxmlformats.org/drawingml/2006/main" cx="10972800" cy="1857375"/>
        </p:xfrm>
        <a:graphic xmlns:a="http://schemas.openxmlformats.org/drawingml/2006/main">
          <a:graphicData uri="http://schemas.openxmlformats.org/drawingml/2006/table">
            <a:tbl>
              <a:tblPr/>
              <a:tblGrid>
                <a:gridCol w="5905500"/>
                <a:gridCol w="2533650"/>
                <a:gridCol w="2533650"/>
              </a:tblGrid>
              <a:tr h="619125">
                <a:tc>
                  <a:txBody>
                    <a:bodyPr lIns="114300" tIns="114300" rIns="114300" bIns="114300"/>
                    <a:lstStyle/>
                    <a:p>
                      <a:r>
                        <a:rPr sz="1950" b="1">
                          <a:solidFill>
                            <a:srgbClr val="22362F"/>
                          </a:solidFill>
                          <a:latin typeface="Arial"/>
                          <a:ea typeface="Arial"/>
                          <a:cs typeface="Arial"/>
                        </a:rPr>
                        <a:t>Partial-model mean macro-F1</a:t>
                      </a:r>
                    </a:p>
                  </a:txBody>
                  <a:tcPr marL="91440" marR="91440" marT="45720" marB="45720" anchor="ctr">
                    <a:lnL w="5715">
                      <a:solidFill>
                        <a:srgbClr val="D7DEDA"/>
                      </a:solidFill>
                      <a:prstDash val="solid"/>
                    </a:lnL>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950" b="1">
                          <a:solidFill>
                            <a:srgbClr val="22362F"/>
                          </a:solidFill>
                          <a:latin typeface="Arial"/>
                          <a:ea typeface="Arial"/>
                          <a:cs typeface="Arial"/>
                        </a:rPr>
                        <a:t>DINOv2</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c>
                  <a:txBody>
                    <a:bodyPr lIns="114300" tIns="114300" rIns="114300" bIns="114300"/>
                    <a:lstStyle/>
                    <a:p>
                      <a:r>
                        <a:rPr sz="1950" b="1">
                          <a:solidFill>
                            <a:srgbClr val="22362F"/>
                          </a:solidFill>
                          <a:latin typeface="Arial"/>
                          <a:ea typeface="Arial"/>
                          <a:cs typeface="Arial"/>
                        </a:rPr>
                        <a:t>SigLIP 2</a:t>
                      </a:r>
                    </a:p>
                  </a:txBody>
                  <a:tcPr marL="91440" marR="91440" marT="45720" marB="45720" anchor="ctr">
                    <a:lnR w="5715">
                      <a:solidFill>
                        <a:srgbClr val="D7DEDA"/>
                      </a:solidFill>
                      <a:prstDash val="solid"/>
                    </a:lnR>
                    <a:lnT w="5715">
                      <a:solidFill>
                        <a:srgbClr val="D7DEDA"/>
                      </a:solidFill>
                      <a:prstDash val="solid"/>
                    </a:lnT>
                    <a:lnB w="5715">
                      <a:solidFill>
                        <a:srgbClr val="D7DEDA"/>
                      </a:solidFill>
                      <a:prstDash val="solid"/>
                    </a:lnB>
                    <a:solidFill>
                      <a:srgbClr val="E8EEEB"/>
                    </a:solidFill>
                  </a:tcPr>
                </a:tc>
              </a:tr>
              <a:tr h="619125">
                <a:tc>
                  <a:txBody>
                    <a:bodyPr lIns="114300" tIns="114300" rIns="114300" bIns="114300"/>
                    <a:lstStyle/>
                    <a:p>
                      <a:r>
                        <a:rPr sz="1950" b="0">
                          <a:solidFill>
                            <a:srgbClr val="22362F"/>
                          </a:solidFill>
                          <a:latin typeface="Arial"/>
                          <a:ea typeface="Arial"/>
                          <a:cs typeface="Arial"/>
                        </a:rPr>
                        <a:t>Original report experiment</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96.90%</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96.90%</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r h="619125">
                <a:tc>
                  <a:txBody>
                    <a:bodyPr lIns="114300" tIns="114300" rIns="114300" bIns="114300"/>
                    <a:lstStyle/>
                    <a:p>
                      <a:r>
                        <a:rPr sz="1950" b="0">
                          <a:solidFill>
                            <a:srgbClr val="22362F"/>
                          </a:solidFill>
                          <a:latin typeface="Arial"/>
                          <a:ea typeface="Arial"/>
                          <a:cs typeface="Arial"/>
                        </a:rPr>
                        <a:t>Separate notebook verification</a:t>
                      </a:r>
                    </a:p>
                  </a:txBody>
                  <a:tcPr marL="91440" marR="91440" marT="45720" marB="45720" anchor="ctr">
                    <a:lnL w="5715">
                      <a:solidFill>
                        <a:srgbClr val="D7DEDA"/>
                      </a:solidFill>
                      <a:prstDash val="solid"/>
                    </a:lnL>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97.67%</a:t>
                      </a:r>
                    </a:p>
                  </a:txBody>
                  <a:tcPr marL="91440" marR="91440" marT="45720" marB="45720" anchor="ctr">
                    <a:lnR w="5715">
                      <a:solidFill>
                        <a:srgbClr val="D7DEDA"/>
                      </a:solidFill>
                      <a:prstDash val="solid"/>
                    </a:lnR>
                    <a:lnB w="5715">
                      <a:solidFill>
                        <a:srgbClr val="D7DEDA"/>
                      </a:solidFill>
                      <a:prstDash val="solid"/>
                    </a:lnB>
                    <a:solidFill>
                      <a:srgbClr val="FFFFFF"/>
                    </a:solidFill>
                  </a:tcPr>
                </a:tc>
                <a:tc>
                  <a:txBody>
                    <a:bodyPr lIns="114300" tIns="114300" rIns="114300" bIns="114300"/>
                    <a:lstStyle/>
                    <a:p>
                      <a:r>
                        <a:rPr sz="1950" b="0">
                          <a:solidFill>
                            <a:srgbClr val="22362F"/>
                          </a:solidFill>
                          <a:latin typeface="Arial"/>
                          <a:ea typeface="Arial"/>
                          <a:cs typeface="Arial"/>
                        </a:rPr>
                        <a:t>96.90%</a:t>
                      </a:r>
                    </a:p>
                  </a:txBody>
                  <a:tcPr marL="91440" marR="91440" marT="45720" marB="45720" anchor="ctr">
                    <a:lnR w="5715">
                      <a:solidFill>
                        <a:srgbClr val="D7DEDA"/>
                      </a:solidFill>
                      <a:prstDash val="solid"/>
                    </a:lnR>
                    <a:lnB w="5715">
                      <a:solidFill>
                        <a:srgbClr val="D7DEDA"/>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9148D2C7-1C1F-47F1-BBBF-BC85A31BE744}"/>
              </a:ext>
            </a:extLst>
          </p:cNvPr>
          <p:cNvSpPr>
            <a:spLocks xmlns:a="http://schemas.openxmlformats.org/drawingml/2006/main" noGrp="1"/>
          </p:cNvSpPr>
          <p:nvPr/>
        </p:nvSpPr>
        <p:spPr>
          <a:xfrm xmlns:a="http://schemas.openxmlformats.org/drawingml/2006/main">
            <a:off x="609600" y="518160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22362F"/>
                </a:solidFill>
                <a:latin typeface="Arial"/>
                <a:ea typeface="Arial"/>
                <a:cs typeface="Arial"/>
              </a:defRPr>
            </a:defPPr>
            <a:lvl1pPr>
              <a:defRPr sz="2025" b="0">
                <a:solidFill>
                  <a:srgbClr val="22362F"/>
                </a:solidFill>
                <a:latin typeface="Arial"/>
                <a:ea typeface="Arial"/>
                <a:cs typeface="Arial"/>
              </a:defRPr>
            </a:lvl1pPr>
            <a:lvl2pPr>
              <a:defRPr sz="2025" b="0">
                <a:solidFill>
                  <a:srgbClr val="22362F"/>
                </a:solidFill>
                <a:latin typeface="Arial"/>
                <a:ea typeface="Arial"/>
                <a:cs typeface="Arial"/>
              </a:defRPr>
            </a:lvl2pPr>
            <a:lvl3pPr>
              <a:defRPr sz="2025" b="0">
                <a:solidFill>
                  <a:srgbClr val="22362F"/>
                </a:solidFill>
                <a:latin typeface="Arial"/>
                <a:ea typeface="Arial"/>
                <a:cs typeface="Arial"/>
              </a:defRPr>
            </a:lvl3pPr>
            <a:lvl4pPr>
              <a:defRPr sz="2025" b="0">
                <a:solidFill>
                  <a:srgbClr val="22362F"/>
                </a:solidFill>
                <a:latin typeface="Arial"/>
                <a:ea typeface="Arial"/>
                <a:cs typeface="Arial"/>
              </a:defRPr>
            </a:lvl4pPr>
            <a:lvl5pPr>
              <a:defRPr sz="2025" b="0">
                <a:solidFill>
                  <a:srgbClr val="22362F"/>
                </a:solidFill>
                <a:latin typeface="Arial"/>
                <a:ea typeface="Arial"/>
                <a:cs typeface="Arial"/>
              </a:defRPr>
            </a:lvl5pPr>
            <a:lvl6pPr>
              <a:defRPr sz="2025" b="0">
                <a:solidFill>
                  <a:srgbClr val="22362F"/>
                </a:solidFill>
                <a:latin typeface="Arial"/>
                <a:ea typeface="Arial"/>
                <a:cs typeface="Arial"/>
              </a:defRPr>
            </a:lvl6pPr>
            <a:lvl7pPr>
              <a:defRPr sz="2025" b="0">
                <a:solidFill>
                  <a:srgbClr val="22362F"/>
                </a:solidFill>
                <a:latin typeface="Arial"/>
                <a:ea typeface="Arial"/>
                <a:cs typeface="Arial"/>
              </a:defRPr>
            </a:lvl7pPr>
            <a:lvl8pPr>
              <a:defRPr sz="2025" b="0">
                <a:solidFill>
                  <a:srgbClr val="22362F"/>
                </a:solidFill>
                <a:latin typeface="Arial"/>
                <a:ea typeface="Arial"/>
                <a:cs typeface="Arial"/>
              </a:defRPr>
            </a:lvl8pPr>
            <a:lvl9pPr>
              <a:defRPr sz="2025" b="0">
                <a:solidFill>
                  <a:srgbClr val="22362F"/>
                </a:solidFill>
                <a:latin typeface="Arial"/>
                <a:ea typeface="Arial"/>
                <a:cs typeface="Arial"/>
              </a:defRPr>
            </a:lvl9pPr>
          </a:lstStyle>
          <a:p xmlns:a="http://schemas.openxmlformats.org/drawingml/2006/main">
            <a:pPr>
              <a:defRPr sz="2025" b="0">
                <a:solidFill>
                  <a:srgbClr val="22362F"/>
                </a:solidFill>
                <a:latin typeface="Arial"/>
                <a:ea typeface="Arial"/>
                <a:cs typeface="Arial"/>
              </a:defRPr>
            </a:pPr>
            <a:r>
              <a:rPr sz="2025" b="0">
                <a:solidFill>
                  <a:srgbClr val="22362F"/>
                </a:solidFill>
                <a:latin typeface="Arial"/>
                <a:ea typeface="Arial"/>
                <a:cs typeface="Arial"/>
              </a:rPr>
              <a:t>CUDA reruns can differ. Hosted Colab remains untested.</a:t>
            </a:r>
          </a:p>
          <a:p xmlns:a="http://schemas.openxmlformats.org/drawingml/2006/main">
            <a:pPr>
              <a:defRPr sz="2025" b="0">
                <a:solidFill>
                  <a:srgbClr val="22362F"/>
                </a:solidFill>
                <a:latin typeface="Arial"/>
                <a:ea typeface="Arial"/>
                <a:cs typeface="Arial"/>
              </a:defRPr>
            </a:pPr>
            <a:r>
              <a:rPr sz="2025" b="0">
                <a:solidFill>
                  <a:srgbClr val="22362F"/>
                </a:solidFill>
                <a:latin typeface="Arial"/>
                <a:ea typeface="Arial"/>
                <a:cs typeface="Arial"/>
              </a:rPr>
              <a:t>The report keeps the original experiment and explains the rerun.</a:t>
            </a:r>
          </a:p>
        </p:txBody>
      </p:sp>
    </p:spTree>
    <p:extLst>
      <p:ext uri="{BB962C8B-B14F-4D97-AF65-F5344CB8AC3E}">
        <p14:creationId xmlns:p14="http://schemas.microsoft.com/office/powerpoint/2010/main" val="51754770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1D3F78DE-0EDB-486D-A430-E7B5A5AE351E}"/>
              </a:ext>
            </a:extLst>
          </p:cNvPr>
          <p:cNvSpPr>
            <a:spLocks xmlns:a="http://schemas.openxmlformats.org/drawingml/2006/main" noGrp="1"/>
          </p:cNvSpPr>
          <p:nvPr/>
        </p:nvSpPr>
        <p:spPr>
          <a:xfrm xmlns:a="http://schemas.openxmlformats.org/drawingml/2006/main">
            <a:off x="609600" y="400050"/>
            <a:ext cx="10810875"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22362F"/>
                </a:solidFill>
                <a:latin typeface="Arial"/>
                <a:ea typeface="Arial"/>
                <a:cs typeface="Arial"/>
              </a:defRPr>
            </a:defPPr>
            <a:lvl1pPr>
              <a:defRPr sz="3300" b="1">
                <a:solidFill>
                  <a:srgbClr val="22362F"/>
                </a:solidFill>
                <a:latin typeface="Arial"/>
                <a:ea typeface="Arial"/>
                <a:cs typeface="Arial"/>
              </a:defRPr>
            </a:lvl1pPr>
            <a:lvl2pPr>
              <a:defRPr sz="3300" b="1">
                <a:solidFill>
                  <a:srgbClr val="22362F"/>
                </a:solidFill>
                <a:latin typeface="Arial"/>
                <a:ea typeface="Arial"/>
                <a:cs typeface="Arial"/>
              </a:defRPr>
            </a:lvl2pPr>
            <a:lvl3pPr>
              <a:defRPr sz="3300" b="1">
                <a:solidFill>
                  <a:srgbClr val="22362F"/>
                </a:solidFill>
                <a:latin typeface="Arial"/>
                <a:ea typeface="Arial"/>
                <a:cs typeface="Arial"/>
              </a:defRPr>
            </a:lvl3pPr>
            <a:lvl4pPr>
              <a:defRPr sz="3300" b="1">
                <a:solidFill>
                  <a:srgbClr val="22362F"/>
                </a:solidFill>
                <a:latin typeface="Arial"/>
                <a:ea typeface="Arial"/>
                <a:cs typeface="Arial"/>
              </a:defRPr>
            </a:lvl4pPr>
            <a:lvl5pPr>
              <a:defRPr sz="3300" b="1">
                <a:solidFill>
                  <a:srgbClr val="22362F"/>
                </a:solidFill>
                <a:latin typeface="Arial"/>
                <a:ea typeface="Arial"/>
                <a:cs typeface="Arial"/>
              </a:defRPr>
            </a:lvl5pPr>
            <a:lvl6pPr>
              <a:defRPr sz="3300" b="1">
                <a:solidFill>
                  <a:srgbClr val="22362F"/>
                </a:solidFill>
                <a:latin typeface="Arial"/>
                <a:ea typeface="Arial"/>
                <a:cs typeface="Arial"/>
              </a:defRPr>
            </a:lvl6pPr>
            <a:lvl7pPr>
              <a:defRPr sz="3300" b="1">
                <a:solidFill>
                  <a:srgbClr val="22362F"/>
                </a:solidFill>
                <a:latin typeface="Arial"/>
                <a:ea typeface="Arial"/>
                <a:cs typeface="Arial"/>
              </a:defRPr>
            </a:lvl7pPr>
            <a:lvl8pPr>
              <a:defRPr sz="3300" b="1">
                <a:solidFill>
                  <a:srgbClr val="22362F"/>
                </a:solidFill>
                <a:latin typeface="Arial"/>
                <a:ea typeface="Arial"/>
                <a:cs typeface="Arial"/>
              </a:defRPr>
            </a:lvl8pPr>
            <a:lvl9pPr>
              <a:defRPr sz="3300" b="1">
                <a:solidFill>
                  <a:srgbClr val="22362F"/>
                </a:solidFill>
                <a:latin typeface="Arial"/>
                <a:ea typeface="Arial"/>
                <a:cs typeface="Arial"/>
              </a:defRPr>
            </a:lvl9pPr>
          </a:lstStyle>
          <a:p xmlns:a="http://schemas.openxmlformats.org/drawingml/2006/main">
            <a:pPr>
              <a:defRPr sz="3300" b="1">
                <a:solidFill>
                  <a:srgbClr val="22362F"/>
                </a:solidFill>
                <a:latin typeface="Arial"/>
                <a:ea typeface="Arial"/>
                <a:cs typeface="Arial"/>
              </a:defRPr>
            </a:pPr>
            <a:r>
              <a:rPr sz="3300" b="1">
                <a:solidFill>
                  <a:srgbClr val="22362F"/>
                </a:solidFill>
                <a:latin typeface="Arial"/>
                <a:ea typeface="Arial"/>
                <a:cs typeface="Arial"/>
              </a:rPr>
              <a:t>Backup: sources</a:t>
            </a:r>
          </a:p>
        </p:txBody>
      </p:sp>
      <p:sp>
        <p:nvSpPr>
          <p:cNvPr id="2" name="">
            <a:extLst xmlns:a="http://schemas.openxmlformats.org/drawingml/2006/main">
              <a:ext uri="{FF2B5EF4-FFF2-40B4-BE49-F238E27FC236}">
                <a16:creationId xmlns:a16="http://schemas.microsoft.com/office/drawing/2014/main" id="{145B0771-C78B-4F13-A3AF-038C1FF3FA16}"/>
              </a:ext>
            </a:extLst>
          </p:cNvPr>
          <p:cNvSpPr>
            <a:spLocks xmlns:a="http://schemas.openxmlformats.org/drawingml/2006/main" noGrp="1"/>
          </p:cNvSpPr>
          <p:nvPr/>
        </p:nvSpPr>
        <p:spPr>
          <a:xfrm xmlns:a="http://schemas.openxmlformats.org/drawingml/2006/main">
            <a:off x="11144250" y="6381750"/>
            <a:ext cx="4381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12</a:t>
            </a:r>
          </a:p>
        </p:txBody>
      </p:sp>
      <p:sp>
        <p:nvSpPr>
          <p:cNvPr id="3" name="">
            <a:extLst xmlns:a="http://schemas.openxmlformats.org/drawingml/2006/main">
              <a:ext uri="{FF2B5EF4-FFF2-40B4-BE49-F238E27FC236}">
                <a16:creationId xmlns:a16="http://schemas.microsoft.com/office/drawing/2014/main" id="{679A35CF-D119-4149-97A8-96749FF9D2FA}"/>
              </a:ext>
            </a:extLst>
          </p:cNvPr>
          <p:cNvSpPr>
            <a:spLocks xmlns:a="http://schemas.openxmlformats.org/drawingml/2006/main" noGrp="1"/>
          </p:cNvSpPr>
          <p:nvPr/>
        </p:nvSpPr>
        <p:spPr>
          <a:xfrm xmlns:a="http://schemas.openxmlformats.org/drawingml/2006/main">
            <a:off x="609600" y="16097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44"/>
                </a:solidFill>
                <a:latin typeface="Arial"/>
                <a:ea typeface="Arial"/>
                <a:cs typeface="Arial"/>
              </a:defRPr>
            </a:defPPr>
            <a:lvl1pPr>
              <a:defRPr sz="2250" b="1">
                <a:solidFill>
                  <a:srgbClr val="245844"/>
                </a:solidFill>
                <a:latin typeface="Arial"/>
                <a:ea typeface="Arial"/>
                <a:cs typeface="Arial"/>
              </a:defRPr>
            </a:lvl1pPr>
            <a:lvl2pPr>
              <a:defRPr sz="2250" b="1">
                <a:solidFill>
                  <a:srgbClr val="245844"/>
                </a:solidFill>
                <a:latin typeface="Arial"/>
                <a:ea typeface="Arial"/>
                <a:cs typeface="Arial"/>
              </a:defRPr>
            </a:lvl2pPr>
            <a:lvl3pPr>
              <a:defRPr sz="2250" b="1">
                <a:solidFill>
                  <a:srgbClr val="245844"/>
                </a:solidFill>
                <a:latin typeface="Arial"/>
                <a:ea typeface="Arial"/>
                <a:cs typeface="Arial"/>
              </a:defRPr>
            </a:lvl3pPr>
            <a:lvl4pPr>
              <a:defRPr sz="2250" b="1">
                <a:solidFill>
                  <a:srgbClr val="245844"/>
                </a:solidFill>
                <a:latin typeface="Arial"/>
                <a:ea typeface="Arial"/>
                <a:cs typeface="Arial"/>
              </a:defRPr>
            </a:lvl4pPr>
            <a:lvl5pPr>
              <a:defRPr sz="2250" b="1">
                <a:solidFill>
                  <a:srgbClr val="245844"/>
                </a:solidFill>
                <a:latin typeface="Arial"/>
                <a:ea typeface="Arial"/>
                <a:cs typeface="Arial"/>
              </a:defRPr>
            </a:lvl5pPr>
            <a:lvl6pPr>
              <a:defRPr sz="2250" b="1">
                <a:solidFill>
                  <a:srgbClr val="245844"/>
                </a:solidFill>
                <a:latin typeface="Arial"/>
                <a:ea typeface="Arial"/>
                <a:cs typeface="Arial"/>
              </a:defRPr>
            </a:lvl6pPr>
            <a:lvl7pPr>
              <a:defRPr sz="2250" b="1">
                <a:solidFill>
                  <a:srgbClr val="245844"/>
                </a:solidFill>
                <a:latin typeface="Arial"/>
                <a:ea typeface="Arial"/>
                <a:cs typeface="Arial"/>
              </a:defRPr>
            </a:lvl7pPr>
            <a:lvl8pPr>
              <a:defRPr sz="2250" b="1">
                <a:solidFill>
                  <a:srgbClr val="245844"/>
                </a:solidFill>
                <a:latin typeface="Arial"/>
                <a:ea typeface="Arial"/>
                <a:cs typeface="Arial"/>
              </a:defRPr>
            </a:lvl8pPr>
            <a:lvl9pPr>
              <a:defRPr sz="2250" b="1">
                <a:solidFill>
                  <a:srgbClr val="245844"/>
                </a:solidFill>
                <a:latin typeface="Arial"/>
                <a:ea typeface="Arial"/>
                <a:cs typeface="Arial"/>
              </a:defRPr>
            </a:lvl9pPr>
          </a:lstStyle>
          <a:p xmlns:a="http://schemas.openxmlformats.org/drawingml/2006/main">
            <a:pPr>
              <a:defRPr sz="2250" b="1">
                <a:solidFill>
                  <a:srgbClr val="245844"/>
                </a:solidFill>
                <a:latin typeface="Arial"/>
                <a:ea typeface="Arial"/>
                <a:cs typeface="Arial"/>
              </a:defRPr>
            </a:pPr>
            <a:r>
              <a:rPr sz="2250" b="1">
                <a:solidFill>
                  <a:srgbClr val="245844"/>
                </a:solidFill>
                <a:latin typeface="Arial"/>
                <a:ea typeface="Arial"/>
                <a:cs typeface="Arial"/>
              </a:rPr>
              <a:t>SigLIP 2</a:t>
            </a:r>
          </a:p>
        </p:txBody>
      </p:sp>
      <p:sp>
        <p:nvSpPr>
          <p:cNvPr id="4" name="">
            <a:extLst xmlns:a="http://schemas.openxmlformats.org/drawingml/2006/main">
              <a:ext uri="{FF2B5EF4-FFF2-40B4-BE49-F238E27FC236}">
                <a16:creationId xmlns:a16="http://schemas.microsoft.com/office/drawing/2014/main" id="{DC51478F-154C-4460-809D-ACB3E1F98B3E}"/>
              </a:ext>
            </a:extLst>
          </p:cNvPr>
          <p:cNvSpPr>
            <a:spLocks xmlns:a="http://schemas.openxmlformats.org/drawingml/2006/main" noGrp="1"/>
          </p:cNvSpPr>
          <p:nvPr/>
        </p:nvSpPr>
        <p:spPr>
          <a:xfrm xmlns:a="http://schemas.openxmlformats.org/drawingml/2006/main">
            <a:off x="609600" y="22098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2362F"/>
                </a:solidFill>
                <a:latin typeface="Arial"/>
                <a:ea typeface="Arial"/>
                <a:cs typeface="Arial"/>
              </a:defRPr>
            </a:defPPr>
            <a:lvl1pPr>
              <a:defRPr sz="1950" b="0">
                <a:solidFill>
                  <a:srgbClr val="22362F"/>
                </a:solidFill>
                <a:latin typeface="Arial"/>
                <a:ea typeface="Arial"/>
                <a:cs typeface="Arial"/>
              </a:defRPr>
            </a:lvl1pPr>
            <a:lvl2pPr>
              <a:defRPr sz="1950" b="0">
                <a:solidFill>
                  <a:srgbClr val="22362F"/>
                </a:solidFill>
                <a:latin typeface="Arial"/>
                <a:ea typeface="Arial"/>
                <a:cs typeface="Arial"/>
              </a:defRPr>
            </a:lvl2pPr>
            <a:lvl3pPr>
              <a:defRPr sz="1950" b="0">
                <a:solidFill>
                  <a:srgbClr val="22362F"/>
                </a:solidFill>
                <a:latin typeface="Arial"/>
                <a:ea typeface="Arial"/>
                <a:cs typeface="Arial"/>
              </a:defRPr>
            </a:lvl3pPr>
            <a:lvl4pPr>
              <a:defRPr sz="1950" b="0">
                <a:solidFill>
                  <a:srgbClr val="22362F"/>
                </a:solidFill>
                <a:latin typeface="Arial"/>
                <a:ea typeface="Arial"/>
                <a:cs typeface="Arial"/>
              </a:defRPr>
            </a:lvl4pPr>
            <a:lvl5pPr>
              <a:defRPr sz="1950" b="0">
                <a:solidFill>
                  <a:srgbClr val="22362F"/>
                </a:solidFill>
                <a:latin typeface="Arial"/>
                <a:ea typeface="Arial"/>
                <a:cs typeface="Arial"/>
              </a:defRPr>
            </a:lvl5pPr>
            <a:lvl6pPr>
              <a:defRPr sz="1950" b="0">
                <a:solidFill>
                  <a:srgbClr val="22362F"/>
                </a:solidFill>
                <a:latin typeface="Arial"/>
                <a:ea typeface="Arial"/>
                <a:cs typeface="Arial"/>
              </a:defRPr>
            </a:lvl6pPr>
            <a:lvl7pPr>
              <a:defRPr sz="1950" b="0">
                <a:solidFill>
                  <a:srgbClr val="22362F"/>
                </a:solidFill>
                <a:latin typeface="Arial"/>
                <a:ea typeface="Arial"/>
                <a:cs typeface="Arial"/>
              </a:defRPr>
            </a:lvl7pPr>
            <a:lvl8pPr>
              <a:defRPr sz="1950" b="0">
                <a:solidFill>
                  <a:srgbClr val="22362F"/>
                </a:solidFill>
                <a:latin typeface="Arial"/>
                <a:ea typeface="Arial"/>
                <a:cs typeface="Arial"/>
              </a:defRPr>
            </a:lvl8pPr>
            <a:lvl9pPr>
              <a:defRPr sz="1950" b="0">
                <a:solidFill>
                  <a:srgbClr val="22362F"/>
                </a:solidFill>
                <a:latin typeface="Arial"/>
                <a:ea typeface="Arial"/>
                <a:cs typeface="Arial"/>
              </a:defRPr>
            </a:lvl9pPr>
          </a:lstStyle>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Tschannen et al. (2025)</a:t>
            </a:r>
          </a:p>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arxiv.org/abs/2502.14786</a:t>
            </a:r>
          </a:p>
        </p:txBody>
      </p:sp>
      <p:sp>
        <p:nvSpPr>
          <p:cNvPr id="5" name="">
            <a:extLst xmlns:a="http://schemas.openxmlformats.org/drawingml/2006/main">
              <a:ext uri="{FF2B5EF4-FFF2-40B4-BE49-F238E27FC236}">
                <a16:creationId xmlns:a16="http://schemas.microsoft.com/office/drawing/2014/main" id="{37EC61CC-ABFE-4281-A3F9-45778044126D}"/>
              </a:ext>
            </a:extLst>
          </p:cNvPr>
          <p:cNvSpPr>
            <a:spLocks xmlns:a="http://schemas.openxmlformats.org/drawingml/2006/main" noGrp="1"/>
          </p:cNvSpPr>
          <p:nvPr/>
        </p:nvSpPr>
        <p:spPr>
          <a:xfrm xmlns:a="http://schemas.openxmlformats.org/drawingml/2006/main">
            <a:off x="6229350" y="16097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44"/>
                </a:solidFill>
                <a:latin typeface="Arial"/>
                <a:ea typeface="Arial"/>
                <a:cs typeface="Arial"/>
              </a:defRPr>
            </a:defPPr>
            <a:lvl1pPr>
              <a:defRPr sz="2250" b="1">
                <a:solidFill>
                  <a:srgbClr val="245844"/>
                </a:solidFill>
                <a:latin typeface="Arial"/>
                <a:ea typeface="Arial"/>
                <a:cs typeface="Arial"/>
              </a:defRPr>
            </a:lvl1pPr>
            <a:lvl2pPr>
              <a:defRPr sz="2250" b="1">
                <a:solidFill>
                  <a:srgbClr val="245844"/>
                </a:solidFill>
                <a:latin typeface="Arial"/>
                <a:ea typeface="Arial"/>
                <a:cs typeface="Arial"/>
              </a:defRPr>
            </a:lvl2pPr>
            <a:lvl3pPr>
              <a:defRPr sz="2250" b="1">
                <a:solidFill>
                  <a:srgbClr val="245844"/>
                </a:solidFill>
                <a:latin typeface="Arial"/>
                <a:ea typeface="Arial"/>
                <a:cs typeface="Arial"/>
              </a:defRPr>
            </a:lvl3pPr>
            <a:lvl4pPr>
              <a:defRPr sz="2250" b="1">
                <a:solidFill>
                  <a:srgbClr val="245844"/>
                </a:solidFill>
                <a:latin typeface="Arial"/>
                <a:ea typeface="Arial"/>
                <a:cs typeface="Arial"/>
              </a:defRPr>
            </a:lvl4pPr>
            <a:lvl5pPr>
              <a:defRPr sz="2250" b="1">
                <a:solidFill>
                  <a:srgbClr val="245844"/>
                </a:solidFill>
                <a:latin typeface="Arial"/>
                <a:ea typeface="Arial"/>
                <a:cs typeface="Arial"/>
              </a:defRPr>
            </a:lvl5pPr>
            <a:lvl6pPr>
              <a:defRPr sz="2250" b="1">
                <a:solidFill>
                  <a:srgbClr val="245844"/>
                </a:solidFill>
                <a:latin typeface="Arial"/>
                <a:ea typeface="Arial"/>
                <a:cs typeface="Arial"/>
              </a:defRPr>
            </a:lvl6pPr>
            <a:lvl7pPr>
              <a:defRPr sz="2250" b="1">
                <a:solidFill>
                  <a:srgbClr val="245844"/>
                </a:solidFill>
                <a:latin typeface="Arial"/>
                <a:ea typeface="Arial"/>
                <a:cs typeface="Arial"/>
              </a:defRPr>
            </a:lvl7pPr>
            <a:lvl8pPr>
              <a:defRPr sz="2250" b="1">
                <a:solidFill>
                  <a:srgbClr val="245844"/>
                </a:solidFill>
                <a:latin typeface="Arial"/>
                <a:ea typeface="Arial"/>
                <a:cs typeface="Arial"/>
              </a:defRPr>
            </a:lvl8pPr>
            <a:lvl9pPr>
              <a:defRPr sz="2250" b="1">
                <a:solidFill>
                  <a:srgbClr val="245844"/>
                </a:solidFill>
                <a:latin typeface="Arial"/>
                <a:ea typeface="Arial"/>
                <a:cs typeface="Arial"/>
              </a:defRPr>
            </a:lvl9pPr>
          </a:lstStyle>
          <a:p xmlns:a="http://schemas.openxmlformats.org/drawingml/2006/main">
            <a:pPr>
              <a:defRPr sz="2250" b="1">
                <a:solidFill>
                  <a:srgbClr val="245844"/>
                </a:solidFill>
                <a:latin typeface="Arial"/>
                <a:ea typeface="Arial"/>
                <a:cs typeface="Arial"/>
              </a:defRPr>
            </a:pPr>
            <a:r>
              <a:rPr sz="2250" b="1">
                <a:solidFill>
                  <a:srgbClr val="245844"/>
                </a:solidFill>
                <a:latin typeface="Arial"/>
                <a:ea typeface="Arial"/>
                <a:cs typeface="Arial"/>
              </a:rPr>
              <a:t>DINOv2</a:t>
            </a:r>
          </a:p>
        </p:txBody>
      </p:sp>
      <p:sp>
        <p:nvSpPr>
          <p:cNvPr id="6" name="">
            <a:extLst xmlns:a="http://schemas.openxmlformats.org/drawingml/2006/main">
              <a:ext uri="{FF2B5EF4-FFF2-40B4-BE49-F238E27FC236}">
                <a16:creationId xmlns:a16="http://schemas.microsoft.com/office/drawing/2014/main" id="{50BBC9C9-7568-425F-A684-6BBB895A3475}"/>
              </a:ext>
            </a:extLst>
          </p:cNvPr>
          <p:cNvSpPr>
            <a:spLocks xmlns:a="http://schemas.openxmlformats.org/drawingml/2006/main" noGrp="1"/>
          </p:cNvSpPr>
          <p:nvPr/>
        </p:nvSpPr>
        <p:spPr>
          <a:xfrm xmlns:a="http://schemas.openxmlformats.org/drawingml/2006/main">
            <a:off x="6229350" y="220980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2362F"/>
                </a:solidFill>
                <a:latin typeface="Arial"/>
                <a:ea typeface="Arial"/>
                <a:cs typeface="Arial"/>
              </a:defRPr>
            </a:defPPr>
            <a:lvl1pPr>
              <a:defRPr sz="1950" b="0">
                <a:solidFill>
                  <a:srgbClr val="22362F"/>
                </a:solidFill>
                <a:latin typeface="Arial"/>
                <a:ea typeface="Arial"/>
                <a:cs typeface="Arial"/>
              </a:defRPr>
            </a:lvl1pPr>
            <a:lvl2pPr>
              <a:defRPr sz="1950" b="0">
                <a:solidFill>
                  <a:srgbClr val="22362F"/>
                </a:solidFill>
                <a:latin typeface="Arial"/>
                <a:ea typeface="Arial"/>
                <a:cs typeface="Arial"/>
              </a:defRPr>
            </a:lvl2pPr>
            <a:lvl3pPr>
              <a:defRPr sz="1950" b="0">
                <a:solidFill>
                  <a:srgbClr val="22362F"/>
                </a:solidFill>
                <a:latin typeface="Arial"/>
                <a:ea typeface="Arial"/>
                <a:cs typeface="Arial"/>
              </a:defRPr>
            </a:lvl3pPr>
            <a:lvl4pPr>
              <a:defRPr sz="1950" b="0">
                <a:solidFill>
                  <a:srgbClr val="22362F"/>
                </a:solidFill>
                <a:latin typeface="Arial"/>
                <a:ea typeface="Arial"/>
                <a:cs typeface="Arial"/>
              </a:defRPr>
            </a:lvl4pPr>
            <a:lvl5pPr>
              <a:defRPr sz="1950" b="0">
                <a:solidFill>
                  <a:srgbClr val="22362F"/>
                </a:solidFill>
                <a:latin typeface="Arial"/>
                <a:ea typeface="Arial"/>
                <a:cs typeface="Arial"/>
              </a:defRPr>
            </a:lvl5pPr>
            <a:lvl6pPr>
              <a:defRPr sz="1950" b="0">
                <a:solidFill>
                  <a:srgbClr val="22362F"/>
                </a:solidFill>
                <a:latin typeface="Arial"/>
                <a:ea typeface="Arial"/>
                <a:cs typeface="Arial"/>
              </a:defRPr>
            </a:lvl6pPr>
            <a:lvl7pPr>
              <a:defRPr sz="1950" b="0">
                <a:solidFill>
                  <a:srgbClr val="22362F"/>
                </a:solidFill>
                <a:latin typeface="Arial"/>
                <a:ea typeface="Arial"/>
                <a:cs typeface="Arial"/>
              </a:defRPr>
            </a:lvl7pPr>
            <a:lvl8pPr>
              <a:defRPr sz="1950" b="0">
                <a:solidFill>
                  <a:srgbClr val="22362F"/>
                </a:solidFill>
                <a:latin typeface="Arial"/>
                <a:ea typeface="Arial"/>
                <a:cs typeface="Arial"/>
              </a:defRPr>
            </a:lvl8pPr>
            <a:lvl9pPr>
              <a:defRPr sz="1950" b="0">
                <a:solidFill>
                  <a:srgbClr val="22362F"/>
                </a:solidFill>
                <a:latin typeface="Arial"/>
                <a:ea typeface="Arial"/>
                <a:cs typeface="Arial"/>
              </a:defRPr>
            </a:lvl9pPr>
          </a:lstStyle>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Oquab et al. (2023)</a:t>
            </a:r>
          </a:p>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arxiv.org/abs/2304.07193</a:t>
            </a:r>
          </a:p>
        </p:txBody>
      </p:sp>
      <p:sp>
        <p:nvSpPr>
          <p:cNvPr id="7" name="">
            <a:extLst xmlns:a="http://schemas.openxmlformats.org/drawingml/2006/main">
              <a:ext uri="{FF2B5EF4-FFF2-40B4-BE49-F238E27FC236}">
                <a16:creationId xmlns:a16="http://schemas.microsoft.com/office/drawing/2014/main" id="{5B3AE70C-F3D1-446C-9146-7F704FB2EA01}"/>
              </a:ext>
            </a:extLst>
          </p:cNvPr>
          <p:cNvSpPr>
            <a:spLocks xmlns:a="http://schemas.openxmlformats.org/drawingml/2006/main" noGrp="1"/>
          </p:cNvSpPr>
          <p:nvPr/>
        </p:nvSpPr>
        <p:spPr>
          <a:xfrm xmlns:a="http://schemas.openxmlformats.org/drawingml/2006/main">
            <a:off x="609600" y="36480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44"/>
                </a:solidFill>
                <a:latin typeface="Arial"/>
                <a:ea typeface="Arial"/>
                <a:cs typeface="Arial"/>
              </a:defRPr>
            </a:defPPr>
            <a:lvl1pPr>
              <a:defRPr sz="2250" b="1">
                <a:solidFill>
                  <a:srgbClr val="245844"/>
                </a:solidFill>
                <a:latin typeface="Arial"/>
                <a:ea typeface="Arial"/>
                <a:cs typeface="Arial"/>
              </a:defRPr>
            </a:lvl1pPr>
            <a:lvl2pPr>
              <a:defRPr sz="2250" b="1">
                <a:solidFill>
                  <a:srgbClr val="245844"/>
                </a:solidFill>
                <a:latin typeface="Arial"/>
                <a:ea typeface="Arial"/>
                <a:cs typeface="Arial"/>
              </a:defRPr>
            </a:lvl2pPr>
            <a:lvl3pPr>
              <a:defRPr sz="2250" b="1">
                <a:solidFill>
                  <a:srgbClr val="245844"/>
                </a:solidFill>
                <a:latin typeface="Arial"/>
                <a:ea typeface="Arial"/>
                <a:cs typeface="Arial"/>
              </a:defRPr>
            </a:lvl3pPr>
            <a:lvl4pPr>
              <a:defRPr sz="2250" b="1">
                <a:solidFill>
                  <a:srgbClr val="245844"/>
                </a:solidFill>
                <a:latin typeface="Arial"/>
                <a:ea typeface="Arial"/>
                <a:cs typeface="Arial"/>
              </a:defRPr>
            </a:lvl4pPr>
            <a:lvl5pPr>
              <a:defRPr sz="2250" b="1">
                <a:solidFill>
                  <a:srgbClr val="245844"/>
                </a:solidFill>
                <a:latin typeface="Arial"/>
                <a:ea typeface="Arial"/>
                <a:cs typeface="Arial"/>
              </a:defRPr>
            </a:lvl5pPr>
            <a:lvl6pPr>
              <a:defRPr sz="2250" b="1">
                <a:solidFill>
                  <a:srgbClr val="245844"/>
                </a:solidFill>
                <a:latin typeface="Arial"/>
                <a:ea typeface="Arial"/>
                <a:cs typeface="Arial"/>
              </a:defRPr>
            </a:lvl6pPr>
            <a:lvl7pPr>
              <a:defRPr sz="2250" b="1">
                <a:solidFill>
                  <a:srgbClr val="245844"/>
                </a:solidFill>
                <a:latin typeface="Arial"/>
                <a:ea typeface="Arial"/>
                <a:cs typeface="Arial"/>
              </a:defRPr>
            </a:lvl7pPr>
            <a:lvl8pPr>
              <a:defRPr sz="2250" b="1">
                <a:solidFill>
                  <a:srgbClr val="245844"/>
                </a:solidFill>
                <a:latin typeface="Arial"/>
                <a:ea typeface="Arial"/>
                <a:cs typeface="Arial"/>
              </a:defRPr>
            </a:lvl8pPr>
            <a:lvl9pPr>
              <a:defRPr sz="2250" b="1">
                <a:solidFill>
                  <a:srgbClr val="245844"/>
                </a:solidFill>
                <a:latin typeface="Arial"/>
                <a:ea typeface="Arial"/>
                <a:cs typeface="Arial"/>
              </a:defRPr>
            </a:lvl9pPr>
          </a:lstStyle>
          <a:p xmlns:a="http://schemas.openxmlformats.org/drawingml/2006/main">
            <a:pPr>
              <a:defRPr sz="2250" b="1">
                <a:solidFill>
                  <a:srgbClr val="245844"/>
                </a:solidFill>
                <a:latin typeface="Arial"/>
                <a:ea typeface="Arial"/>
                <a:cs typeface="Arial"/>
              </a:defRPr>
            </a:pPr>
            <a:r>
              <a:rPr sz="2250" b="1">
                <a:solidFill>
                  <a:srgbClr val="245844"/>
                </a:solidFill>
                <a:latin typeface="Arial"/>
                <a:ea typeface="Arial"/>
                <a:cs typeface="Arial"/>
              </a:rPr>
              <a:t>Bean disease photographs</a:t>
            </a:r>
          </a:p>
        </p:txBody>
      </p:sp>
      <p:sp>
        <p:nvSpPr>
          <p:cNvPr id="8" name="">
            <a:extLst xmlns:a="http://schemas.openxmlformats.org/drawingml/2006/main">
              <a:ext uri="{FF2B5EF4-FFF2-40B4-BE49-F238E27FC236}">
                <a16:creationId xmlns:a16="http://schemas.microsoft.com/office/drawing/2014/main" id="{3F1AC3AB-CF23-4595-AF25-2580D371425F}"/>
              </a:ext>
            </a:extLst>
          </p:cNvPr>
          <p:cNvSpPr>
            <a:spLocks xmlns:a="http://schemas.openxmlformats.org/drawingml/2006/main" noGrp="1"/>
          </p:cNvSpPr>
          <p:nvPr/>
        </p:nvSpPr>
        <p:spPr>
          <a:xfrm xmlns:a="http://schemas.openxmlformats.org/drawingml/2006/main">
            <a:off x="609600" y="42481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2362F"/>
                </a:solidFill>
                <a:latin typeface="Arial"/>
                <a:ea typeface="Arial"/>
                <a:cs typeface="Arial"/>
              </a:defRPr>
            </a:defPPr>
            <a:lvl1pPr>
              <a:defRPr sz="1950" b="0">
                <a:solidFill>
                  <a:srgbClr val="22362F"/>
                </a:solidFill>
                <a:latin typeface="Arial"/>
                <a:ea typeface="Arial"/>
                <a:cs typeface="Arial"/>
              </a:defRPr>
            </a:lvl1pPr>
            <a:lvl2pPr>
              <a:defRPr sz="1950" b="0">
                <a:solidFill>
                  <a:srgbClr val="22362F"/>
                </a:solidFill>
                <a:latin typeface="Arial"/>
                <a:ea typeface="Arial"/>
                <a:cs typeface="Arial"/>
              </a:defRPr>
            </a:lvl2pPr>
            <a:lvl3pPr>
              <a:defRPr sz="1950" b="0">
                <a:solidFill>
                  <a:srgbClr val="22362F"/>
                </a:solidFill>
                <a:latin typeface="Arial"/>
                <a:ea typeface="Arial"/>
                <a:cs typeface="Arial"/>
              </a:defRPr>
            </a:lvl3pPr>
            <a:lvl4pPr>
              <a:defRPr sz="1950" b="0">
                <a:solidFill>
                  <a:srgbClr val="22362F"/>
                </a:solidFill>
                <a:latin typeface="Arial"/>
                <a:ea typeface="Arial"/>
                <a:cs typeface="Arial"/>
              </a:defRPr>
            </a:lvl4pPr>
            <a:lvl5pPr>
              <a:defRPr sz="1950" b="0">
                <a:solidFill>
                  <a:srgbClr val="22362F"/>
                </a:solidFill>
                <a:latin typeface="Arial"/>
                <a:ea typeface="Arial"/>
                <a:cs typeface="Arial"/>
              </a:defRPr>
            </a:lvl5pPr>
            <a:lvl6pPr>
              <a:defRPr sz="1950" b="0">
                <a:solidFill>
                  <a:srgbClr val="22362F"/>
                </a:solidFill>
                <a:latin typeface="Arial"/>
                <a:ea typeface="Arial"/>
                <a:cs typeface="Arial"/>
              </a:defRPr>
            </a:lvl6pPr>
            <a:lvl7pPr>
              <a:defRPr sz="1950" b="0">
                <a:solidFill>
                  <a:srgbClr val="22362F"/>
                </a:solidFill>
                <a:latin typeface="Arial"/>
                <a:ea typeface="Arial"/>
                <a:cs typeface="Arial"/>
              </a:defRPr>
            </a:lvl7pPr>
            <a:lvl8pPr>
              <a:defRPr sz="1950" b="0">
                <a:solidFill>
                  <a:srgbClr val="22362F"/>
                </a:solidFill>
                <a:latin typeface="Arial"/>
                <a:ea typeface="Arial"/>
                <a:cs typeface="Arial"/>
              </a:defRPr>
            </a:lvl8pPr>
            <a:lvl9pPr>
              <a:defRPr sz="1950" b="0">
                <a:solidFill>
                  <a:srgbClr val="22362F"/>
                </a:solidFill>
                <a:latin typeface="Arial"/>
                <a:ea typeface="Arial"/>
                <a:cs typeface="Arial"/>
              </a:defRPr>
            </a:lvl9pPr>
          </a:lstStyle>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Makerere AI Lab</a:t>
            </a:r>
          </a:p>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github.com/AI-Lab-Makerere/ibean</a:t>
            </a:r>
          </a:p>
        </p:txBody>
      </p:sp>
      <p:sp>
        <p:nvSpPr>
          <p:cNvPr id="9" name="">
            <a:extLst xmlns:a="http://schemas.openxmlformats.org/drawingml/2006/main">
              <a:ext uri="{FF2B5EF4-FFF2-40B4-BE49-F238E27FC236}">
                <a16:creationId xmlns:a16="http://schemas.microsoft.com/office/drawing/2014/main" id="{0AAFC085-622D-48AF-AF1F-22F6D564C883}"/>
              </a:ext>
            </a:extLst>
          </p:cNvPr>
          <p:cNvSpPr>
            <a:spLocks xmlns:a="http://schemas.openxmlformats.org/drawingml/2006/main" noGrp="1"/>
          </p:cNvSpPr>
          <p:nvPr/>
        </p:nvSpPr>
        <p:spPr>
          <a:xfrm xmlns:a="http://schemas.openxmlformats.org/drawingml/2006/main">
            <a:off x="6229350" y="364807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1">
                <a:solidFill>
                  <a:srgbClr val="245844"/>
                </a:solidFill>
                <a:latin typeface="Arial"/>
                <a:ea typeface="Arial"/>
                <a:cs typeface="Arial"/>
              </a:defRPr>
            </a:defPPr>
            <a:lvl1pPr>
              <a:defRPr sz="2250" b="1">
                <a:solidFill>
                  <a:srgbClr val="245844"/>
                </a:solidFill>
                <a:latin typeface="Arial"/>
                <a:ea typeface="Arial"/>
                <a:cs typeface="Arial"/>
              </a:defRPr>
            </a:lvl1pPr>
            <a:lvl2pPr>
              <a:defRPr sz="2250" b="1">
                <a:solidFill>
                  <a:srgbClr val="245844"/>
                </a:solidFill>
                <a:latin typeface="Arial"/>
                <a:ea typeface="Arial"/>
                <a:cs typeface="Arial"/>
              </a:defRPr>
            </a:lvl2pPr>
            <a:lvl3pPr>
              <a:defRPr sz="2250" b="1">
                <a:solidFill>
                  <a:srgbClr val="245844"/>
                </a:solidFill>
                <a:latin typeface="Arial"/>
                <a:ea typeface="Arial"/>
                <a:cs typeface="Arial"/>
              </a:defRPr>
            </a:lvl3pPr>
            <a:lvl4pPr>
              <a:defRPr sz="2250" b="1">
                <a:solidFill>
                  <a:srgbClr val="245844"/>
                </a:solidFill>
                <a:latin typeface="Arial"/>
                <a:ea typeface="Arial"/>
                <a:cs typeface="Arial"/>
              </a:defRPr>
            </a:lvl4pPr>
            <a:lvl5pPr>
              <a:defRPr sz="2250" b="1">
                <a:solidFill>
                  <a:srgbClr val="245844"/>
                </a:solidFill>
                <a:latin typeface="Arial"/>
                <a:ea typeface="Arial"/>
                <a:cs typeface="Arial"/>
              </a:defRPr>
            </a:lvl5pPr>
            <a:lvl6pPr>
              <a:defRPr sz="2250" b="1">
                <a:solidFill>
                  <a:srgbClr val="245844"/>
                </a:solidFill>
                <a:latin typeface="Arial"/>
                <a:ea typeface="Arial"/>
                <a:cs typeface="Arial"/>
              </a:defRPr>
            </a:lvl6pPr>
            <a:lvl7pPr>
              <a:defRPr sz="2250" b="1">
                <a:solidFill>
                  <a:srgbClr val="245844"/>
                </a:solidFill>
                <a:latin typeface="Arial"/>
                <a:ea typeface="Arial"/>
                <a:cs typeface="Arial"/>
              </a:defRPr>
            </a:lvl7pPr>
            <a:lvl8pPr>
              <a:defRPr sz="2250" b="1">
                <a:solidFill>
                  <a:srgbClr val="245844"/>
                </a:solidFill>
                <a:latin typeface="Arial"/>
                <a:ea typeface="Arial"/>
                <a:cs typeface="Arial"/>
              </a:defRPr>
            </a:lvl8pPr>
            <a:lvl9pPr>
              <a:defRPr sz="2250" b="1">
                <a:solidFill>
                  <a:srgbClr val="245844"/>
                </a:solidFill>
                <a:latin typeface="Arial"/>
                <a:ea typeface="Arial"/>
                <a:cs typeface="Arial"/>
              </a:defRPr>
            </a:lvl9pPr>
          </a:lstStyle>
          <a:p xmlns:a="http://schemas.openxmlformats.org/drawingml/2006/main">
            <a:pPr>
              <a:defRPr sz="2250" b="1">
                <a:solidFill>
                  <a:srgbClr val="245844"/>
                </a:solidFill>
                <a:latin typeface="Arial"/>
                <a:ea typeface="Arial"/>
                <a:cs typeface="Arial"/>
              </a:defRPr>
            </a:pPr>
            <a:r>
              <a:rPr sz="2250" b="1">
                <a:solidFill>
                  <a:srgbClr val="245844"/>
                </a:solidFill>
                <a:latin typeface="Arial"/>
                <a:ea typeface="Arial"/>
                <a:cs typeface="Arial"/>
              </a:rPr>
              <a:t>Models and implementation</a:t>
            </a:r>
          </a:p>
        </p:txBody>
      </p:sp>
      <p:sp>
        <p:nvSpPr>
          <p:cNvPr id="10" name="">
            <a:extLst xmlns:a="http://schemas.openxmlformats.org/drawingml/2006/main">
              <a:ext uri="{FF2B5EF4-FFF2-40B4-BE49-F238E27FC236}">
                <a16:creationId xmlns:a16="http://schemas.microsoft.com/office/drawing/2014/main" id="{2579AE7F-4C0E-4D04-94C0-FE94E3C3D0DD}"/>
              </a:ext>
            </a:extLst>
          </p:cNvPr>
          <p:cNvSpPr>
            <a:spLocks xmlns:a="http://schemas.openxmlformats.org/drawingml/2006/main" noGrp="1"/>
          </p:cNvSpPr>
          <p:nvPr/>
        </p:nvSpPr>
        <p:spPr>
          <a:xfrm xmlns:a="http://schemas.openxmlformats.org/drawingml/2006/main">
            <a:off x="6229350" y="4248150"/>
            <a:ext cx="5143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950" b="0">
                <a:solidFill>
                  <a:srgbClr val="22362F"/>
                </a:solidFill>
                <a:latin typeface="Arial"/>
                <a:ea typeface="Arial"/>
                <a:cs typeface="Arial"/>
              </a:defRPr>
            </a:defPPr>
            <a:lvl1pPr>
              <a:defRPr sz="1950" b="0">
                <a:solidFill>
                  <a:srgbClr val="22362F"/>
                </a:solidFill>
                <a:latin typeface="Arial"/>
                <a:ea typeface="Arial"/>
                <a:cs typeface="Arial"/>
              </a:defRPr>
            </a:lvl1pPr>
            <a:lvl2pPr>
              <a:defRPr sz="1950" b="0">
                <a:solidFill>
                  <a:srgbClr val="22362F"/>
                </a:solidFill>
                <a:latin typeface="Arial"/>
                <a:ea typeface="Arial"/>
                <a:cs typeface="Arial"/>
              </a:defRPr>
            </a:lvl2pPr>
            <a:lvl3pPr>
              <a:defRPr sz="1950" b="0">
                <a:solidFill>
                  <a:srgbClr val="22362F"/>
                </a:solidFill>
                <a:latin typeface="Arial"/>
                <a:ea typeface="Arial"/>
                <a:cs typeface="Arial"/>
              </a:defRPr>
            </a:lvl3pPr>
            <a:lvl4pPr>
              <a:defRPr sz="1950" b="0">
                <a:solidFill>
                  <a:srgbClr val="22362F"/>
                </a:solidFill>
                <a:latin typeface="Arial"/>
                <a:ea typeface="Arial"/>
                <a:cs typeface="Arial"/>
              </a:defRPr>
            </a:lvl4pPr>
            <a:lvl5pPr>
              <a:defRPr sz="1950" b="0">
                <a:solidFill>
                  <a:srgbClr val="22362F"/>
                </a:solidFill>
                <a:latin typeface="Arial"/>
                <a:ea typeface="Arial"/>
                <a:cs typeface="Arial"/>
              </a:defRPr>
            </a:lvl5pPr>
            <a:lvl6pPr>
              <a:defRPr sz="1950" b="0">
                <a:solidFill>
                  <a:srgbClr val="22362F"/>
                </a:solidFill>
                <a:latin typeface="Arial"/>
                <a:ea typeface="Arial"/>
                <a:cs typeface="Arial"/>
              </a:defRPr>
            </a:lvl6pPr>
            <a:lvl7pPr>
              <a:defRPr sz="1950" b="0">
                <a:solidFill>
                  <a:srgbClr val="22362F"/>
                </a:solidFill>
                <a:latin typeface="Arial"/>
                <a:ea typeface="Arial"/>
                <a:cs typeface="Arial"/>
              </a:defRPr>
            </a:lvl7pPr>
            <a:lvl8pPr>
              <a:defRPr sz="1950" b="0">
                <a:solidFill>
                  <a:srgbClr val="22362F"/>
                </a:solidFill>
                <a:latin typeface="Arial"/>
                <a:ea typeface="Arial"/>
                <a:cs typeface="Arial"/>
              </a:defRPr>
            </a:lvl8pPr>
            <a:lvl9pPr>
              <a:defRPr sz="1950" b="0">
                <a:solidFill>
                  <a:srgbClr val="22362F"/>
                </a:solidFill>
                <a:latin typeface="Arial"/>
                <a:ea typeface="Arial"/>
                <a:cs typeface="Arial"/>
              </a:defRPr>
            </a:lvl9pPr>
          </a:lstStyle>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Official Google and Meta checkpoint cards</a:t>
            </a:r>
          </a:p>
          <a:p xmlns:a="http://schemas.openxmlformats.org/drawingml/2006/main">
            <a:pPr>
              <a:defRPr sz="1950" b="0">
                <a:solidFill>
                  <a:srgbClr val="22362F"/>
                </a:solidFill>
                <a:latin typeface="Arial"/>
                <a:ea typeface="Arial"/>
                <a:cs typeface="Arial"/>
              </a:defRPr>
            </a:pPr>
            <a:r>
              <a:rPr sz="1950" b="0">
                <a:solidFill>
                  <a:srgbClr val="22362F"/>
                </a:solidFill>
                <a:latin typeface="Arial"/>
                <a:ea typeface="Arial"/>
                <a:cs typeface="Arial"/>
              </a:rPr>
              <a:t>Hugging Face Transformers 4.57.1</a:t>
            </a:r>
          </a:p>
        </p:txBody>
      </p:sp>
      <p:sp>
        <p:nvSpPr>
          <p:cNvPr id="11" name="">
            <a:extLst xmlns:a="http://schemas.openxmlformats.org/drawingml/2006/main">
              <a:ext uri="{FF2B5EF4-FFF2-40B4-BE49-F238E27FC236}">
                <a16:creationId xmlns:a16="http://schemas.microsoft.com/office/drawing/2014/main" id="{BA76235B-7DA6-45CA-8ED5-47A96A26A0A9}"/>
              </a:ext>
            </a:extLst>
          </p:cNvPr>
          <p:cNvSpPr>
            <a:spLocks xmlns:a="http://schemas.openxmlformats.org/drawingml/2006/main" noGrp="1"/>
          </p:cNvSpPr>
          <p:nvPr/>
        </p:nvSpPr>
        <p:spPr>
          <a:xfrm xmlns:a="http://schemas.openxmlformats.org/drawingml/2006/main">
            <a:off x="609600" y="6115050"/>
            <a:ext cx="101917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0">
                <a:solidFill>
                  <a:srgbClr val="5D6864"/>
                </a:solidFill>
                <a:latin typeface="Arial"/>
                <a:ea typeface="Arial"/>
                <a:cs typeface="Arial"/>
              </a:defRPr>
            </a:defPPr>
            <a:lvl1pPr>
              <a:defRPr sz="1350" b="0">
                <a:solidFill>
                  <a:srgbClr val="5D6864"/>
                </a:solidFill>
                <a:latin typeface="Arial"/>
                <a:ea typeface="Arial"/>
                <a:cs typeface="Arial"/>
              </a:defRPr>
            </a:lvl1pPr>
            <a:lvl2pPr>
              <a:defRPr sz="1350" b="0">
                <a:solidFill>
                  <a:srgbClr val="5D6864"/>
                </a:solidFill>
                <a:latin typeface="Arial"/>
                <a:ea typeface="Arial"/>
                <a:cs typeface="Arial"/>
              </a:defRPr>
            </a:lvl2pPr>
            <a:lvl3pPr>
              <a:defRPr sz="1350" b="0">
                <a:solidFill>
                  <a:srgbClr val="5D6864"/>
                </a:solidFill>
                <a:latin typeface="Arial"/>
                <a:ea typeface="Arial"/>
                <a:cs typeface="Arial"/>
              </a:defRPr>
            </a:lvl3pPr>
            <a:lvl4pPr>
              <a:defRPr sz="1350" b="0">
                <a:solidFill>
                  <a:srgbClr val="5D6864"/>
                </a:solidFill>
                <a:latin typeface="Arial"/>
                <a:ea typeface="Arial"/>
                <a:cs typeface="Arial"/>
              </a:defRPr>
            </a:lvl4pPr>
            <a:lvl5pPr>
              <a:defRPr sz="1350" b="0">
                <a:solidFill>
                  <a:srgbClr val="5D6864"/>
                </a:solidFill>
                <a:latin typeface="Arial"/>
                <a:ea typeface="Arial"/>
                <a:cs typeface="Arial"/>
              </a:defRPr>
            </a:lvl5pPr>
            <a:lvl6pPr>
              <a:defRPr sz="1350" b="0">
                <a:solidFill>
                  <a:srgbClr val="5D6864"/>
                </a:solidFill>
                <a:latin typeface="Arial"/>
                <a:ea typeface="Arial"/>
                <a:cs typeface="Arial"/>
              </a:defRPr>
            </a:lvl6pPr>
            <a:lvl7pPr>
              <a:defRPr sz="1350" b="0">
                <a:solidFill>
                  <a:srgbClr val="5D6864"/>
                </a:solidFill>
                <a:latin typeface="Arial"/>
                <a:ea typeface="Arial"/>
                <a:cs typeface="Arial"/>
              </a:defRPr>
            </a:lvl7pPr>
            <a:lvl8pPr>
              <a:defRPr sz="1350" b="0">
                <a:solidFill>
                  <a:srgbClr val="5D6864"/>
                </a:solidFill>
                <a:latin typeface="Arial"/>
                <a:ea typeface="Arial"/>
                <a:cs typeface="Arial"/>
              </a:defRPr>
            </a:lvl8pPr>
            <a:lvl9pPr>
              <a:defRPr sz="1350" b="0">
                <a:solidFill>
                  <a:srgbClr val="5D6864"/>
                </a:solidFill>
                <a:latin typeface="Arial"/>
                <a:ea typeface="Arial"/>
                <a:cs typeface="Arial"/>
              </a:defRPr>
            </a:lvl9pPr>
          </a:lstStyle>
          <a:p xmlns:a="http://schemas.openxmlformats.org/drawingml/2006/main">
            <a:pPr>
              <a:defRPr sz="1350" b="0">
                <a:solidFill>
                  <a:srgbClr val="5D6864"/>
                </a:solidFill>
                <a:latin typeface="Arial"/>
                <a:ea typeface="Arial"/>
                <a:cs typeface="Arial"/>
              </a:defRPr>
            </a:pPr>
            <a:r>
              <a:rPr sz="1350" b="0">
                <a:solidFill>
                  <a:srgbClr val="5D6864"/>
                </a:solidFill>
                <a:latin typeface="Arial"/>
                <a:ea typeface="Arial"/>
                <a:cs typeface="Arial"/>
              </a:rPr>
              <a:t>Full references and attribution appear in the technical report and third-party notices.</a:t>
            </a:r>
          </a:p>
        </p:txBody>
      </p:sp>
    </p:spTree>
    <p:extLst>
      <p:ext uri="{BB962C8B-B14F-4D97-AF65-F5344CB8AC3E}">
        <p14:creationId xmlns:p14="http://schemas.microsoft.com/office/powerpoint/2010/main" val="206139994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2026-10-24T17:52:24.8080000Z</dcterms:created>
  <dcterms:modified xsi:type="dcterms:W3CDTF">2026-10-24T17:52:24.8080000Z</dcterms:modified>
</coreProperties>
</file>