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b0c5aebba5a4fb4" /><Relationship Type="http://schemas.openxmlformats.org/officeDocument/2006/relationships/extended-properties" Target="/docProps/app.xml" Id="R9ff6b72bd53a485b" /><Relationship Type="http://schemas.openxmlformats.org/officeDocument/2006/relationships/officeDocument" Target="/ppt/presentation.xml" Id="Re878c41b8db34338" /></Relationships>
</file>

<file path=ppt/presentation.xml><?xml version="1.0" encoding="utf-8"?>
<p:presentation xmlns:p="http://schemas.openxmlformats.org/presentationml/2006/main">
  <p:sldMasterIdLst>
    <p:sldMasterId xmlns:r="http://schemas.openxmlformats.org/officeDocument/2006/relationships" id="2147483648" r:id="R1fd6c3489d01442f"/>
  </p:sldMasterIdLst>
  <p:notesMasterIdLst>
    <p:notesMasterId xmlns:r="http://schemas.openxmlformats.org/officeDocument/2006/relationships" r:id="R829207944af348e6"/>
  </p:notesMasterIdLst>
  <p:sldIdLst>
    <p:sldId xmlns:r="http://schemas.openxmlformats.org/officeDocument/2006/relationships" id="256" r:id="Rc6b8d72aaaaa40e2"/>
    <p:sldId xmlns:r="http://schemas.openxmlformats.org/officeDocument/2006/relationships" id="257" r:id="R57a1cabfd5ad4606"/>
    <p:sldId xmlns:r="http://schemas.openxmlformats.org/officeDocument/2006/relationships" id="258" r:id="Re4a416ec78194903"/>
    <p:sldId xmlns:r="http://schemas.openxmlformats.org/officeDocument/2006/relationships" id="259" r:id="Rde964652203a419d"/>
    <p:sldId xmlns:r="http://schemas.openxmlformats.org/officeDocument/2006/relationships" id="260" r:id="R72c4c44913694afe"/>
    <p:sldId xmlns:r="http://schemas.openxmlformats.org/officeDocument/2006/relationships" id="261" r:id="R8b97d69c6afa4ad2"/>
    <p:sldId xmlns:r="http://schemas.openxmlformats.org/officeDocument/2006/relationships" id="262" r:id="R965f5c467e1c4cbd"/>
    <p:sldId xmlns:r="http://schemas.openxmlformats.org/officeDocument/2006/relationships" id="263" r:id="Re468cf380919413a"/>
    <p:sldId xmlns:r="http://schemas.openxmlformats.org/officeDocument/2006/relationships" id="264" r:id="R27f42ee924914a6a"/>
    <p:sldId xmlns:r="http://schemas.openxmlformats.org/officeDocument/2006/relationships" id="265" r:id="R032bf380d801423a"/>
    <p:sldId xmlns:r="http://schemas.openxmlformats.org/officeDocument/2006/relationships" id="266" r:id="R72f77382fc124b71"/>
    <p:sldId xmlns:r="http://schemas.openxmlformats.org/officeDocument/2006/relationships" id="267" r:id="R63ebcc9daac24e5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9909fd2981a4b91" /><Relationship Type="http://schemas.openxmlformats.org/officeDocument/2006/relationships/slideMaster" Target="/ppt/slideMasters/slideMaster1.xml" Id="R1fd6c3489d01442f" /><Relationship Type="http://schemas.openxmlformats.org/officeDocument/2006/relationships/notesMaster" Target="/ppt/notesMasters/notesMaster1.xml" Id="R829207944af348e6" /><Relationship Type="http://schemas.openxmlformats.org/officeDocument/2006/relationships/presProps" Target="/ppt/presProps.xml" Id="R99aa8c2d86ec4897" /><Relationship Type="http://schemas.openxmlformats.org/officeDocument/2006/relationships/tableStyles" Target="/ppt/tableStyles.xml" Id="Rfe79cae39adc40c4" /><Relationship Type="http://schemas.openxmlformats.org/officeDocument/2006/relationships/slide" Target="/ppt/slides/slide1.xml" Id="Rc6b8d72aaaaa40e2" /><Relationship Type="http://schemas.openxmlformats.org/officeDocument/2006/relationships/slide" Target="/ppt/slides/slide2.xml" Id="R57a1cabfd5ad4606" /><Relationship Type="http://schemas.openxmlformats.org/officeDocument/2006/relationships/slide" Target="/ppt/slides/slide3.xml" Id="Re4a416ec78194903" /><Relationship Type="http://schemas.openxmlformats.org/officeDocument/2006/relationships/slide" Target="/ppt/slides/slide4.xml" Id="Rde964652203a419d" /><Relationship Type="http://schemas.openxmlformats.org/officeDocument/2006/relationships/slide" Target="/ppt/slides/slide5.xml" Id="R72c4c44913694afe" /><Relationship Type="http://schemas.openxmlformats.org/officeDocument/2006/relationships/slide" Target="/ppt/slides/slide6.xml" Id="R8b97d69c6afa4ad2" /><Relationship Type="http://schemas.openxmlformats.org/officeDocument/2006/relationships/slide" Target="/ppt/slides/slide7.xml" Id="R965f5c467e1c4cbd" /><Relationship Type="http://schemas.openxmlformats.org/officeDocument/2006/relationships/slide" Target="/ppt/slides/slide8.xml" Id="Re468cf380919413a" /><Relationship Type="http://schemas.openxmlformats.org/officeDocument/2006/relationships/slide" Target="/ppt/slides/slide9.xml" Id="R27f42ee924914a6a" /><Relationship Type="http://schemas.openxmlformats.org/officeDocument/2006/relationships/slide" Target="/ppt/slides/slide10.xml" Id="R032bf380d801423a" /><Relationship Type="http://schemas.openxmlformats.org/officeDocument/2006/relationships/slide" Target="/ppt/slides/slide11.xml" Id="R72f77382fc124b71" /><Relationship Type="http://schemas.openxmlformats.org/officeDocument/2006/relationships/slide" Target="/ppt/slides/slide12.xml" Id="R63ebcc9daac24e5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16311e2cca44d9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0f9e8fc426475a" /><Relationship Type="http://schemas.openxmlformats.org/officeDocument/2006/relationships/notesMaster" Target="/ppt/notesMasters/notesMaster1.xml" Id="R3227c0b75b2d47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dc2e405351cf460e" /><Relationship Type="http://schemas.openxmlformats.org/officeDocument/2006/relationships/notesMaster" Target="/ppt/notesMasters/notesMaster1.xml" Id="Rd7176150e0f44d22" /></Relationships>
</file>

<file path=ppt/notesSlides/_rels/notesSlide3.xml.rels>&#65279;<?xml version="1.0" encoding="utf-8"?><Relationships xmlns="http://schemas.openxmlformats.org/package/2006/relationships"><Relationship Type="http://schemas.openxmlformats.org/officeDocument/2006/relationships/slide" Target="/ppt/slides/slide3.xml" Id="R5d57a05b6fe64e28" /><Relationship Type="http://schemas.openxmlformats.org/officeDocument/2006/relationships/notesMaster" Target="/ppt/notesMasters/notesMaster1.xml" Id="R03a14f08531f419d" /></Relationships>
</file>

<file path=ppt/notesSlides/_rels/notesSlide4.xml.rels>&#65279;<?xml version="1.0" encoding="utf-8"?><Relationships xmlns="http://schemas.openxmlformats.org/package/2006/relationships"><Relationship Type="http://schemas.openxmlformats.org/officeDocument/2006/relationships/slide" Target="/ppt/slides/slide4.xml" Id="R8b650d3e01764f2a" /><Relationship Type="http://schemas.openxmlformats.org/officeDocument/2006/relationships/notesMaster" Target="/ppt/notesMasters/notesMaster1.xml" Id="Rd939b4dfc6a74ff6" /></Relationships>
</file>

<file path=ppt/notesSlides/_rels/notesSlide5.xml.rels>&#65279;<?xml version="1.0" encoding="utf-8"?><Relationships xmlns="http://schemas.openxmlformats.org/package/2006/relationships"><Relationship Type="http://schemas.openxmlformats.org/officeDocument/2006/relationships/slide" Target="/ppt/slides/slide5.xml" Id="R27c4ecaac7024a7a" /><Relationship Type="http://schemas.openxmlformats.org/officeDocument/2006/relationships/notesMaster" Target="/ppt/notesMasters/notesMaster1.xml" Id="R8621883cbc4444d3" /></Relationships>
</file>

<file path=ppt/notesSlides/_rels/notesSlide6.xml.rels>&#65279;<?xml version="1.0" encoding="utf-8"?><Relationships xmlns="http://schemas.openxmlformats.org/package/2006/relationships"><Relationship Type="http://schemas.openxmlformats.org/officeDocument/2006/relationships/slide" Target="/ppt/slides/slide6.xml" Id="Rb6d3387303ee40c5" /><Relationship Type="http://schemas.openxmlformats.org/officeDocument/2006/relationships/notesMaster" Target="/ppt/notesMasters/notesMaster1.xml" Id="Rd331d92e0e7745e6" /></Relationships>
</file>

<file path=ppt/notesSlides/_rels/notesSlide7.xml.rels>&#65279;<?xml version="1.0" encoding="utf-8"?><Relationships xmlns="http://schemas.openxmlformats.org/package/2006/relationships"><Relationship Type="http://schemas.openxmlformats.org/officeDocument/2006/relationships/slide" Target="/ppt/slides/slide7.xml" Id="Re5385a5f1c724d33" /><Relationship Type="http://schemas.openxmlformats.org/officeDocument/2006/relationships/notesMaster" Target="/ppt/notesMasters/notesMaster1.xml" Id="R6b7696e951294ac2" /></Relationships>
</file>

<file path=ppt/notesSlides/_rels/notesSlide8.xml.rels>&#65279;<?xml version="1.0" encoding="utf-8"?><Relationships xmlns="http://schemas.openxmlformats.org/package/2006/relationships"><Relationship Type="http://schemas.openxmlformats.org/officeDocument/2006/relationships/slide" Target="/ppt/slides/slide8.xml" Id="R6ee1626eadb148ca" /><Relationship Type="http://schemas.openxmlformats.org/officeDocument/2006/relationships/notesMaster" Target="/ppt/notesMasters/notesMaster1.xml" Id="R92af5f3293064f62" /></Relationships>
</file>

<file path=ppt/notesSlides/_rels/notesSlide9.xml.rels>&#65279;<?xml version="1.0" encoding="utf-8"?><Relationships xmlns="http://schemas.openxmlformats.org/package/2006/relationships"><Relationship Type="http://schemas.openxmlformats.org/officeDocument/2006/relationships/slide" Target="/ppt/slides/slide9.xml" Id="Rdda302d29b614ccf" /><Relationship Type="http://schemas.openxmlformats.org/officeDocument/2006/relationships/notesMaster" Target="/ppt/notesMasters/notesMaster1.xml" Id="R4a0a8756709a48a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5d5835de71540f5" /><Relationship Type="http://schemas.openxmlformats.org/officeDocument/2006/relationships/notesMaster" Target="/ppt/notesMasters/notesMaster1.xml" Id="R8cdcfd1928594cb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bd0d1becffa4826" /><Relationship Type="http://schemas.openxmlformats.org/officeDocument/2006/relationships/notesMaster" Target="/ppt/notesMasters/notesMaster1.xml" Id="R450d78f99b5a449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61ff4bd7e994e4c" /><Relationship Type="http://schemas.openxmlformats.org/officeDocument/2006/relationships/notesMaster" Target="/ppt/notesMasters/notesMaster1.xml" Id="Rf061df821f5445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project asks whether a newer vision model improves bean-leaf disease classification. I compared SigLIP 2 with DINOv2, looking at accuracy, the benefit of fine-tuning, and the limits of the results.</a:t>
            </a:r>
          </a:p>
          <a:p xmlns:a="http://schemas.openxmlformats.org/drawingml/2006/main">
            <a:r>
              <a:t/>
            </a:r>
          </a:p>
          <a:p xmlns:a="http://schemas.openxmlformats.org/drawingml/2006/main">
            <a:r>
              <a:t>Sources</a:t>
            </a:r>
          </a:p>
          <a:p xmlns:a="http://schemas.openxmlformats.org/drawingml/2006/main">
            <a:r>
              <a:t>Tschannen et al. (2025), SigLIP 2: https://arxiv.org/abs/2502.14786</a:t>
            </a:r>
          </a:p>
          <a:p xmlns:a="http://schemas.openxmlformats.org/drawingml/2006/main">
            <a:r>
              <a:t>Oquab et al. (2023), DINOv2: https://arxiv.org/abs/2304.07193</a:t>
            </a:r>
          </a:p>
          <a:p xmlns:a="http://schemas.openxmlformats.org/drawingml/2006/main">
            <a:r>
              <a:t>Checkpoints: https://huggingface.co/google/siglip2-base-patch16-224 and https://huggingface.co/facebook/dinov2-small</a:t>
            </a:r>
          </a:p>
          <a:p xmlns:a="http://schemas.openxmlformats.org/drawingml/2006/main">
            <a:r>
              <a:t>Makerere AI Lab, Beans (MIT): https://github.com/AI-Lab-Makerere/ibean and https://huggingface.co/datasets/AI-Lab-Makerere/beans</a:t>
            </a:r>
          </a:p>
          <a:p xmlns:a="http://schemas.openxmlformats.org/drawingml/2006/main">
            <a:r>
              <a:t>Audited image IDs and SHA-256 hashes: report/presentation/sources.json. The photographs are unaltered dataset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task has three labels: angular leaf spot, bean rust and healthy. The photographs come from Ugandan fields, with varied backgrounds and lighting. The audited release contains 1,295 images. I kept the published split: 1,034 training, 133 validation and 128 test images. Every split contains all three classes. There were no corrupt files or exact duplicates. However, farm and plant identifiers are unavailable, so we cannot verify that the test images come from separate farms.</a:t>
            </a:r>
          </a:p>
          <a:p xmlns:a="http://schemas.openxmlformats.org/drawingml/2006/main">
            <a:r>
              <a:t/>
            </a:r>
          </a:p>
          <a:p xmlns:a="http://schemas.openxmlformats.org/drawingml/2006/main">
            <a:r>
              <a:t>Sources</a:t>
            </a:r>
          </a:p>
          <a:p xmlns:a="http://schemas.openxmlformats.org/drawingml/2006/main">
            <a:r>
              <a:t>Makerere AI Lab, Beans (MIT): https://github.com/AI-Lab-Makerere/ibean and https://huggingface.co/datasets/AI-Lab-Makerere/beans</a:t>
            </a:r>
          </a:p>
          <a:p xmlns:a="http://schemas.openxmlformats.org/drawingml/2006/main">
            <a:r>
              <a:t>Audited image IDs and SHA-256 hashes: report/presentation/sources.json. The photographs are unaltered dataset examples.</a:t>
            </a:r>
          </a:p>
          <a:p xmlns:a="http://schemas.openxmlformats.org/drawingml/2006/main">
            <a:r>
              <a:t>results/data_audit/audit_summary.json and manifest.csv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models start from public pretrained weights. The encoder turns image pixels into numerical features. A new classifier uses those features to predict the three labels. Frozen training changes only the classifier weights. Partial fine-tuning also changes the final two encoder blocks and final normalisation. Each setting starts again from the original pretrained checkpoint. SigLIP 2 supports text, but this experiment uses only its image encoder. Both models receive 224-pixel images with matching flips and rotations. Three seeds for each model and setting give twelve runs. Validation performance selects the saved model in each run.</a:t>
            </a:r>
          </a:p>
          <a:p xmlns:a="http://schemas.openxmlformats.org/drawingml/2006/main">
            <a:r>
              <a:t/>
            </a:r>
          </a:p>
          <a:p xmlns:a="http://schemas.openxmlformats.org/drawingml/2006/main">
            <a:r>
              <a:t>Sources</a:t>
            </a:r>
          </a:p>
          <a:p xmlns:a="http://schemas.openxmlformats.org/drawingml/2006/main">
            <a:r>
              <a:t>Tschannen et al. (2025), SigLIP 2: https://arxiv.org/abs/2502.14786</a:t>
            </a:r>
          </a:p>
          <a:p xmlns:a="http://schemas.openxmlformats.org/drawingml/2006/main">
            <a:r>
              <a:t>Oquab et al. (2023), DINOv2: https://arxiv.org/abs/2304.07193</a:t>
            </a:r>
          </a:p>
          <a:p xmlns:a="http://schemas.openxmlformats.org/drawingml/2006/main">
            <a:r>
              <a:t>Checkpoints: https://huggingface.co/google/siglip2-base-patch16-224 and https://huggingface.co/facebook/dinov2-small</a:t>
            </a:r>
          </a:p>
          <a:p xmlns:a="http://schemas.openxmlformats.org/drawingml/2006/main">
            <a:r>
              <a:t>src/followup_experiment.py and study_plan.json. SigLIP attention pooling remains frozen with gradient 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Macro-F1 gives each class equal weight. With frozen encoders, DINOv2 reaches 90.71 percent and SigLIP 2 reaches 96.90 percent, a difference of 6.18 percentage points. After partial fine-tuning, both average 96.90 percent. The three-seed means are practically tied, although that does not prove the models are equivalent. DINOv2 uses less allocated GPU memory. There are only 128 test images, and earlier DINOv2 results on this test set were already known. The comparison is therefore exploratory. The reference confidence interval includes zero, and the backup table shows the variation across runs.</a:t>
            </a:r>
          </a:p>
          <a:p xmlns:a="http://schemas.openxmlformats.org/drawingml/2006/main">
            <a:r>
              <a:t/>
            </a:r>
          </a:p>
          <a:p xmlns:a="http://schemas.openxmlformats.org/drawingml/2006/main">
            <a:r>
              <a:t>Sources</a:t>
            </a:r>
          </a:p>
          <a:p xmlns:a="http://schemas.openxmlformats.org/drawingml/2006/main">
            <a:r>
              <a:t>Original experiment: results/model_comparison/comparison_analysis.json and combined_summary.csv. The main results exclude the later notebook verification run.</a:t>
            </a:r>
          </a:p>
          <a:p xmlns:a="http://schemas.openxmlformats.org/drawingml/2006/main">
            <a:r>
              <a:t>Memory is maximum framework-allocated CUDA bytes across seeds, converted to decimal MB.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also checked for overfitting. This graph shows the partial SigLIP run with seed seventeen. Training loss generally falls, but validation loss rises sharply near the end. Validation macro-F1 selected epoch six, so that earlier version was retained. Across the selected runs, the clean training-to-test F1 gap averages 1.27 points for DINOv2 and 2.01 for SigLIP. Those gaps do not rule out overfitting, because validation already influenced model selection. Evaluation on images from independent farms would provide a stronger check.</a:t>
            </a:r>
          </a:p>
          <a:p xmlns:a="http://schemas.openxmlformats.org/drawingml/2006/main">
            <a:r>
              <a:t/>
            </a:r>
          </a:p>
          <a:p xmlns:a="http://schemas.openxmlformats.org/drawingml/2006/main">
            <a:r>
              <a:t>Sources</a:t>
            </a:r>
          </a:p>
          <a:p xmlns:a="http://schemas.openxmlformats.org/drawingml/2006/main">
            <a:r>
              <a:t>results/model_comparison/siglip2/runs/partial/seed_17/history.csv</a:t>
            </a:r>
          </a:p>
          <a:p xmlns:a="http://schemas.openxmlformats.org/drawingml/2006/main">
            <a:r>
              <a:t>results/model_comparison/combined_summary.csv. Training loss uses augmentation. Validation loss uses clean deterministic images. The editable chart rounds loss values to six decimals; the original history retains full precision.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photographs are labelled angular leaf spot, but SigLIP predicts rust. One wrong prediction has 98.65 percent confidence. A wrong disease label could lead to the wrong treatment. Missing disease could delay advice, while false alarms could add unnecessary cost. Other diseases or nutrient problems would still be forced into these three labels. We also lack evidence of equal performance across farms and devices. Phone quality and access to advice could affect who benefits. A future application needs independent field testing and expert review, with a validated way to refer uncertain cases rather than automatically prescribe treatment.</a:t>
            </a:r>
          </a:p>
          <a:p xmlns:a="http://schemas.openxmlformats.org/drawingml/2006/main">
            <a:r>
              <a:t/>
            </a:r>
          </a:p>
          <a:p xmlns:a="http://schemas.openxmlformats.org/drawingml/2006/main">
            <a:r>
              <a:t>Sources</a:t>
            </a:r>
          </a:p>
          <a:p xmlns:a="http://schemas.openxmlformats.org/drawingml/2006/main">
            <a:r>
              <a:t>Makerere AI Lab, Beans (MIT): https://github.com/AI-Lab-Makerere/ibean and https://huggingface.co/datasets/AI-Lab-Makerere/beans</a:t>
            </a:r>
          </a:p>
          <a:p xmlns:a="http://schemas.openxmlformats.org/drawingml/2006/main">
            <a:r>
              <a:t>Audited image IDs and SHA-256 hashes: report/presentation/sources.json. The photographs are unaltered dataset examples.</a:t>
            </a:r>
          </a:p>
          <a:p xmlns:a="http://schemas.openxmlformats.org/drawingml/2006/main">
            <a:r>
              <a:t>results/model_comparison/siglip_selected_examples.csv. Two highest-confidence errors from SigLIP 2 partial, seed 17.</a:t>
            </a:r>
          </a:p>
          <a:p xmlns:a="http://schemas.openxmlformats.org/drawingml/2006/main">
            <a:r>
              <a:t>Ethical implications: report/technical_report.md section7.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SigLIP 2 gave stronger frozen features. Partial fine-tuning brought DINOv2 to a similar average score in the original study, with fewer parameters and less allocated memory. These results describe this dataset. The next step is to collect images from independent farms and use validation data to choose training settings. Codex helped with research, code, analysis, writing and review. The report, executed notebook and saved predictions document the experiments and their limitations.</a:t>
            </a:r>
          </a:p>
          <a:p xmlns:a="http://schemas.openxmlformats.org/drawingml/2006/main">
            <a:r>
              <a:t/>
            </a:r>
          </a:p>
          <a:p xmlns:a="http://schemas.openxmlformats.org/drawingml/2006/main">
            <a:r>
              <a:t>Sources</a:t>
            </a:r>
          </a:p>
          <a:p xmlns:a="http://schemas.openxmlformats.org/drawingml/2006/main">
            <a:r>
              <a:t>Original experiment: results/model_comparison/comparison_analysis.json and combined_summary.csv. The main results exclude the later notebook verification run.</a:t>
            </a:r>
          </a:p>
          <a:p xmlns:a="http://schemas.openxmlformats.org/drawingml/2006/main">
            <a:r>
              <a:t>AI-assistance scope: ASSISTANCE.md. Report and notebook artifacts accompany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for questions about variability and cost. All values come from the original experiment. Plus/minus is sample standard deviation across three seeds. The bootstrap interval describes only the prespecified seed 17 partial-model pair, not the three-seed mean. Epoch medians pool completed epochs, so longer runs have greater weight. Raw times include unexplained long epochs, and are retained in the project. These observed laptop durations are not a controlled hardware benchmark.</a:t>
            </a:r>
          </a:p>
          <a:p xmlns:a="http://schemas.openxmlformats.org/drawingml/2006/main">
            <a:r>
              <a:t/>
            </a:r>
          </a:p>
          <a:p xmlns:a="http://schemas.openxmlformats.org/drawingml/2006/main">
            <a:r>
              <a:t>Sources</a:t>
            </a:r>
          </a:p>
          <a:p xmlns:a="http://schemas.openxmlformats.org/drawingml/2006/main">
            <a:r>
              <a:t>Original experiment: results/model_comparison/comparison_analysis.json and combined_summary.csv. The main results exclude the later notebook verification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Rows are true labels and columns are predictions. For the original reference seed 17, partial DINOv2 makes two errors, while partial SigLIP makes three. Both have zero disease-as-healthy errors among 86 diseased images. That small-sample count does not establish safety. DINOv2 mislabels one of 42 healthy images as rust. SigLIP confuses three angular-leaf-spot images with rust. Use these tables to distinguish overall correctness from disease-subtype errors.</a:t>
            </a:r>
          </a:p>
          <a:p xmlns:a="http://schemas.openxmlformats.org/drawingml/2006/main">
            <a:r>
              <a:t/>
            </a:r>
          </a:p>
          <a:p xmlns:a="http://schemas.openxmlformats.org/drawingml/2006/main">
            <a:r>
              <a:t>Sources</a:t>
            </a:r>
          </a:p>
          <a:p xmlns:a="http://schemas.openxmlformats.org/drawingml/2006/main">
            <a:r>
              <a:t>results/model_comparison/dinov2/runs/partial/seed_17/metrics_test.json</a:t>
            </a:r>
          </a:p>
          <a:p xmlns:a="http://schemas.openxmlformats.org/drawingml/2006/main">
            <a:r>
              <a:t>results/model_comparison/siglip2/runs/partial/seed_17/metrics_test.json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for implementation questions. Both pipelines use RGB and full-image 224 × 224 resizing. SigLIP follows native bilinear resizing and 0.5 channel normalisation. DINOv2 uses bicubic and ImageNet normalisation, replacing its official centre crop to retain peripheral regions. Online augmentation uses horizontal/vertical flips each with 0.5 probability and rotation within 15 degrees. SigLIP pools patch tokens with its pretrained attention pooler, kept frozen. DINO uses its class token. Partial adaptation updates only the final two blocks, final normalisation and classifier. Backbones remain in evaluation mode with gradients for intended parameters. No model-specific hyperparameter search was performed.</a:t>
            </a:r>
          </a:p>
          <a:p xmlns:a="http://schemas.openxmlformats.org/drawingml/2006/main">
            <a:r>
              <a:t/>
            </a:r>
          </a:p>
          <a:p xmlns:a="http://schemas.openxmlformats.org/drawingml/2006/main">
            <a:r>
              <a:t>Sources</a:t>
            </a:r>
          </a:p>
          <a:p xmlns:a="http://schemas.openxmlformats.org/drawingml/2006/main">
            <a:r>
              <a:t>src/followup_experiment.py</a:t>
            </a:r>
          </a:p>
          <a:p xmlns:a="http://schemas.openxmlformats.org/drawingml/2006/main">
            <a:r>
              <a:t>results/model_comparison/study_plan.json</a:t>
            </a:r>
          </a:p>
          <a:p xmlns:a="http://schemas.openxmlformats.org/drawingml/2006/main">
            <a:r>
              <a:t>Tschannen et al. (2025), SigLIP 2: https://arxiv.org/abs/2502.14786</a:t>
            </a:r>
          </a:p>
          <a:p xmlns:a="http://schemas.openxmlformats.org/drawingml/2006/main">
            <a:r>
              <a:t>Oquab et al. (2023), DINOv2: https://arxiv.org/abs/2304.07193</a:t>
            </a:r>
          </a:p>
          <a:p xmlns:a="http://schemas.openxmlformats.org/drawingml/2006/main">
            <a:r>
              <a:t>Checkpoints: https://huggingface.co/google/siglip2-base-patch16-224 and https://huggingface.co/facebook/dinov2-small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distinguishes the original scientific comparison from a later functionality check. The unchanged full notebook completed ten code cells and twelve fresh training runs locally, with zero errors, fresh model and data acquisition, evaluation and export. The local verification reused the pinned environment. It does not verify Colab’s separate installation branch. Reproduction partial means were 97.67 percent for DINOv2 and 96.90 for SigLIP. They stay separate rather than replacing the original report numbers. Controlled seeds do not guarantee identical CUDA output. A new independent dataset, rather than further reuse of this test set, would provide stronger confirmation.</a:t>
            </a:r>
          </a:p>
          <a:p xmlns:a="http://schemas.openxmlformats.org/drawingml/2006/main">
            <a:r>
              <a:t/>
            </a:r>
          </a:p>
          <a:p xmlns:a="http://schemas.openxmlformats.org/drawingml/2006/main">
            <a:r>
              <a:t>Sources</a:t>
            </a:r>
          </a:p>
          <a:p xmlns:a="http://schemas.openxmlformats.org/drawingml/2006/main">
            <a:r>
              <a:t>validation/full_notebook_local/execution_verification.json</a:t>
            </a:r>
          </a:p>
          <a:p xmlns:a="http://schemas.openxmlformats.org/drawingml/2006/main">
            <a:r>
              <a:t>validation/full_notebook_local/evidence/combined_summary.csv</a:t>
            </a:r>
          </a:p>
          <a:p xmlns:a="http://schemas.openxmlformats.org/drawingml/2006/main">
            <a:r>
              <a:t>results/model_comparison/notebook_bootstrap_validation.json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primary references for the presentation. The technical report contains the complete bibliography and pinned processor/implementation sources. Photograph attribution: Makerere AI Lab and dataset contributors. Dataset MIT and model Apache 2.0 notices accompany the project. AI-assisted implementation and drafting are disclosed in ASSISTANCE.md. No claim is made that the project used the latest available October 2026 model or established state-of-the-art Beans performance.</a:t>
            </a:r>
          </a:p>
          <a:p xmlns:a="http://schemas.openxmlformats.org/drawingml/2006/main">
            <a:r>
              <a:t/>
            </a:r>
          </a:p>
          <a:p xmlns:a="http://schemas.openxmlformats.org/drawingml/2006/main">
            <a:r>
              <a:t>Sources</a:t>
            </a:r>
          </a:p>
          <a:p xmlns:a="http://schemas.openxmlformats.org/drawingml/2006/main">
            <a:r>
              <a:t>Tschannen et al. (2025), SigLIP 2: https://arxiv.org/abs/2502.14786</a:t>
            </a:r>
          </a:p>
          <a:p xmlns:a="http://schemas.openxmlformats.org/drawingml/2006/main">
            <a:r>
              <a:t>Oquab et al. (2023), DINOv2: https://arxiv.org/abs/2304.07193</a:t>
            </a:r>
          </a:p>
          <a:p xmlns:a="http://schemas.openxmlformats.org/drawingml/2006/main">
            <a:r>
              <a:t>Checkpoints: https://huggingface.co/google/siglip2-base-patch16-224 and https://huggingface.co/facebook/dinov2-small</a:t>
            </a:r>
          </a:p>
          <a:p xmlns:a="http://schemas.openxmlformats.org/drawingml/2006/main">
            <a:r>
              <a:t>Makerere AI Lab, Beans (MIT): https://github.com/AI-Lab-Makerere/ibean and https://huggingface.co/datasets/AI-Lab-Makerere/beans</a:t>
            </a:r>
          </a:p>
          <a:p xmlns:a="http://schemas.openxmlformats.org/drawingml/2006/main">
            <a:r>
              <a:t>Audited image IDs and SHA-256 hashes: report/presentation/sources.json. The photographs are unaltered dataset examples.</a:t>
            </a:r>
          </a:p>
          <a:p xmlns:a="http://schemas.openxmlformats.org/drawingml/2006/main">
            <a:r>
              <a:t>https://github.com/huggingface/transformers/blob/v4.57.1/src/transformers/models/siglip/modeling_siglip.py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a7430017e444a0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b00a4fa0fb74fc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4604b6f4904474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b141c9106ef495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5c0229b3b8b4a3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64b873c7d6d489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DF9A572-250C-41FC-AFE3-2D0404E2554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A15CE7D-9800-41D6-A255-FA9893F6891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97B2AF4-5BB3-4AFE-8A96-65E0B81CBE9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C99C68-0EE0-48E6-ADE0-414BB8FEB44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F105F6-FED8-4B44-9D8B-69545A733CC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238A02E-4D6E-41A9-9934-C881D7A8BA9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D078D00-233B-4D6C-AB65-B39FCA1BA7F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CAB46F8-5501-4490-9F44-9966EF6FC5C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29BADF-B683-412F-81D6-0D49DFF1FAF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9F4FF6B-62C8-4614-8D71-19AC3AB9A97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cbf48b676b1445f" /><Relationship Type="http://schemas.openxmlformats.org/officeDocument/2006/relationships/slideLayout" Target="/ppt/slideLayouts/slideLayout1.xml" Id="R75d94c2bf8c544bc" /><Relationship Type="http://schemas.openxmlformats.org/officeDocument/2006/relationships/slideLayout" Target="/ppt/slideLayouts/slideLayout2.xml" Id="R42b2192e5d304afa" /><Relationship Type="http://schemas.openxmlformats.org/officeDocument/2006/relationships/slideLayout" Target="/ppt/slideLayouts/slideLayout3.xml" Id="Rb8c9bba32ee247be" /><Relationship Type="http://schemas.openxmlformats.org/officeDocument/2006/relationships/slideLayout" Target="/ppt/slideLayouts/slideLayout4.xml" Id="Re88d9a3c5f4242d7" /><Relationship Type="http://schemas.openxmlformats.org/officeDocument/2006/relationships/slideLayout" Target="/ppt/slideLayouts/slideLayout5.xml" Id="Rc5fdaea29cec45d1" /><Relationship Type="http://schemas.openxmlformats.org/officeDocument/2006/relationships/slideLayout" Target="/ppt/slideLayouts/slideLayout6.xml" Id="Reae634cca915424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5d94c2bf8c544bc"/>
    <p:sldLayoutId xmlns:r="http://schemas.openxmlformats.org/officeDocument/2006/relationships" id="2147483650" r:id="R42b2192e5d304afa"/>
    <p:sldLayoutId xmlns:r="http://schemas.openxmlformats.org/officeDocument/2006/relationships" id="2147483651" r:id="Rb8c9bba32ee247be"/>
    <p:sldLayoutId xmlns:r="http://schemas.openxmlformats.org/officeDocument/2006/relationships" id="2147483652" r:id="Re88d9a3c5f4242d7"/>
    <p:sldLayoutId xmlns:r="http://schemas.openxmlformats.org/officeDocument/2006/relationships" id="2147483653" r:id="Rc5fdaea29cec45d1"/>
    <p:sldLayoutId xmlns:r="http://schemas.openxmlformats.org/officeDocument/2006/relationships" id="2147483654" r:id="Reae634cca915424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e05931790384e7f" /><Relationship Type="http://schemas.openxmlformats.org/officeDocument/2006/relationships/image" Target="/ppt/media/image.jpeg" Id="R55e9438a3c214d97" /><Relationship Type="http://schemas.openxmlformats.org/officeDocument/2006/relationships/notesSlide" Target="/ppt/notesSlides/notesSlide1.xml" Id="R07a3d238addf4dc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1431f56f96c4e35" /><Relationship Type="http://schemas.openxmlformats.org/officeDocument/2006/relationships/image" Target="/ppt/media/image2.jpeg" Id="Rb564bdb301654255" /><Relationship Type="http://schemas.openxmlformats.org/officeDocument/2006/relationships/image" Target="/ppt/media/image3.jpeg" Id="R3488bdc89575479b" /><Relationship Type="http://schemas.openxmlformats.org/officeDocument/2006/relationships/image" Target="/ppt/media/image4.jpeg" Id="R22edbfc17ae84613" /><Relationship Type="http://schemas.openxmlformats.org/officeDocument/2006/relationships/notesSlide" Target="/ppt/notesSlides/notesSlide2.xml" Id="R588a95cf817543d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56a1cb04af74bdb" /><Relationship Type="http://schemas.openxmlformats.org/officeDocument/2006/relationships/notesSlide" Target="/ppt/notesSlides/notesSlide3.xml" Id="Rc46667d56e704c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4e56c82d86a4e34" /><Relationship Type="http://schemas.openxmlformats.org/officeDocument/2006/relationships/chart" Target="/ppt/slides/charts/chart1.xml" Id="Rc0620e2b9c4a42a0" /><Relationship Type="http://schemas.openxmlformats.org/officeDocument/2006/relationships/notesSlide" Target="/ppt/notesSlides/notesSlide4.xml" Id="R03459667ba5e494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62aa5fc4805423f" /><Relationship Type="http://schemas.openxmlformats.org/officeDocument/2006/relationships/chart" Target="/ppt/slides/charts/chart2.xml" Id="Rffc8289360ef4249" /><Relationship Type="http://schemas.openxmlformats.org/officeDocument/2006/relationships/notesSlide" Target="/ppt/notesSlides/notesSlide5.xml" Id="R98eda6aae7d54e6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f3d46d117b94274" /><Relationship Type="http://schemas.openxmlformats.org/officeDocument/2006/relationships/image" Target="/ppt/media/image5.jpeg" Id="Rfe56c96202484e8a" /><Relationship Type="http://schemas.openxmlformats.org/officeDocument/2006/relationships/image" Target="/ppt/media/image6.jpeg" Id="R1a4ccddae10d43c0" /><Relationship Type="http://schemas.openxmlformats.org/officeDocument/2006/relationships/notesSlide" Target="/ppt/notesSlides/notesSlide6.xml" Id="Rc3a53bd6e61f4f5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a7144ffc6f74f48" /><Relationship Type="http://schemas.openxmlformats.org/officeDocument/2006/relationships/notesSlide" Target="/ppt/notesSlides/notesSlide7.xml" Id="R5ebe3149a2084a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ca5afb9500b43f7" /><Relationship Type="http://schemas.openxmlformats.org/officeDocument/2006/relationships/notesSlide" Target="/ppt/notesSlides/notesSlide8.xml" Id="Rcf70bebb95b140b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1e79e39ae294b89" /><Relationship Type="http://schemas.openxmlformats.org/officeDocument/2006/relationships/notesSlide" Target="/ppt/notesSlides/notesSlide9.xml" Id="Rfa19f414ad16440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a868f9b958247ac" /><Relationship Type="http://schemas.openxmlformats.org/officeDocument/2006/relationships/notesSlide" Target="/ppt/notesSlides/notesSlide10.xml" Id="R61bd7ffef0d04c5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4f11e1b3ccd4014" /><Relationship Type="http://schemas.openxmlformats.org/officeDocument/2006/relationships/notesSlide" Target="/ppt/notesSlides/notesSlide11.xml" Id="R5b19a42b0749465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4e865e06e7440ed" /><Relationship Type="http://schemas.openxmlformats.org/officeDocument/2006/relationships/notesSlide" Target="/ppt/notesSlides/notesSlide12.xml" Id="Rf1b7670122c541e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DINOv2</c:v>
          </c:tx>
          <c:spPr>
            <a:solidFill xmlns:a="http://schemas.openxmlformats.org/drawingml/2006/main">
              <a:srgbClr val="34667C"/>
            </a:solidFill>
          </c:spPr>
          <c:invertIfNegative val="0"/>
          <c:cat>
            <c:strRef>
              <c:f>'Chart Data'!$A$2:$A$3</c:f>
              <c:strCache>
                <c:ptCount val="2"/>
                <c:pt idx="0">
                  <c:v>Frozen</c:v>
                </c:pt>
                <c:pt idx="1">
                  <c:v>Partial</c:v>
                </c:pt>
              </c:strCache>
            </c:strRef>
          </c:cat>
          <c:val>
            <c:numRef>
              <c:f>'Chart Data'!$B$2:$B$3</c:f>
              <c:numCache>
                <c:formatCode>0</c:formatCode>
                <c:ptCount val="2"/>
                <c:pt idx="0">
                  <c:v>90.71</c:v>
                </c:pt>
                <c:pt idx="1">
                  <c:v>96.9</c:v>
                </c:pt>
              </c:numCache>
            </c:numRef>
          </c:val>
        </c:ser>
        <c:ser>
          <c:idx val="1"/>
          <c:order val="1"/>
          <c:tx>
            <c:v>SigLIP 2</c:v>
          </c:tx>
          <c:spPr>
            <a:solidFill xmlns:a="http://schemas.openxmlformats.org/drawingml/2006/main">
              <a:srgbClr val="B35B38"/>
            </a:solidFill>
          </c:spPr>
          <c:invertIfNegative val="0"/>
          <c:cat>
            <c:strRef>
              <c:f>'Chart Data'!$C$2:$C$3</c:f>
              <c:strCache>
                <c:ptCount val="2"/>
                <c:pt idx="0">
                  <c:v>Frozen</c:v>
                </c:pt>
                <c:pt idx="1">
                  <c:v>Partial</c:v>
                </c:pt>
              </c:strCache>
            </c:strRef>
          </c:cat>
          <c:val>
            <c:numRef>
              <c:f>'Chart Data'!$D$2:$D$3</c:f>
              <c:numCache>
                <c:formatCode>0</c:formatCode>
                <c:ptCount val="2"/>
                <c:pt idx="0">
                  <c:v>96.9</c:v>
                </c:pt>
                <c:pt idx="1">
                  <c:v>96.9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00" b="1">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7DEDA"/>
              </a:solidFill>
            </a:ln>
          </c:spPr>
        </c:majorGridlines>
        <c:title>
          <c:tx>
            <c:rich>
              <a:bodyPr xmlns:a="http://schemas.openxmlformats.org/drawingml/2006/main"/>
              <a:lstStyle xmlns:a="http://schemas.openxmlformats.org/drawingml/2006/main"/>
              <a:p xmlns:a="http://schemas.openxmlformats.org/drawingml/2006/main">
                <a:r>
                  <a:rPr sz="1650">
                    <a:latin typeface="Arial"/>
                    <a:ea typeface="Arial"/>
                    <a:cs typeface="Arial"/>
                  </a:rPr>
                  <a:t>Mean test macro-F1 (%)</a:t>
                </a:r>
              </a:p>
            </c:rich>
          </c:tx>
          <c:overlay val="0"/>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crossBetween val="between"/>
        <c:majorUnit val="20"/>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800">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Training (augmented)</c:v>
          </c:tx>
          <c:spPr>
            <a:ln xmlns:a="http://schemas.openxmlformats.org/drawingml/2006/main" w="28575">
              <a:solidFill>
                <a:srgbClr val="34667C"/>
              </a:solidFill>
            </a:ln>
          </c:spPr>
          <c:marker>
            <c:symbol val="circle"/>
            <c:size val="6"/>
            <c:spPr>
              <a:solidFill xmlns:a="http://schemas.openxmlformats.org/drawingml/2006/main">
                <a:srgbClr val="34667C"/>
              </a:solidFill>
            </c:spPr>
          </c:marker>
          <c:cat>
            <c:numRef>
              <c:f>'Chart Data'!$A$2:$A$10</c:f>
              <c:numCache>
                <c:formatCode>General</c:formatCode>
                <c:ptCount val="9"/>
                <c:pt idx="0">
                  <c:v>1</c:v>
                </c:pt>
                <c:pt idx="1">
                  <c:v>2</c:v>
                </c:pt>
                <c:pt idx="2">
                  <c:v>3</c:v>
                </c:pt>
                <c:pt idx="3">
                  <c:v>4</c:v>
                </c:pt>
                <c:pt idx="4">
                  <c:v>5</c:v>
                </c:pt>
                <c:pt idx="5">
                  <c:v>6</c:v>
                </c:pt>
                <c:pt idx="6">
                  <c:v>7</c:v>
                </c:pt>
                <c:pt idx="7">
                  <c:v>8</c:v>
                </c:pt>
                <c:pt idx="8">
                  <c:v>9</c:v>
                </c:pt>
              </c:numCache>
            </c:numRef>
          </c:cat>
          <c:val>
            <c:numRef>
              <c:f>'Chart Data'!$B$2:$B$10</c:f>
              <c:numCache>
                <c:formatCode>0.0</c:formatCode>
                <c:ptCount val="9"/>
                <c:pt idx="0">
                  <c:v>0.445614</c:v>
                </c:pt>
                <c:pt idx="1">
                  <c:v>0.166866</c:v>
                </c:pt>
                <c:pt idx="2">
                  <c:v>0.120543</c:v>
                </c:pt>
                <c:pt idx="3">
                  <c:v>0.107842</c:v>
                </c:pt>
                <c:pt idx="4">
                  <c:v>0.104165</c:v>
                </c:pt>
                <c:pt idx="5">
                  <c:v>0.071029</c:v>
                </c:pt>
                <c:pt idx="6">
                  <c:v>0.114618</c:v>
                </c:pt>
                <c:pt idx="7">
                  <c:v>0.058987</c:v>
                </c:pt>
                <c:pt idx="8">
                  <c:v>0.050935</c:v>
                </c:pt>
              </c:numCache>
            </c:numRef>
          </c:val>
          <c:smooth val="0"/>
        </c:ser>
        <c:ser>
          <c:idx val="1"/>
          <c:order val="1"/>
          <c:tx>
            <c:v>Validation (clean)</c:v>
          </c:tx>
          <c:spPr>
            <a:ln xmlns:a="http://schemas.openxmlformats.org/drawingml/2006/main" w="28575">
              <a:solidFill>
                <a:srgbClr val="B35B38"/>
              </a:solidFill>
            </a:ln>
          </c:spPr>
          <c:marker>
            <c:symbol val="circle"/>
            <c:size val="6"/>
            <c:spPr>
              <a:solidFill xmlns:a="http://schemas.openxmlformats.org/drawingml/2006/main">
                <a:srgbClr val="B35B38"/>
              </a:solidFill>
            </c:spPr>
          </c:marker>
          <c:cat>
            <c:numRef>
              <c:f>'Chart Data'!$C$2:$C$10</c:f>
              <c:numCache>
                <c:formatCode>General</c:formatCode>
                <c:ptCount val="9"/>
                <c:pt idx="0">
                  <c:v>1</c:v>
                </c:pt>
                <c:pt idx="1">
                  <c:v>2</c:v>
                </c:pt>
                <c:pt idx="2">
                  <c:v>3</c:v>
                </c:pt>
                <c:pt idx="3">
                  <c:v>4</c:v>
                </c:pt>
                <c:pt idx="4">
                  <c:v>5</c:v>
                </c:pt>
                <c:pt idx="5">
                  <c:v>6</c:v>
                </c:pt>
                <c:pt idx="6">
                  <c:v>7</c:v>
                </c:pt>
                <c:pt idx="7">
                  <c:v>8</c:v>
                </c:pt>
                <c:pt idx="8">
                  <c:v>9</c:v>
                </c:pt>
              </c:numCache>
            </c:numRef>
          </c:cat>
          <c:val>
            <c:numRef>
              <c:f>'Chart Data'!$D$2:$D$10</c:f>
              <c:numCache>
                <c:formatCode>0.0</c:formatCode>
                <c:ptCount val="9"/>
                <c:pt idx="0">
                  <c:v>0.11977</c:v>
                </c:pt>
                <c:pt idx="1">
                  <c:v>0.219334</c:v>
                </c:pt>
                <c:pt idx="2">
                  <c:v>0.070011</c:v>
                </c:pt>
                <c:pt idx="3">
                  <c:v>0.202009</c:v>
                </c:pt>
                <c:pt idx="4">
                  <c:v>0.122351</c:v>
                </c:pt>
                <c:pt idx="5">
                  <c:v>0.061811</c:v>
                </c:pt>
                <c:pt idx="6">
                  <c:v>0.064868</c:v>
                </c:pt>
                <c:pt idx="7">
                  <c:v>0.07555</c:v>
                </c:pt>
                <c:pt idx="8">
                  <c:v>0.374607</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725">
                    <a:latin typeface="Arial"/>
                    <a:ea typeface="Arial"/>
                    <a:cs typeface="Arial"/>
                  </a:rPr>
                  <a:t>Epoch</a:t>
                </a:r>
              </a:p>
            </c:rich>
          </c:tx>
          <c:overlay val="0"/>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Arial"/>
                <a:ea typeface="Arial"/>
                <a:cs typeface="Arial"/>
              </a:defRPr>
            </a:pPr>
          </a:p>
        </c:txPr>
        <c:crossAx val="48672768"/>
      </c:catAx>
      <c:valAx>
        <c:axId val="48672768"/>
        <c:scaling>
          <c:orientation val="minMax"/>
          <c:max val="0.5"/>
          <c:min val="0"/>
        </c:scaling>
        <c:delete val="0"/>
        <c:axPos val="l"/>
        <c:majorGridlines>
          <c:spPr>
            <a:ln xmlns:a="http://schemas.openxmlformats.org/drawingml/2006/main" w="9525">
              <a:solidFill>
                <a:srgbClr val="D7DEDA"/>
              </a:solidFill>
            </a:ln>
          </c:spPr>
        </c:majorGridlines>
        <c:title>
          <c:tx>
            <c:rich>
              <a:bodyPr xmlns:a="http://schemas.openxmlformats.org/drawingml/2006/main"/>
              <a:lstStyle xmlns:a="http://schemas.openxmlformats.org/drawingml/2006/main"/>
              <a:p xmlns:a="http://schemas.openxmlformats.org/drawingml/2006/main">
                <a:r>
                  <a:rPr sz="1725">
                    <a:latin typeface="Arial"/>
                    <a:ea typeface="Arial"/>
                    <a:cs typeface="Arial"/>
                  </a:rPr>
                  <a:t>Cross-entropy loss</a:t>
                </a:r>
              </a:p>
            </c:rich>
          </c:tx>
          <c:overlay val="0"/>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Arial"/>
                <a:ea typeface="Arial"/>
                <a:cs typeface="Arial"/>
              </a:defRPr>
            </a:pPr>
          </a:p>
        </c:txPr>
        <c:crossAx val="48650112"/>
        <c:crossBetween val="between"/>
        <c:majorUnit val="0.1"/>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DCE1777-5C15-4177-880B-B24B32B4E425}"/>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a:t>
            </a:r>
          </a:p>
        </p:txBody>
      </p:sp>
      <p:sp>
        <p:nvSpPr>
          <p:cNvPr id="2" name="">
            <a:extLst xmlns:a="http://schemas.openxmlformats.org/drawingml/2006/main">
              <a:ext uri="{FF2B5EF4-FFF2-40B4-BE49-F238E27FC236}">
                <a16:creationId xmlns:a16="http://schemas.microsoft.com/office/drawing/2014/main" id="{B010794A-C437-4F34-AD39-73EA330E2FC0}"/>
              </a:ext>
            </a:extLst>
          </p:cNvPr>
          <p:cNvSpPr>
            <a:spLocks xmlns:a="http://schemas.openxmlformats.org/drawingml/2006/main" noGrp="1"/>
          </p:cNvSpPr>
          <p:nvPr/>
        </p:nvSpPr>
        <p:spPr>
          <a:xfrm xmlns:a="http://schemas.openxmlformats.org/drawingml/2006/main">
            <a:off x="609600" y="1428750"/>
            <a:ext cx="6191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800" b="1">
                <a:solidFill>
                  <a:srgbClr val="22362F"/>
                </a:solidFill>
                <a:latin typeface="Arial"/>
                <a:ea typeface="Arial"/>
                <a:cs typeface="Arial"/>
              </a:defRPr>
            </a:defPPr>
            <a:lvl1pPr>
              <a:buNone/>
              <a:defRPr sz="4800" b="1">
                <a:solidFill>
                  <a:srgbClr val="22362F"/>
                </a:solidFill>
                <a:latin typeface="Arial"/>
                <a:ea typeface="Arial"/>
                <a:cs typeface="Arial"/>
              </a:defRPr>
            </a:lvl1pPr>
            <a:lvl2pPr>
              <a:buNone/>
              <a:defRPr sz="4800" b="1">
                <a:solidFill>
                  <a:srgbClr val="22362F"/>
                </a:solidFill>
                <a:latin typeface="Arial"/>
                <a:ea typeface="Arial"/>
                <a:cs typeface="Arial"/>
              </a:defRPr>
            </a:lvl2pPr>
            <a:lvl3pPr>
              <a:buNone/>
              <a:defRPr sz="4800" b="1">
                <a:solidFill>
                  <a:srgbClr val="22362F"/>
                </a:solidFill>
                <a:latin typeface="Arial"/>
                <a:ea typeface="Arial"/>
                <a:cs typeface="Arial"/>
              </a:defRPr>
            </a:lvl3pPr>
            <a:lvl4pPr>
              <a:buNone/>
              <a:defRPr sz="4800" b="1">
                <a:solidFill>
                  <a:srgbClr val="22362F"/>
                </a:solidFill>
                <a:latin typeface="Arial"/>
                <a:ea typeface="Arial"/>
                <a:cs typeface="Arial"/>
              </a:defRPr>
            </a:lvl4pPr>
            <a:lvl5pPr>
              <a:buNone/>
              <a:defRPr sz="4800" b="1">
                <a:solidFill>
                  <a:srgbClr val="22362F"/>
                </a:solidFill>
                <a:latin typeface="Arial"/>
                <a:ea typeface="Arial"/>
                <a:cs typeface="Arial"/>
              </a:defRPr>
            </a:lvl5pPr>
            <a:lvl6pPr>
              <a:buNone/>
              <a:defRPr sz="4800" b="1">
                <a:solidFill>
                  <a:srgbClr val="22362F"/>
                </a:solidFill>
                <a:latin typeface="Arial"/>
                <a:ea typeface="Arial"/>
                <a:cs typeface="Arial"/>
              </a:defRPr>
            </a:lvl6pPr>
            <a:lvl7pPr>
              <a:buNone/>
              <a:defRPr sz="4800" b="1">
                <a:solidFill>
                  <a:srgbClr val="22362F"/>
                </a:solidFill>
                <a:latin typeface="Arial"/>
                <a:ea typeface="Arial"/>
                <a:cs typeface="Arial"/>
              </a:defRPr>
            </a:lvl7pPr>
            <a:lvl8pPr>
              <a:buNone/>
              <a:defRPr sz="4800" b="1">
                <a:solidFill>
                  <a:srgbClr val="22362F"/>
                </a:solidFill>
                <a:latin typeface="Arial"/>
                <a:ea typeface="Arial"/>
                <a:cs typeface="Arial"/>
              </a:defRPr>
            </a:lvl8pPr>
            <a:lvl9pPr>
              <a:buNone/>
              <a:defRPr sz="4800" b="1">
                <a:solidFill>
                  <a:srgbClr val="22362F"/>
                </a:solidFill>
                <a:latin typeface="Arial"/>
                <a:ea typeface="Arial"/>
                <a:cs typeface="Arial"/>
              </a:defRPr>
            </a:lvl9pPr>
          </a:lstStyle>
          <a:p xmlns:a="http://schemas.openxmlformats.org/drawingml/2006/main">
            <a:pPr>
              <a:buNone/>
              <a:defRPr sz="4800" b="1">
                <a:solidFill>
                  <a:srgbClr val="22362F"/>
                </a:solidFill>
                <a:latin typeface="Arial"/>
                <a:ea typeface="Arial"/>
                <a:cs typeface="Arial"/>
              </a:defRPr>
            </a:pPr>
            <a:r>
              <a:rPr sz="4800" b="1">
                <a:solidFill>
                  <a:srgbClr val="22362F"/>
                </a:solidFill>
                <a:latin typeface="Arial"/>
                <a:ea typeface="Arial"/>
                <a:cs typeface="Arial"/>
              </a:rPr>
              <a:t>Bean-leaf disease</a:t>
            </a:r>
          </a:p>
          <a:p xmlns:a="http://schemas.openxmlformats.org/drawingml/2006/main">
            <a:pPr>
              <a:buNone/>
              <a:defRPr sz="4800" b="1">
                <a:solidFill>
                  <a:srgbClr val="22362F"/>
                </a:solidFill>
                <a:latin typeface="Arial"/>
                <a:ea typeface="Arial"/>
                <a:cs typeface="Arial"/>
              </a:defRPr>
            </a:pPr>
            <a:r>
              <a:rPr sz="4800" b="1">
                <a:solidFill>
                  <a:srgbClr val="22362F"/>
                </a:solidFill>
                <a:latin typeface="Arial"/>
                <a:ea typeface="Arial"/>
                <a:cs typeface="Arial"/>
              </a:rPr>
              <a:t>classification</a:t>
            </a:r>
          </a:p>
        </p:txBody>
      </p:sp>
      <p:sp>
        <p:nvSpPr>
          <p:cNvPr id="3" name="">
            <a:extLst xmlns:a="http://schemas.openxmlformats.org/drawingml/2006/main">
              <a:ext uri="{FF2B5EF4-FFF2-40B4-BE49-F238E27FC236}">
                <a16:creationId xmlns:a16="http://schemas.microsoft.com/office/drawing/2014/main" id="{774F7DD6-456E-48E7-B3B1-6D9B17A2E940}"/>
              </a:ext>
            </a:extLst>
          </p:cNvPr>
          <p:cNvSpPr>
            <a:spLocks xmlns:a="http://schemas.openxmlformats.org/drawingml/2006/main" noGrp="1"/>
          </p:cNvSpPr>
          <p:nvPr/>
        </p:nvSpPr>
        <p:spPr>
          <a:xfrm xmlns:a="http://schemas.openxmlformats.org/drawingml/2006/main">
            <a:off x="609600" y="3476625"/>
            <a:ext cx="6000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0">
                <a:solidFill>
                  <a:srgbClr val="245844"/>
                </a:solidFill>
                <a:latin typeface="Arial"/>
                <a:ea typeface="Arial"/>
                <a:cs typeface="Arial"/>
              </a:defRPr>
            </a:defPPr>
            <a:lvl1pPr>
              <a:buNone/>
              <a:defRPr sz="2550" b="0">
                <a:solidFill>
                  <a:srgbClr val="245844"/>
                </a:solidFill>
                <a:latin typeface="Arial"/>
                <a:ea typeface="Arial"/>
                <a:cs typeface="Arial"/>
              </a:defRPr>
            </a:lvl1pPr>
            <a:lvl2pPr>
              <a:buNone/>
              <a:defRPr sz="2550" b="0">
                <a:solidFill>
                  <a:srgbClr val="245844"/>
                </a:solidFill>
                <a:latin typeface="Arial"/>
                <a:ea typeface="Arial"/>
                <a:cs typeface="Arial"/>
              </a:defRPr>
            </a:lvl2pPr>
            <a:lvl3pPr>
              <a:buNone/>
              <a:defRPr sz="2550" b="0">
                <a:solidFill>
                  <a:srgbClr val="245844"/>
                </a:solidFill>
                <a:latin typeface="Arial"/>
                <a:ea typeface="Arial"/>
                <a:cs typeface="Arial"/>
              </a:defRPr>
            </a:lvl3pPr>
            <a:lvl4pPr>
              <a:buNone/>
              <a:defRPr sz="2550" b="0">
                <a:solidFill>
                  <a:srgbClr val="245844"/>
                </a:solidFill>
                <a:latin typeface="Arial"/>
                <a:ea typeface="Arial"/>
                <a:cs typeface="Arial"/>
              </a:defRPr>
            </a:lvl4pPr>
            <a:lvl5pPr>
              <a:buNone/>
              <a:defRPr sz="2550" b="0">
                <a:solidFill>
                  <a:srgbClr val="245844"/>
                </a:solidFill>
                <a:latin typeface="Arial"/>
                <a:ea typeface="Arial"/>
                <a:cs typeface="Arial"/>
              </a:defRPr>
            </a:lvl5pPr>
            <a:lvl6pPr>
              <a:buNone/>
              <a:defRPr sz="2550" b="0">
                <a:solidFill>
                  <a:srgbClr val="245844"/>
                </a:solidFill>
                <a:latin typeface="Arial"/>
                <a:ea typeface="Arial"/>
                <a:cs typeface="Arial"/>
              </a:defRPr>
            </a:lvl6pPr>
            <a:lvl7pPr>
              <a:buNone/>
              <a:defRPr sz="2550" b="0">
                <a:solidFill>
                  <a:srgbClr val="245844"/>
                </a:solidFill>
                <a:latin typeface="Arial"/>
                <a:ea typeface="Arial"/>
                <a:cs typeface="Arial"/>
              </a:defRPr>
            </a:lvl7pPr>
            <a:lvl8pPr>
              <a:buNone/>
              <a:defRPr sz="2550" b="0">
                <a:solidFill>
                  <a:srgbClr val="245844"/>
                </a:solidFill>
                <a:latin typeface="Arial"/>
                <a:ea typeface="Arial"/>
                <a:cs typeface="Arial"/>
              </a:defRPr>
            </a:lvl8pPr>
            <a:lvl9pPr>
              <a:buNone/>
              <a:defRPr sz="2550" b="0">
                <a:solidFill>
                  <a:srgbClr val="245844"/>
                </a:solidFill>
                <a:latin typeface="Arial"/>
                <a:ea typeface="Arial"/>
                <a:cs typeface="Arial"/>
              </a:defRPr>
            </a:lvl9pPr>
          </a:lstStyle>
          <a:p xmlns:a="http://schemas.openxmlformats.org/drawingml/2006/main">
            <a:pPr>
              <a:buNone/>
              <a:defRPr sz="2550" b="0">
                <a:solidFill>
                  <a:srgbClr val="245844"/>
                </a:solidFill>
                <a:latin typeface="Arial"/>
                <a:ea typeface="Arial"/>
                <a:cs typeface="Arial"/>
              </a:defRPr>
            </a:pPr>
            <a:r>
              <a:rPr sz="2550" b="0">
                <a:solidFill>
                  <a:srgbClr val="245844"/>
                </a:solidFill>
                <a:latin typeface="Arial"/>
                <a:ea typeface="Arial"/>
                <a:cs typeface="Arial"/>
              </a:rPr>
              <a:t>SigLIP 2 and DINOv2</a:t>
            </a:r>
          </a:p>
        </p:txBody>
      </p:sp>
      <p:sp>
        <p:nvSpPr>
          <p:cNvPr id="4" name="">
            <a:extLst xmlns:a="http://schemas.openxmlformats.org/drawingml/2006/main">
              <a:ext uri="{FF2B5EF4-FFF2-40B4-BE49-F238E27FC236}">
                <a16:creationId xmlns:a16="http://schemas.microsoft.com/office/drawing/2014/main" id="{B99DCEAE-CEFD-4A2D-83E1-AB63F3BAA427}"/>
              </a:ext>
            </a:extLst>
          </p:cNvPr>
          <p:cNvSpPr>
            <a:spLocks xmlns:a="http://schemas.openxmlformats.org/drawingml/2006/main" noGrp="1"/>
          </p:cNvSpPr>
          <p:nvPr/>
        </p:nvSpPr>
        <p:spPr>
          <a:xfrm xmlns:a="http://schemas.openxmlformats.org/drawingml/2006/main">
            <a:off x="609600" y="4886325"/>
            <a:ext cx="561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864"/>
                </a:solidFill>
                <a:latin typeface="Arial"/>
                <a:ea typeface="Arial"/>
                <a:cs typeface="Arial"/>
              </a:defRPr>
            </a:defPPr>
            <a:lvl1pPr>
              <a:buNone/>
              <a:defRPr sz="1800" b="0">
                <a:solidFill>
                  <a:srgbClr val="5D6864"/>
                </a:solidFill>
                <a:latin typeface="Arial"/>
                <a:ea typeface="Arial"/>
                <a:cs typeface="Arial"/>
              </a:defRPr>
            </a:lvl1pPr>
            <a:lvl2pPr>
              <a:buNone/>
              <a:defRPr sz="1800" b="0">
                <a:solidFill>
                  <a:srgbClr val="5D6864"/>
                </a:solidFill>
                <a:latin typeface="Arial"/>
                <a:ea typeface="Arial"/>
                <a:cs typeface="Arial"/>
              </a:defRPr>
            </a:lvl2pPr>
            <a:lvl3pPr>
              <a:buNone/>
              <a:defRPr sz="1800" b="0">
                <a:solidFill>
                  <a:srgbClr val="5D6864"/>
                </a:solidFill>
                <a:latin typeface="Arial"/>
                <a:ea typeface="Arial"/>
                <a:cs typeface="Arial"/>
              </a:defRPr>
            </a:lvl3pPr>
            <a:lvl4pPr>
              <a:buNone/>
              <a:defRPr sz="1800" b="0">
                <a:solidFill>
                  <a:srgbClr val="5D6864"/>
                </a:solidFill>
                <a:latin typeface="Arial"/>
                <a:ea typeface="Arial"/>
                <a:cs typeface="Arial"/>
              </a:defRPr>
            </a:lvl4pPr>
            <a:lvl5pPr>
              <a:buNone/>
              <a:defRPr sz="1800" b="0">
                <a:solidFill>
                  <a:srgbClr val="5D6864"/>
                </a:solidFill>
                <a:latin typeface="Arial"/>
                <a:ea typeface="Arial"/>
                <a:cs typeface="Arial"/>
              </a:defRPr>
            </a:lvl5pPr>
            <a:lvl6pPr>
              <a:buNone/>
              <a:defRPr sz="1800" b="0">
                <a:solidFill>
                  <a:srgbClr val="5D6864"/>
                </a:solidFill>
                <a:latin typeface="Arial"/>
                <a:ea typeface="Arial"/>
                <a:cs typeface="Arial"/>
              </a:defRPr>
            </a:lvl6pPr>
            <a:lvl7pPr>
              <a:buNone/>
              <a:defRPr sz="1800" b="0">
                <a:solidFill>
                  <a:srgbClr val="5D6864"/>
                </a:solidFill>
                <a:latin typeface="Arial"/>
                <a:ea typeface="Arial"/>
                <a:cs typeface="Arial"/>
              </a:defRPr>
            </a:lvl7pPr>
            <a:lvl8pPr>
              <a:buNone/>
              <a:defRPr sz="1800" b="0">
                <a:solidFill>
                  <a:srgbClr val="5D6864"/>
                </a:solidFill>
                <a:latin typeface="Arial"/>
                <a:ea typeface="Arial"/>
                <a:cs typeface="Arial"/>
              </a:defRPr>
            </a:lvl8pPr>
            <a:lvl9pPr>
              <a:buNone/>
              <a:defRPr sz="1800" b="0">
                <a:solidFill>
                  <a:srgbClr val="5D6864"/>
                </a:solidFill>
                <a:latin typeface="Arial"/>
                <a:ea typeface="Arial"/>
                <a:cs typeface="Arial"/>
              </a:defRPr>
            </a:lvl9pPr>
          </a:lstStyle>
          <a:p xmlns:a="http://schemas.openxmlformats.org/drawingml/2006/main">
            <a:pPr>
              <a:buNone/>
              <a:defRPr sz="1800" b="0">
                <a:solidFill>
                  <a:srgbClr val="5D6864"/>
                </a:solidFill>
                <a:latin typeface="Arial"/>
                <a:ea typeface="Arial"/>
                <a:cs typeface="Arial"/>
              </a:defRPr>
            </a:pPr>
            <a:r>
              <a:rPr sz="1800" b="0">
                <a:solidFill>
                  <a:srgbClr val="5D6864"/>
                </a:solidFill>
                <a:latin typeface="Arial"/>
                <a:ea typeface="Arial"/>
                <a:cs typeface="Arial"/>
              </a:rPr>
              <a:t>Applied Vision Transformer Report</a:t>
            </a:r>
          </a:p>
          <a:p xmlns:a="http://schemas.openxmlformats.org/drawingml/2006/main">
            <a:pPr>
              <a:buNone/>
              <a:defRPr sz="1800" b="0">
                <a:solidFill>
                  <a:srgbClr val="5D6864"/>
                </a:solidFill>
                <a:latin typeface="Arial"/>
                <a:ea typeface="Arial"/>
                <a:cs typeface="Arial"/>
              </a:defRPr>
            </a:pPr>
            <a:r>
              <a:rPr sz="1800" b="0">
                <a:solidFill>
                  <a:srgbClr val="5D6864"/>
                </a:solidFill>
                <a:latin typeface="Arial"/>
                <a:ea typeface="Arial"/>
                <a:cs typeface="Arial"/>
              </a:rPr>
              <a:t>27 October 2026</a:t>
            </a:r>
          </a:p>
        </p:txBody>
      </p:sp>
      <p:pic>
        <p:nvPicPr>
          <p:cNvPr id="5" name="">
            <a:extLst xmlns:a="http://schemas.openxmlformats.org/drawingml/2006/main">
              <a:ext uri="{FF2B5EF4-FFF2-40B4-BE49-F238E27FC236}">
                <a16:creationId xmlns:a16="http://schemas.microsoft.com/office/drawing/2014/main" id="{3BD2B07C-9E09-4171-A5C2-5724C98A154B}"/>
              </a:ext>
            </a:extLst>
          </p:cNvPr>
          <p:cNvPicPr>
            <a:picLocks xmlns:a="http://schemas.openxmlformats.org/drawingml/2006/main" noChangeAspect="1"/>
          </p:cNvPicPr>
          <p:nvPr/>
        </p:nvPicPr>
        <p:blipFill>
          <a:blip xmlns:r="http://schemas.openxmlformats.org/officeDocument/2006/relationships" xmlns:a="http://schemas.openxmlformats.org/drawingml/2006/main" r:embed="R55e9438a3c214d97"/>
          <a:stretch xmlns:a="http://schemas.openxmlformats.org/drawingml/2006/main"/>
        </p:blipFill>
        <p:spPr>
          <a:xfrm xmlns:a="http://schemas.openxmlformats.org/drawingml/2006/main">
            <a:off x="7429500" y="1333500"/>
            <a:ext cx="4000500" cy="4000500"/>
          </a:xfrm>
          <a:prstGeom xmlns:a="http://schemas.openxmlformats.org/drawingml/2006/main" prst="rect">
            <a:avLst/>
          </a:prstGeom>
        </p:spPr>
      </p:pic>
    </p:spTree>
    <p:extLst>
      <p:ext uri="{BB962C8B-B14F-4D97-AF65-F5344CB8AC3E}">
        <p14:creationId xmlns:p14="http://schemas.microsoft.com/office/powerpoint/2010/main" val="10857673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BC9362A-A546-4582-B03E-48298319AA5B}"/>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Three classes in field photographs</a:t>
            </a:r>
          </a:p>
        </p:txBody>
      </p:sp>
      <p:sp>
        <p:nvSpPr>
          <p:cNvPr id="2" name="">
            <a:extLst xmlns:a="http://schemas.openxmlformats.org/drawingml/2006/main">
              <a:ext uri="{FF2B5EF4-FFF2-40B4-BE49-F238E27FC236}">
                <a16:creationId xmlns:a16="http://schemas.microsoft.com/office/drawing/2014/main" id="{5CAA9C77-5638-4FD1-B1D2-0E8CC0193E38}"/>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2</a:t>
            </a:r>
          </a:p>
        </p:txBody>
      </p:sp>
      <p:pic>
        <p:nvPicPr>
          <p:cNvPr id="3" name="">
            <a:extLst xmlns:a="http://schemas.openxmlformats.org/drawingml/2006/main">
              <a:ext uri="{FF2B5EF4-FFF2-40B4-BE49-F238E27FC236}">
                <a16:creationId xmlns:a16="http://schemas.microsoft.com/office/drawing/2014/main" id="{60387B6D-33B1-4FED-898B-F684C625CDBA}"/>
              </a:ext>
            </a:extLst>
          </p:cNvPr>
          <p:cNvPicPr>
            <a:picLocks xmlns:a="http://schemas.openxmlformats.org/drawingml/2006/main" noChangeAspect="1"/>
          </p:cNvPicPr>
          <p:nvPr/>
        </p:nvPicPr>
        <p:blipFill>
          <a:blip xmlns:r="http://schemas.openxmlformats.org/officeDocument/2006/relationships" xmlns:a="http://schemas.openxmlformats.org/drawingml/2006/main" r:embed="Rb564bdb301654255"/>
          <a:stretch xmlns:a="http://schemas.openxmlformats.org/drawingml/2006/main"/>
        </p:blipFill>
        <p:spPr>
          <a:xfrm xmlns:a="http://schemas.openxmlformats.org/drawingml/2006/main">
            <a:off x="609600" y="1476375"/>
            <a:ext cx="3143250" cy="31432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EBB6DC4-8C18-4396-A582-3D4986977255}"/>
              </a:ext>
            </a:extLst>
          </p:cNvPr>
          <p:cNvSpPr>
            <a:spLocks xmlns:a="http://schemas.openxmlformats.org/drawingml/2006/main" noGrp="1"/>
          </p:cNvSpPr>
          <p:nvPr/>
        </p:nvSpPr>
        <p:spPr>
          <a:xfrm xmlns:a="http://schemas.openxmlformats.org/drawingml/2006/main">
            <a:off x="609600" y="4800600"/>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2362F"/>
                </a:solidFill>
                <a:latin typeface="Arial"/>
                <a:ea typeface="Arial"/>
                <a:cs typeface="Arial"/>
              </a:defRPr>
            </a:defPPr>
            <a:lvl1pPr>
              <a:buNone/>
              <a:defRPr sz="2100" b="1">
                <a:solidFill>
                  <a:srgbClr val="22362F"/>
                </a:solidFill>
                <a:latin typeface="Arial"/>
                <a:ea typeface="Arial"/>
                <a:cs typeface="Arial"/>
              </a:defRPr>
            </a:lvl1pPr>
            <a:lvl2pPr>
              <a:buNone/>
              <a:defRPr sz="2100" b="1">
                <a:solidFill>
                  <a:srgbClr val="22362F"/>
                </a:solidFill>
                <a:latin typeface="Arial"/>
                <a:ea typeface="Arial"/>
                <a:cs typeface="Arial"/>
              </a:defRPr>
            </a:lvl2pPr>
            <a:lvl3pPr>
              <a:buNone/>
              <a:defRPr sz="2100" b="1">
                <a:solidFill>
                  <a:srgbClr val="22362F"/>
                </a:solidFill>
                <a:latin typeface="Arial"/>
                <a:ea typeface="Arial"/>
                <a:cs typeface="Arial"/>
              </a:defRPr>
            </a:lvl3pPr>
            <a:lvl4pPr>
              <a:buNone/>
              <a:defRPr sz="2100" b="1">
                <a:solidFill>
                  <a:srgbClr val="22362F"/>
                </a:solidFill>
                <a:latin typeface="Arial"/>
                <a:ea typeface="Arial"/>
                <a:cs typeface="Arial"/>
              </a:defRPr>
            </a:lvl4pPr>
            <a:lvl5pPr>
              <a:buNone/>
              <a:defRPr sz="2100" b="1">
                <a:solidFill>
                  <a:srgbClr val="22362F"/>
                </a:solidFill>
                <a:latin typeface="Arial"/>
                <a:ea typeface="Arial"/>
                <a:cs typeface="Arial"/>
              </a:defRPr>
            </a:lvl5pPr>
            <a:lvl6pPr>
              <a:buNone/>
              <a:defRPr sz="2100" b="1">
                <a:solidFill>
                  <a:srgbClr val="22362F"/>
                </a:solidFill>
                <a:latin typeface="Arial"/>
                <a:ea typeface="Arial"/>
                <a:cs typeface="Arial"/>
              </a:defRPr>
            </a:lvl6pPr>
            <a:lvl7pPr>
              <a:buNone/>
              <a:defRPr sz="2100" b="1">
                <a:solidFill>
                  <a:srgbClr val="22362F"/>
                </a:solidFill>
                <a:latin typeface="Arial"/>
                <a:ea typeface="Arial"/>
                <a:cs typeface="Arial"/>
              </a:defRPr>
            </a:lvl7pPr>
            <a:lvl8pPr>
              <a:buNone/>
              <a:defRPr sz="2100" b="1">
                <a:solidFill>
                  <a:srgbClr val="22362F"/>
                </a:solidFill>
                <a:latin typeface="Arial"/>
                <a:ea typeface="Arial"/>
                <a:cs typeface="Arial"/>
              </a:defRPr>
            </a:lvl8pPr>
            <a:lvl9pPr>
              <a:buNone/>
              <a:defRPr sz="2100" b="1">
                <a:solidFill>
                  <a:srgbClr val="22362F"/>
                </a:solidFill>
                <a:latin typeface="Arial"/>
                <a:ea typeface="Arial"/>
                <a:cs typeface="Arial"/>
              </a:defRPr>
            </a:lvl9pPr>
          </a:lstStyle>
          <a:p xmlns:a="http://schemas.openxmlformats.org/drawingml/2006/main">
            <a:pPr>
              <a:buNone/>
              <a:defRPr sz="2100" b="1">
                <a:solidFill>
                  <a:srgbClr val="22362F"/>
                </a:solidFill>
                <a:latin typeface="Arial"/>
                <a:ea typeface="Arial"/>
                <a:cs typeface="Arial"/>
              </a:defRPr>
            </a:pPr>
            <a:r>
              <a:rPr sz="2100" b="1">
                <a:solidFill>
                  <a:srgbClr val="22362F"/>
                </a:solidFill>
                <a:latin typeface="Arial"/>
                <a:ea typeface="Arial"/>
                <a:cs typeface="Arial"/>
              </a:rPr>
              <a:t>Angular leaf spot</a:t>
            </a:r>
          </a:p>
        </p:txBody>
      </p:sp>
      <p:pic>
        <p:nvPicPr>
          <p:cNvPr id="5" name="">
            <a:extLst xmlns:a="http://schemas.openxmlformats.org/drawingml/2006/main">
              <a:ext uri="{FF2B5EF4-FFF2-40B4-BE49-F238E27FC236}">
                <a16:creationId xmlns:a16="http://schemas.microsoft.com/office/drawing/2014/main" id="{8D7227BC-DE61-4EE9-9689-7C229F078E8A}"/>
              </a:ext>
            </a:extLst>
          </p:cNvPr>
          <p:cNvPicPr>
            <a:picLocks xmlns:a="http://schemas.openxmlformats.org/drawingml/2006/main" noChangeAspect="1"/>
          </p:cNvPicPr>
          <p:nvPr/>
        </p:nvPicPr>
        <p:blipFill>
          <a:blip xmlns:r="http://schemas.openxmlformats.org/officeDocument/2006/relationships" xmlns:a="http://schemas.openxmlformats.org/drawingml/2006/main" r:embed="R3488bdc89575479b"/>
          <a:stretch xmlns:a="http://schemas.openxmlformats.org/drawingml/2006/main"/>
        </p:blipFill>
        <p:spPr>
          <a:xfrm xmlns:a="http://schemas.openxmlformats.org/drawingml/2006/main">
            <a:off x="4324350" y="1476375"/>
            <a:ext cx="3143250" cy="3143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70217D0-8689-4C81-AC7A-D2679D27FCF4}"/>
              </a:ext>
            </a:extLst>
          </p:cNvPr>
          <p:cNvSpPr>
            <a:spLocks xmlns:a="http://schemas.openxmlformats.org/drawingml/2006/main" noGrp="1"/>
          </p:cNvSpPr>
          <p:nvPr/>
        </p:nvSpPr>
        <p:spPr>
          <a:xfrm xmlns:a="http://schemas.openxmlformats.org/drawingml/2006/main">
            <a:off x="4324350" y="4800600"/>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2362F"/>
                </a:solidFill>
                <a:latin typeface="Arial"/>
                <a:ea typeface="Arial"/>
                <a:cs typeface="Arial"/>
              </a:defRPr>
            </a:defPPr>
            <a:lvl1pPr>
              <a:buNone/>
              <a:defRPr sz="2100" b="1">
                <a:solidFill>
                  <a:srgbClr val="22362F"/>
                </a:solidFill>
                <a:latin typeface="Arial"/>
                <a:ea typeface="Arial"/>
                <a:cs typeface="Arial"/>
              </a:defRPr>
            </a:lvl1pPr>
            <a:lvl2pPr>
              <a:buNone/>
              <a:defRPr sz="2100" b="1">
                <a:solidFill>
                  <a:srgbClr val="22362F"/>
                </a:solidFill>
                <a:latin typeface="Arial"/>
                <a:ea typeface="Arial"/>
                <a:cs typeface="Arial"/>
              </a:defRPr>
            </a:lvl2pPr>
            <a:lvl3pPr>
              <a:buNone/>
              <a:defRPr sz="2100" b="1">
                <a:solidFill>
                  <a:srgbClr val="22362F"/>
                </a:solidFill>
                <a:latin typeface="Arial"/>
                <a:ea typeface="Arial"/>
                <a:cs typeface="Arial"/>
              </a:defRPr>
            </a:lvl3pPr>
            <a:lvl4pPr>
              <a:buNone/>
              <a:defRPr sz="2100" b="1">
                <a:solidFill>
                  <a:srgbClr val="22362F"/>
                </a:solidFill>
                <a:latin typeface="Arial"/>
                <a:ea typeface="Arial"/>
                <a:cs typeface="Arial"/>
              </a:defRPr>
            </a:lvl4pPr>
            <a:lvl5pPr>
              <a:buNone/>
              <a:defRPr sz="2100" b="1">
                <a:solidFill>
                  <a:srgbClr val="22362F"/>
                </a:solidFill>
                <a:latin typeface="Arial"/>
                <a:ea typeface="Arial"/>
                <a:cs typeface="Arial"/>
              </a:defRPr>
            </a:lvl5pPr>
            <a:lvl6pPr>
              <a:buNone/>
              <a:defRPr sz="2100" b="1">
                <a:solidFill>
                  <a:srgbClr val="22362F"/>
                </a:solidFill>
                <a:latin typeface="Arial"/>
                <a:ea typeface="Arial"/>
                <a:cs typeface="Arial"/>
              </a:defRPr>
            </a:lvl6pPr>
            <a:lvl7pPr>
              <a:buNone/>
              <a:defRPr sz="2100" b="1">
                <a:solidFill>
                  <a:srgbClr val="22362F"/>
                </a:solidFill>
                <a:latin typeface="Arial"/>
                <a:ea typeface="Arial"/>
                <a:cs typeface="Arial"/>
              </a:defRPr>
            </a:lvl7pPr>
            <a:lvl8pPr>
              <a:buNone/>
              <a:defRPr sz="2100" b="1">
                <a:solidFill>
                  <a:srgbClr val="22362F"/>
                </a:solidFill>
                <a:latin typeface="Arial"/>
                <a:ea typeface="Arial"/>
                <a:cs typeface="Arial"/>
              </a:defRPr>
            </a:lvl8pPr>
            <a:lvl9pPr>
              <a:buNone/>
              <a:defRPr sz="2100" b="1">
                <a:solidFill>
                  <a:srgbClr val="22362F"/>
                </a:solidFill>
                <a:latin typeface="Arial"/>
                <a:ea typeface="Arial"/>
                <a:cs typeface="Arial"/>
              </a:defRPr>
            </a:lvl9pPr>
          </a:lstStyle>
          <a:p xmlns:a="http://schemas.openxmlformats.org/drawingml/2006/main">
            <a:pPr>
              <a:buNone/>
              <a:defRPr sz="2100" b="1">
                <a:solidFill>
                  <a:srgbClr val="22362F"/>
                </a:solidFill>
                <a:latin typeface="Arial"/>
                <a:ea typeface="Arial"/>
                <a:cs typeface="Arial"/>
              </a:defRPr>
            </a:pPr>
            <a:r>
              <a:rPr sz="2100" b="1">
                <a:solidFill>
                  <a:srgbClr val="22362F"/>
                </a:solidFill>
                <a:latin typeface="Arial"/>
                <a:ea typeface="Arial"/>
                <a:cs typeface="Arial"/>
              </a:rPr>
              <a:t>Bean rust</a:t>
            </a:r>
          </a:p>
        </p:txBody>
      </p:sp>
      <p:pic>
        <p:nvPicPr>
          <p:cNvPr id="7" name="">
            <a:extLst xmlns:a="http://schemas.openxmlformats.org/drawingml/2006/main">
              <a:ext uri="{FF2B5EF4-FFF2-40B4-BE49-F238E27FC236}">
                <a16:creationId xmlns:a16="http://schemas.microsoft.com/office/drawing/2014/main" id="{03024481-2EEC-4782-A7BA-D4DDB00D275E}"/>
              </a:ext>
            </a:extLst>
          </p:cNvPr>
          <p:cNvPicPr>
            <a:picLocks xmlns:a="http://schemas.openxmlformats.org/drawingml/2006/main" noChangeAspect="1"/>
          </p:cNvPicPr>
          <p:nvPr/>
        </p:nvPicPr>
        <p:blipFill>
          <a:blip xmlns:r="http://schemas.openxmlformats.org/officeDocument/2006/relationships" xmlns:a="http://schemas.openxmlformats.org/drawingml/2006/main" r:embed="R22edbfc17ae84613"/>
          <a:stretch xmlns:a="http://schemas.openxmlformats.org/drawingml/2006/main"/>
        </p:blipFill>
        <p:spPr>
          <a:xfrm xmlns:a="http://schemas.openxmlformats.org/drawingml/2006/main">
            <a:off x="8039100" y="1476375"/>
            <a:ext cx="3143250" cy="31432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DF866528-5B68-4FD1-A717-FEC8BDEBB07A}"/>
              </a:ext>
            </a:extLst>
          </p:cNvPr>
          <p:cNvSpPr>
            <a:spLocks xmlns:a="http://schemas.openxmlformats.org/drawingml/2006/main" noGrp="1"/>
          </p:cNvSpPr>
          <p:nvPr/>
        </p:nvSpPr>
        <p:spPr>
          <a:xfrm xmlns:a="http://schemas.openxmlformats.org/drawingml/2006/main">
            <a:off x="8039100" y="4800600"/>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2362F"/>
                </a:solidFill>
                <a:latin typeface="Arial"/>
                <a:ea typeface="Arial"/>
                <a:cs typeface="Arial"/>
              </a:defRPr>
            </a:defPPr>
            <a:lvl1pPr>
              <a:buNone/>
              <a:defRPr sz="2100" b="1">
                <a:solidFill>
                  <a:srgbClr val="22362F"/>
                </a:solidFill>
                <a:latin typeface="Arial"/>
                <a:ea typeface="Arial"/>
                <a:cs typeface="Arial"/>
              </a:defRPr>
            </a:lvl1pPr>
            <a:lvl2pPr>
              <a:buNone/>
              <a:defRPr sz="2100" b="1">
                <a:solidFill>
                  <a:srgbClr val="22362F"/>
                </a:solidFill>
                <a:latin typeface="Arial"/>
                <a:ea typeface="Arial"/>
                <a:cs typeface="Arial"/>
              </a:defRPr>
            </a:lvl2pPr>
            <a:lvl3pPr>
              <a:buNone/>
              <a:defRPr sz="2100" b="1">
                <a:solidFill>
                  <a:srgbClr val="22362F"/>
                </a:solidFill>
                <a:latin typeface="Arial"/>
                <a:ea typeface="Arial"/>
                <a:cs typeface="Arial"/>
              </a:defRPr>
            </a:lvl3pPr>
            <a:lvl4pPr>
              <a:buNone/>
              <a:defRPr sz="2100" b="1">
                <a:solidFill>
                  <a:srgbClr val="22362F"/>
                </a:solidFill>
                <a:latin typeface="Arial"/>
                <a:ea typeface="Arial"/>
                <a:cs typeface="Arial"/>
              </a:defRPr>
            </a:lvl4pPr>
            <a:lvl5pPr>
              <a:buNone/>
              <a:defRPr sz="2100" b="1">
                <a:solidFill>
                  <a:srgbClr val="22362F"/>
                </a:solidFill>
                <a:latin typeface="Arial"/>
                <a:ea typeface="Arial"/>
                <a:cs typeface="Arial"/>
              </a:defRPr>
            </a:lvl5pPr>
            <a:lvl6pPr>
              <a:buNone/>
              <a:defRPr sz="2100" b="1">
                <a:solidFill>
                  <a:srgbClr val="22362F"/>
                </a:solidFill>
                <a:latin typeface="Arial"/>
                <a:ea typeface="Arial"/>
                <a:cs typeface="Arial"/>
              </a:defRPr>
            </a:lvl6pPr>
            <a:lvl7pPr>
              <a:buNone/>
              <a:defRPr sz="2100" b="1">
                <a:solidFill>
                  <a:srgbClr val="22362F"/>
                </a:solidFill>
                <a:latin typeface="Arial"/>
                <a:ea typeface="Arial"/>
                <a:cs typeface="Arial"/>
              </a:defRPr>
            </a:lvl7pPr>
            <a:lvl8pPr>
              <a:buNone/>
              <a:defRPr sz="2100" b="1">
                <a:solidFill>
                  <a:srgbClr val="22362F"/>
                </a:solidFill>
                <a:latin typeface="Arial"/>
                <a:ea typeface="Arial"/>
                <a:cs typeface="Arial"/>
              </a:defRPr>
            </a:lvl8pPr>
            <a:lvl9pPr>
              <a:buNone/>
              <a:defRPr sz="2100" b="1">
                <a:solidFill>
                  <a:srgbClr val="22362F"/>
                </a:solidFill>
                <a:latin typeface="Arial"/>
                <a:ea typeface="Arial"/>
                <a:cs typeface="Arial"/>
              </a:defRPr>
            </a:lvl9pPr>
          </a:lstStyle>
          <a:p xmlns:a="http://schemas.openxmlformats.org/drawingml/2006/main">
            <a:pPr>
              <a:buNone/>
              <a:defRPr sz="2100" b="1">
                <a:solidFill>
                  <a:srgbClr val="22362F"/>
                </a:solidFill>
                <a:latin typeface="Arial"/>
                <a:ea typeface="Arial"/>
                <a:cs typeface="Arial"/>
              </a:defRPr>
            </a:pPr>
            <a:r>
              <a:rPr sz="2100" b="1">
                <a:solidFill>
                  <a:srgbClr val="22362F"/>
                </a:solidFill>
                <a:latin typeface="Arial"/>
                <a:ea typeface="Arial"/>
                <a:cs typeface="Arial"/>
              </a:rPr>
              <a:t>Healthy</a:t>
            </a:r>
          </a:p>
        </p:txBody>
      </p:sp>
      <p:sp>
        <p:nvSpPr>
          <p:cNvPr id="9" name="">
            <a:extLst xmlns:a="http://schemas.openxmlformats.org/drawingml/2006/main">
              <a:ext uri="{FF2B5EF4-FFF2-40B4-BE49-F238E27FC236}">
                <a16:creationId xmlns:a16="http://schemas.microsoft.com/office/drawing/2014/main" id="{B6E74E6B-936B-49C3-8A26-DAA8A4D1881F}"/>
              </a:ext>
            </a:extLst>
          </p:cNvPr>
          <p:cNvSpPr>
            <a:spLocks xmlns:a="http://schemas.openxmlformats.org/drawingml/2006/main" noGrp="1"/>
          </p:cNvSpPr>
          <p:nvPr/>
        </p:nvSpPr>
        <p:spPr>
          <a:xfrm xmlns:a="http://schemas.openxmlformats.org/drawingml/2006/main">
            <a:off x="609600" y="56673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1,034 training</a:t>
            </a:r>
          </a:p>
        </p:txBody>
      </p:sp>
      <p:sp>
        <p:nvSpPr>
          <p:cNvPr id="10" name="">
            <a:extLst xmlns:a="http://schemas.openxmlformats.org/drawingml/2006/main">
              <a:ext uri="{FF2B5EF4-FFF2-40B4-BE49-F238E27FC236}">
                <a16:creationId xmlns:a16="http://schemas.microsoft.com/office/drawing/2014/main" id="{A3F604E8-7372-4B68-8C2D-DA120C5A3422}"/>
              </a:ext>
            </a:extLst>
          </p:cNvPr>
          <p:cNvSpPr>
            <a:spLocks xmlns:a="http://schemas.openxmlformats.org/drawingml/2006/main" noGrp="1"/>
          </p:cNvSpPr>
          <p:nvPr/>
        </p:nvSpPr>
        <p:spPr>
          <a:xfrm xmlns:a="http://schemas.openxmlformats.org/drawingml/2006/main">
            <a:off x="4324350" y="56673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133 validation</a:t>
            </a:r>
          </a:p>
        </p:txBody>
      </p:sp>
      <p:sp>
        <p:nvSpPr>
          <p:cNvPr id="11" name="">
            <a:extLst xmlns:a="http://schemas.openxmlformats.org/drawingml/2006/main">
              <a:ext uri="{FF2B5EF4-FFF2-40B4-BE49-F238E27FC236}">
                <a16:creationId xmlns:a16="http://schemas.microsoft.com/office/drawing/2014/main" id="{5B262914-7840-43C1-AFC1-C0270F41A8BE}"/>
              </a:ext>
            </a:extLst>
          </p:cNvPr>
          <p:cNvSpPr>
            <a:spLocks xmlns:a="http://schemas.openxmlformats.org/drawingml/2006/main" noGrp="1"/>
          </p:cNvSpPr>
          <p:nvPr/>
        </p:nvSpPr>
        <p:spPr>
          <a:xfrm xmlns:a="http://schemas.openxmlformats.org/drawingml/2006/main">
            <a:off x="8039100" y="56673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128 test</a:t>
            </a:r>
          </a:p>
        </p:txBody>
      </p:sp>
      <p:sp>
        <p:nvSpPr>
          <p:cNvPr id="12" name="">
            <a:extLst xmlns:a="http://schemas.openxmlformats.org/drawingml/2006/main">
              <a:ext uri="{FF2B5EF4-FFF2-40B4-BE49-F238E27FC236}">
                <a16:creationId xmlns:a16="http://schemas.microsoft.com/office/drawing/2014/main" id="{B26CE54A-B9E6-4573-94D5-260BB6B75232}"/>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Makerere AI Lab, Uganda. Farm and plant IDs are unavailable.</a:t>
            </a:r>
          </a:p>
        </p:txBody>
      </p:sp>
      <p:sp>
        <p:nvSpPr>
          <p:cNvPr id="14" name="">
            <a:extLst xmlns:a="http://schemas.openxmlformats.org/drawingml/2006/main">
              <a:ext uri="{FF2B5EF4-FFF2-40B4-BE49-F238E27FC236}">
                <a16:creationId xmlns:a16="http://schemas.microsoft.com/office/drawing/2014/main" id="{2308D590-CCD4-4D23-80C8-145BF72072A2}"/>
              </a:ext>
            </a:extLst>
          </p:cNvPr>
          <p:cNvSpPr>
            <a:spLocks xmlns:a="http://schemas.openxmlformats.org/drawingml/2006/main" noGrp="1"/>
          </p:cNvSpPr>
          <p:nvPr/>
        </p:nvSpPr>
        <p:spPr>
          <a:xfrm xmlns:a="http://schemas.openxmlformats.org/drawingml/2006/main">
            <a:off x="609600" y="530542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defRPr sz="1725" b="0">
                <a:solidFill>
                  <a:srgbClr val="5D6864"/>
                </a:solidFill>
                <a:latin typeface="Arial"/>
                <a:ea typeface="Arial"/>
                <a:cs typeface="Arial"/>
              </a:defRPr>
            </a:lvl1pPr>
            <a:lvl2pPr>
              <a:defRPr sz="1725" b="0">
                <a:solidFill>
                  <a:srgbClr val="5D6864"/>
                </a:solidFill>
                <a:latin typeface="Arial"/>
                <a:ea typeface="Arial"/>
                <a:cs typeface="Arial"/>
              </a:defRPr>
            </a:lvl2pPr>
            <a:lvl3pPr>
              <a:defRPr sz="1725" b="0">
                <a:solidFill>
                  <a:srgbClr val="5D6864"/>
                </a:solidFill>
                <a:latin typeface="Arial"/>
                <a:ea typeface="Arial"/>
                <a:cs typeface="Arial"/>
              </a:defRPr>
            </a:lvl3pPr>
            <a:lvl4pPr>
              <a:defRPr sz="1725" b="0">
                <a:solidFill>
                  <a:srgbClr val="5D6864"/>
                </a:solidFill>
                <a:latin typeface="Arial"/>
                <a:ea typeface="Arial"/>
                <a:cs typeface="Arial"/>
              </a:defRPr>
            </a:lvl4pPr>
            <a:lvl5pPr>
              <a:defRPr sz="1725" b="0">
                <a:solidFill>
                  <a:srgbClr val="5D6864"/>
                </a:solidFill>
                <a:latin typeface="Arial"/>
                <a:ea typeface="Arial"/>
                <a:cs typeface="Arial"/>
              </a:defRPr>
            </a:lvl5pPr>
            <a:lvl6pPr>
              <a:defRPr sz="1725" b="0">
                <a:solidFill>
                  <a:srgbClr val="5D6864"/>
                </a:solidFill>
                <a:latin typeface="Arial"/>
                <a:ea typeface="Arial"/>
                <a:cs typeface="Arial"/>
              </a:defRPr>
            </a:lvl6pPr>
            <a:lvl7pPr>
              <a:defRPr sz="1725" b="0">
                <a:solidFill>
                  <a:srgbClr val="5D6864"/>
                </a:solidFill>
                <a:latin typeface="Arial"/>
                <a:ea typeface="Arial"/>
                <a:cs typeface="Arial"/>
              </a:defRPr>
            </a:lvl7pPr>
            <a:lvl8pPr>
              <a:defRPr sz="1725" b="0">
                <a:solidFill>
                  <a:srgbClr val="5D6864"/>
                </a:solidFill>
                <a:latin typeface="Arial"/>
                <a:ea typeface="Arial"/>
                <a:cs typeface="Arial"/>
              </a:defRPr>
            </a:lvl8pPr>
            <a:lvl9pPr>
              <a:defRPr sz="1725" b="0">
                <a:solidFill>
                  <a:srgbClr val="5D6864"/>
                </a:solidFill>
                <a:latin typeface="Arial"/>
                <a:ea typeface="Arial"/>
                <a:cs typeface="Arial"/>
              </a:defRPr>
            </a:lvl9pPr>
          </a:lstStyle>
          <a:p xmlns:a="http://schemas.openxmlformats.org/drawingml/2006/main">
            <a:pPr>
              <a:defRPr sz="1725" b="0">
                <a:solidFill>
                  <a:srgbClr val="5D6864"/>
                </a:solidFill>
                <a:latin typeface="Arial"/>
                <a:ea typeface="Arial"/>
                <a:cs typeface="Arial"/>
              </a:defRPr>
            </a:pPr>
            <a:r>
              <a:rPr sz="1725" b="0">
                <a:solidFill>
                  <a:srgbClr val="5D6864"/>
                </a:solidFill>
                <a:latin typeface="Arial"/>
                <a:ea typeface="Arial"/>
                <a:cs typeface="Arial"/>
              </a:rPr>
              <a:t>Dataset split: every split includes all three classes</a:t>
            </a:r>
          </a:p>
        </p:txBody>
      </p:sp>
    </p:spTree>
    <p:extLst>
      <p:ext uri="{BB962C8B-B14F-4D97-AF65-F5344CB8AC3E}">
        <p14:creationId xmlns:p14="http://schemas.microsoft.com/office/powerpoint/2010/main" val="5705539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D752CB-FCD7-421D-8A90-E32F32604FEB}"/>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Models and training settings</a:t>
            </a:r>
          </a:p>
        </p:txBody>
      </p:sp>
      <p:sp>
        <p:nvSpPr>
          <p:cNvPr id="2" name="">
            <a:extLst xmlns:a="http://schemas.openxmlformats.org/drawingml/2006/main">
              <a:ext uri="{FF2B5EF4-FFF2-40B4-BE49-F238E27FC236}">
                <a16:creationId xmlns:a16="http://schemas.microsoft.com/office/drawing/2014/main" id="{FF973A16-C2B8-4A67-8063-D31288D23D8A}"/>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3</a:t>
            </a:r>
          </a:p>
        </p:txBody>
      </p:sp>
      <p:graphicFrame>
        <p:nvGraphicFramePr>
          <p:cNvPr id="3" name="">
            <a:extLst xmlns:a="http://schemas.openxmlformats.org/drawingml/2006/main">
              <a:ext uri="{FF2B5EF4-FFF2-40B4-BE49-F238E27FC236}">
                <a16:creationId xmlns:a16="http://schemas.microsoft.com/office/drawing/2014/main" id="{ED48927E-5E93-4FD7-B539-82169634C83E}"/>
              </a:ext>
            </a:extLst>
          </p:cNvPr>
          <p:cNvGraphicFramePr/>
          <p:nvPr/>
        </p:nvGraphicFramePr>
        <p:xfrm>
          <a:off xmlns:a="http://schemas.openxmlformats.org/drawingml/2006/main" x="609600" y="1314450"/>
          <a:ext xmlns:a="http://schemas.openxmlformats.org/drawingml/2006/main" cx="10972800" cy="1714500"/>
        </p:xfrm>
        <a:graphic xmlns:a="http://schemas.openxmlformats.org/drawingml/2006/main">
          <a:graphicData uri="http://schemas.openxmlformats.org/drawingml/2006/table">
            <a:tbl>
              <a:tblPr/>
              <a:tblGrid>
                <a:gridCol w="3619500"/>
                <a:gridCol w="3676650"/>
                <a:gridCol w="3676650"/>
              </a:tblGrid>
              <a:tr h="428625">
                <a:tc>
                  <a:txBody>
                    <a:bodyPr lIns="95250" tIns="95250" rIns="95250" bIns="95250"/>
                    <a:lstStyle/>
                    <a:p>
                      <a:r>
                        <a:rPr sz="1950" b="1">
                          <a:solidFill>
                            <a:srgbClr val="22362F"/>
                          </a:solidFill>
                          <a:latin typeface="Arial"/>
                          <a:ea typeface="Arial"/>
                          <a:cs typeface="Arial"/>
                        </a:rPr>
                        <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95250" tIns="95250" rIns="95250" bIns="95250"/>
                    <a:lstStyle/>
                    <a:p>
                      <a:r>
                        <a:rPr sz="1725" b="1">
                          <a:solidFill>
                            <a:srgbClr val="22362F"/>
                          </a:solidFill>
                          <a:latin typeface="Arial"/>
                          <a:ea typeface="Arial"/>
                          <a:cs typeface="Arial"/>
                        </a:rPr>
                        <a:t>DINOv2-S/14</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95250" tIns="95250" rIns="95250" bIns="95250"/>
                    <a:lstStyle/>
                    <a:p>
                      <a:r>
                        <a:rPr sz="1725" b="1">
                          <a:solidFill>
                            <a:srgbClr val="22362F"/>
                          </a:solidFill>
                          <a:latin typeface="Arial"/>
                          <a:ea typeface="Arial"/>
                          <a:cs typeface="Arial"/>
                        </a:rPr>
                        <a:t>SigLIP 2-B/16</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428625">
                <a:tc>
                  <a:txBody>
                    <a:bodyPr lIns="95250" tIns="95250" rIns="95250" bIns="95250"/>
                    <a:lstStyle/>
                    <a:p>
                      <a:r>
                        <a:rPr sz="1725" b="0">
                          <a:solidFill>
                            <a:srgbClr val="22362F"/>
                          </a:solidFill>
                          <a:latin typeface="Arial"/>
                          <a:ea typeface="Arial"/>
                          <a:cs typeface="Arial"/>
                        </a:rPr>
                        <a:t>Published</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2023</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2025</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428625">
                <a:tc>
                  <a:txBody>
                    <a:bodyPr lIns="95250" tIns="95250" rIns="95250" bIns="95250"/>
                    <a:lstStyle/>
                    <a:p>
                      <a:r>
                        <a:rPr sz="1725" b="0">
                          <a:solidFill>
                            <a:srgbClr val="22362F"/>
                          </a:solidFill>
                          <a:latin typeface="Arial"/>
                          <a:ea typeface="Arial"/>
                          <a:cs typeface="Arial"/>
                        </a:rPr>
                        <a:t>Image-model parameters</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22.06 million</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92.89 million</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428625">
                <a:tc>
                  <a:txBody>
                    <a:bodyPr lIns="95250" tIns="95250" rIns="95250" bIns="95250"/>
                    <a:lstStyle/>
                    <a:p>
                      <a:r>
                        <a:rPr sz="1725" b="0">
                          <a:solidFill>
                            <a:srgbClr val="22362F"/>
                          </a:solidFill>
                          <a:latin typeface="Arial"/>
                          <a:ea typeface="Arial"/>
                          <a:cs typeface="Arial"/>
                        </a:rPr>
                        <a:t>Feature vector</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384 values</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768 values</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7742A051-2649-4840-B3B2-82A5741583C4}"/>
              </a:ext>
            </a:extLst>
          </p:cNvPr>
          <p:cNvSpPr>
            <a:spLocks xmlns:a="http://schemas.openxmlformats.org/drawingml/2006/main" noGrp="1"/>
          </p:cNvSpPr>
          <p:nvPr/>
        </p:nvSpPr>
        <p:spPr>
          <a:xfrm xmlns:a="http://schemas.openxmlformats.org/drawingml/2006/main">
            <a:off x="609600" y="4219575"/>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34667C"/>
                </a:solidFill>
                <a:latin typeface="Arial"/>
                <a:ea typeface="Arial"/>
                <a:cs typeface="Arial"/>
              </a:defRPr>
            </a:defPPr>
            <a:lvl1pPr>
              <a:buNone/>
              <a:defRPr sz="2250" b="1">
                <a:solidFill>
                  <a:srgbClr val="34667C"/>
                </a:solidFill>
                <a:latin typeface="Arial"/>
                <a:ea typeface="Arial"/>
                <a:cs typeface="Arial"/>
              </a:defRPr>
            </a:lvl1pPr>
            <a:lvl2pPr>
              <a:buNone/>
              <a:defRPr sz="2250" b="1">
                <a:solidFill>
                  <a:srgbClr val="34667C"/>
                </a:solidFill>
                <a:latin typeface="Arial"/>
                <a:ea typeface="Arial"/>
                <a:cs typeface="Arial"/>
              </a:defRPr>
            </a:lvl2pPr>
            <a:lvl3pPr>
              <a:buNone/>
              <a:defRPr sz="2250" b="1">
                <a:solidFill>
                  <a:srgbClr val="34667C"/>
                </a:solidFill>
                <a:latin typeface="Arial"/>
                <a:ea typeface="Arial"/>
                <a:cs typeface="Arial"/>
              </a:defRPr>
            </a:lvl3pPr>
            <a:lvl4pPr>
              <a:buNone/>
              <a:defRPr sz="2250" b="1">
                <a:solidFill>
                  <a:srgbClr val="34667C"/>
                </a:solidFill>
                <a:latin typeface="Arial"/>
                <a:ea typeface="Arial"/>
                <a:cs typeface="Arial"/>
              </a:defRPr>
            </a:lvl4pPr>
            <a:lvl5pPr>
              <a:buNone/>
              <a:defRPr sz="2250" b="1">
                <a:solidFill>
                  <a:srgbClr val="34667C"/>
                </a:solidFill>
                <a:latin typeface="Arial"/>
                <a:ea typeface="Arial"/>
                <a:cs typeface="Arial"/>
              </a:defRPr>
            </a:lvl5pPr>
            <a:lvl6pPr>
              <a:buNone/>
              <a:defRPr sz="2250" b="1">
                <a:solidFill>
                  <a:srgbClr val="34667C"/>
                </a:solidFill>
                <a:latin typeface="Arial"/>
                <a:ea typeface="Arial"/>
                <a:cs typeface="Arial"/>
              </a:defRPr>
            </a:lvl6pPr>
            <a:lvl7pPr>
              <a:buNone/>
              <a:defRPr sz="2250" b="1">
                <a:solidFill>
                  <a:srgbClr val="34667C"/>
                </a:solidFill>
                <a:latin typeface="Arial"/>
                <a:ea typeface="Arial"/>
                <a:cs typeface="Arial"/>
              </a:defRPr>
            </a:lvl7pPr>
            <a:lvl8pPr>
              <a:buNone/>
              <a:defRPr sz="2250" b="1">
                <a:solidFill>
                  <a:srgbClr val="34667C"/>
                </a:solidFill>
                <a:latin typeface="Arial"/>
                <a:ea typeface="Arial"/>
                <a:cs typeface="Arial"/>
              </a:defRPr>
            </a:lvl8pPr>
            <a:lvl9pPr>
              <a:buNone/>
              <a:defRPr sz="2250" b="1">
                <a:solidFill>
                  <a:srgbClr val="34667C"/>
                </a:solidFill>
                <a:latin typeface="Arial"/>
                <a:ea typeface="Arial"/>
                <a:cs typeface="Arial"/>
              </a:defRPr>
            </a:lvl9pPr>
          </a:lstStyle>
          <a:p xmlns:a="http://schemas.openxmlformats.org/drawingml/2006/main">
            <a:pPr>
              <a:buNone/>
              <a:defRPr sz="2250" b="1">
                <a:solidFill>
                  <a:srgbClr val="34667C"/>
                </a:solidFill>
                <a:latin typeface="Arial"/>
                <a:ea typeface="Arial"/>
                <a:cs typeface="Arial"/>
              </a:defRPr>
            </a:pPr>
            <a:r>
              <a:rPr sz="2250" b="1">
                <a:solidFill>
                  <a:srgbClr val="34667C"/>
                </a:solidFill>
                <a:latin typeface="Arial"/>
                <a:ea typeface="Arial"/>
                <a:cs typeface="Arial"/>
              </a:rPr>
              <a:t>Frozen encoder</a:t>
            </a:r>
          </a:p>
        </p:txBody>
      </p:sp>
      <p:sp>
        <p:nvSpPr>
          <p:cNvPr id="5" name="">
            <a:extLst xmlns:a="http://schemas.openxmlformats.org/drawingml/2006/main">
              <a:ext uri="{FF2B5EF4-FFF2-40B4-BE49-F238E27FC236}">
                <a16:creationId xmlns:a16="http://schemas.microsoft.com/office/drawing/2014/main" id="{AA896AF9-E04D-4444-8744-D0B18C892DA6}"/>
              </a:ext>
            </a:extLst>
          </p:cNvPr>
          <p:cNvSpPr>
            <a:spLocks xmlns:a="http://schemas.openxmlformats.org/drawingml/2006/main" noGrp="1"/>
          </p:cNvSpPr>
          <p:nvPr/>
        </p:nvSpPr>
        <p:spPr>
          <a:xfrm xmlns:a="http://schemas.openxmlformats.org/drawingml/2006/main">
            <a:off x="609600" y="465772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100" b="0">
                <a:solidFill>
                  <a:srgbClr val="22362F"/>
                </a:solidFill>
                <a:latin typeface="Arial"/>
                <a:ea typeface="Arial"/>
                <a:cs typeface="Arial"/>
              </a:defRPr>
            </a:lvl1pPr>
            <a:lvl2pPr>
              <a:buNone/>
              <a:defRPr sz="2100" b="0">
                <a:solidFill>
                  <a:srgbClr val="22362F"/>
                </a:solidFill>
                <a:latin typeface="Arial"/>
                <a:ea typeface="Arial"/>
                <a:cs typeface="Arial"/>
              </a:defRPr>
            </a:lvl2pPr>
            <a:lvl3pPr>
              <a:buNone/>
              <a:defRPr sz="2100" b="0">
                <a:solidFill>
                  <a:srgbClr val="22362F"/>
                </a:solidFill>
                <a:latin typeface="Arial"/>
                <a:ea typeface="Arial"/>
                <a:cs typeface="Arial"/>
              </a:defRPr>
            </a:lvl3pPr>
            <a:lvl4pPr>
              <a:buNone/>
              <a:defRPr sz="2100" b="0">
                <a:solidFill>
                  <a:srgbClr val="22362F"/>
                </a:solidFill>
                <a:latin typeface="Arial"/>
                <a:ea typeface="Arial"/>
                <a:cs typeface="Arial"/>
              </a:defRPr>
            </a:lvl4pPr>
            <a:lvl5pPr>
              <a:buNone/>
              <a:defRPr sz="2100" b="0">
                <a:solidFill>
                  <a:srgbClr val="22362F"/>
                </a:solidFill>
                <a:latin typeface="Arial"/>
                <a:ea typeface="Arial"/>
                <a:cs typeface="Arial"/>
              </a:defRPr>
            </a:lvl5pPr>
            <a:lvl6pPr>
              <a:buNone/>
              <a:defRPr sz="2100" b="0">
                <a:solidFill>
                  <a:srgbClr val="22362F"/>
                </a:solidFill>
                <a:latin typeface="Arial"/>
                <a:ea typeface="Arial"/>
                <a:cs typeface="Arial"/>
              </a:defRPr>
            </a:lvl6pPr>
            <a:lvl7pPr>
              <a:buNone/>
              <a:defRPr sz="2100" b="0">
                <a:solidFill>
                  <a:srgbClr val="22362F"/>
                </a:solidFill>
                <a:latin typeface="Arial"/>
                <a:ea typeface="Arial"/>
                <a:cs typeface="Arial"/>
              </a:defRPr>
            </a:lvl7pPr>
            <a:lvl8pPr>
              <a:buNone/>
              <a:defRPr sz="2100" b="0">
                <a:solidFill>
                  <a:srgbClr val="22362F"/>
                </a:solidFill>
                <a:latin typeface="Arial"/>
                <a:ea typeface="Arial"/>
                <a:cs typeface="Arial"/>
              </a:defRPr>
            </a:lvl8pPr>
            <a:lvl9pPr>
              <a:buNone/>
              <a:defRPr sz="2100"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Keep all encoder weights fixed.</a:t>
            </a:r>
          </a:p>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Train only the new classifier.</a:t>
            </a:r>
          </a:p>
        </p:txBody>
      </p:sp>
      <p:sp>
        <p:nvSpPr>
          <p:cNvPr id="6" name="">
            <a:extLst xmlns:a="http://schemas.openxmlformats.org/drawingml/2006/main">
              <a:ext uri="{FF2B5EF4-FFF2-40B4-BE49-F238E27FC236}">
                <a16:creationId xmlns:a16="http://schemas.microsoft.com/office/drawing/2014/main" id="{94AD3D29-480E-44B2-8967-13257B4FFBD0}"/>
              </a:ext>
            </a:extLst>
          </p:cNvPr>
          <p:cNvSpPr>
            <a:spLocks xmlns:a="http://schemas.openxmlformats.org/drawingml/2006/main" noGrp="1"/>
          </p:cNvSpPr>
          <p:nvPr/>
        </p:nvSpPr>
        <p:spPr>
          <a:xfrm xmlns:a="http://schemas.openxmlformats.org/drawingml/2006/main">
            <a:off x="6286500" y="42195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B35B38"/>
                </a:solidFill>
                <a:latin typeface="Arial"/>
                <a:ea typeface="Arial"/>
                <a:cs typeface="Arial"/>
              </a:defRPr>
            </a:defPPr>
            <a:lvl1pPr>
              <a:buNone/>
              <a:defRPr sz="2250" b="1">
                <a:solidFill>
                  <a:srgbClr val="B35B38"/>
                </a:solidFill>
                <a:latin typeface="Arial"/>
                <a:ea typeface="Arial"/>
                <a:cs typeface="Arial"/>
              </a:defRPr>
            </a:lvl1pPr>
            <a:lvl2pPr>
              <a:buNone/>
              <a:defRPr sz="2250" b="1">
                <a:solidFill>
                  <a:srgbClr val="B35B38"/>
                </a:solidFill>
                <a:latin typeface="Arial"/>
                <a:ea typeface="Arial"/>
                <a:cs typeface="Arial"/>
              </a:defRPr>
            </a:lvl2pPr>
            <a:lvl3pPr>
              <a:buNone/>
              <a:defRPr sz="2250" b="1">
                <a:solidFill>
                  <a:srgbClr val="B35B38"/>
                </a:solidFill>
                <a:latin typeface="Arial"/>
                <a:ea typeface="Arial"/>
                <a:cs typeface="Arial"/>
              </a:defRPr>
            </a:lvl3pPr>
            <a:lvl4pPr>
              <a:buNone/>
              <a:defRPr sz="2250" b="1">
                <a:solidFill>
                  <a:srgbClr val="B35B38"/>
                </a:solidFill>
                <a:latin typeface="Arial"/>
                <a:ea typeface="Arial"/>
                <a:cs typeface="Arial"/>
              </a:defRPr>
            </a:lvl4pPr>
            <a:lvl5pPr>
              <a:buNone/>
              <a:defRPr sz="2250" b="1">
                <a:solidFill>
                  <a:srgbClr val="B35B38"/>
                </a:solidFill>
                <a:latin typeface="Arial"/>
                <a:ea typeface="Arial"/>
                <a:cs typeface="Arial"/>
              </a:defRPr>
            </a:lvl5pPr>
            <a:lvl6pPr>
              <a:buNone/>
              <a:defRPr sz="2250" b="1">
                <a:solidFill>
                  <a:srgbClr val="B35B38"/>
                </a:solidFill>
                <a:latin typeface="Arial"/>
                <a:ea typeface="Arial"/>
                <a:cs typeface="Arial"/>
              </a:defRPr>
            </a:lvl6pPr>
            <a:lvl7pPr>
              <a:buNone/>
              <a:defRPr sz="2250" b="1">
                <a:solidFill>
                  <a:srgbClr val="B35B38"/>
                </a:solidFill>
                <a:latin typeface="Arial"/>
                <a:ea typeface="Arial"/>
                <a:cs typeface="Arial"/>
              </a:defRPr>
            </a:lvl7pPr>
            <a:lvl8pPr>
              <a:buNone/>
              <a:defRPr sz="2250" b="1">
                <a:solidFill>
                  <a:srgbClr val="B35B38"/>
                </a:solidFill>
                <a:latin typeface="Arial"/>
                <a:ea typeface="Arial"/>
                <a:cs typeface="Arial"/>
              </a:defRPr>
            </a:lvl8pPr>
            <a:lvl9pPr>
              <a:buNone/>
              <a:defRPr sz="2250" b="1">
                <a:solidFill>
                  <a:srgbClr val="B35B38"/>
                </a:solidFill>
                <a:latin typeface="Arial"/>
                <a:ea typeface="Arial"/>
                <a:cs typeface="Arial"/>
              </a:defRPr>
            </a:lvl9pPr>
          </a:lstStyle>
          <a:p xmlns:a="http://schemas.openxmlformats.org/drawingml/2006/main">
            <a:pPr>
              <a:buNone/>
              <a:defRPr sz="2250" b="1">
                <a:solidFill>
                  <a:srgbClr val="B35B38"/>
                </a:solidFill>
                <a:latin typeface="Arial"/>
                <a:ea typeface="Arial"/>
                <a:cs typeface="Arial"/>
              </a:defRPr>
            </a:pPr>
            <a:r>
              <a:rPr sz="2250" b="1">
                <a:solidFill>
                  <a:srgbClr val="B35B38"/>
                </a:solidFill>
                <a:latin typeface="Arial"/>
                <a:ea typeface="Arial"/>
                <a:cs typeface="Arial"/>
              </a:rPr>
              <a:t>Partial fine-tuning</a:t>
            </a:r>
          </a:p>
        </p:txBody>
      </p:sp>
      <p:sp>
        <p:nvSpPr>
          <p:cNvPr id="7" name="">
            <a:extLst xmlns:a="http://schemas.openxmlformats.org/drawingml/2006/main">
              <a:ext uri="{FF2B5EF4-FFF2-40B4-BE49-F238E27FC236}">
                <a16:creationId xmlns:a16="http://schemas.microsoft.com/office/drawing/2014/main" id="{59D3AE1C-A7A2-4095-9BC2-2F0DA088FC37}"/>
              </a:ext>
            </a:extLst>
          </p:cNvPr>
          <p:cNvSpPr>
            <a:spLocks xmlns:a="http://schemas.openxmlformats.org/drawingml/2006/main" noGrp="1"/>
          </p:cNvSpPr>
          <p:nvPr/>
        </p:nvSpPr>
        <p:spPr>
          <a:xfrm xmlns:a="http://schemas.openxmlformats.org/drawingml/2006/main">
            <a:off x="6286500" y="4657725"/>
            <a:ext cx="523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100" b="0">
                <a:solidFill>
                  <a:srgbClr val="22362F"/>
                </a:solidFill>
                <a:latin typeface="Arial"/>
                <a:ea typeface="Arial"/>
                <a:cs typeface="Arial"/>
              </a:defRPr>
            </a:lvl1pPr>
            <a:lvl2pPr>
              <a:buNone/>
              <a:defRPr sz="2100" b="0">
                <a:solidFill>
                  <a:srgbClr val="22362F"/>
                </a:solidFill>
                <a:latin typeface="Arial"/>
                <a:ea typeface="Arial"/>
                <a:cs typeface="Arial"/>
              </a:defRPr>
            </a:lvl2pPr>
            <a:lvl3pPr>
              <a:buNone/>
              <a:defRPr sz="2100" b="0">
                <a:solidFill>
                  <a:srgbClr val="22362F"/>
                </a:solidFill>
                <a:latin typeface="Arial"/>
                <a:ea typeface="Arial"/>
                <a:cs typeface="Arial"/>
              </a:defRPr>
            </a:lvl3pPr>
            <a:lvl4pPr>
              <a:buNone/>
              <a:defRPr sz="2100" b="0">
                <a:solidFill>
                  <a:srgbClr val="22362F"/>
                </a:solidFill>
                <a:latin typeface="Arial"/>
                <a:ea typeface="Arial"/>
                <a:cs typeface="Arial"/>
              </a:defRPr>
            </a:lvl4pPr>
            <a:lvl5pPr>
              <a:buNone/>
              <a:defRPr sz="2100" b="0">
                <a:solidFill>
                  <a:srgbClr val="22362F"/>
                </a:solidFill>
                <a:latin typeface="Arial"/>
                <a:ea typeface="Arial"/>
                <a:cs typeface="Arial"/>
              </a:defRPr>
            </a:lvl5pPr>
            <a:lvl6pPr>
              <a:buNone/>
              <a:defRPr sz="2100" b="0">
                <a:solidFill>
                  <a:srgbClr val="22362F"/>
                </a:solidFill>
                <a:latin typeface="Arial"/>
                <a:ea typeface="Arial"/>
                <a:cs typeface="Arial"/>
              </a:defRPr>
            </a:lvl6pPr>
            <a:lvl7pPr>
              <a:buNone/>
              <a:defRPr sz="2100" b="0">
                <a:solidFill>
                  <a:srgbClr val="22362F"/>
                </a:solidFill>
                <a:latin typeface="Arial"/>
                <a:ea typeface="Arial"/>
                <a:cs typeface="Arial"/>
              </a:defRPr>
            </a:lvl7pPr>
            <a:lvl8pPr>
              <a:buNone/>
              <a:defRPr sz="2100" b="0">
                <a:solidFill>
                  <a:srgbClr val="22362F"/>
                </a:solidFill>
                <a:latin typeface="Arial"/>
                <a:ea typeface="Arial"/>
                <a:cs typeface="Arial"/>
              </a:defRPr>
            </a:lvl8pPr>
            <a:lvl9pPr>
              <a:buNone/>
              <a:defRPr sz="2100"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Train the classifier, final two encoder</a:t>
            </a:r>
          </a:p>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blocks and final normalisation.</a:t>
            </a:r>
          </a:p>
        </p:txBody>
      </p:sp>
      <p:sp>
        <p:nvSpPr>
          <p:cNvPr id="8" name="">
            <a:extLst xmlns:a="http://schemas.openxmlformats.org/drawingml/2006/main">
              <a:ext uri="{FF2B5EF4-FFF2-40B4-BE49-F238E27FC236}">
                <a16:creationId xmlns:a16="http://schemas.microsoft.com/office/drawing/2014/main" id="{16884F8C-61A8-47A9-A6FA-F19518E7C4D0}"/>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Two models × two settings × three seeds = 12 runs.</a:t>
            </a:r>
          </a:p>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Validation selected each checkpoint. All runs fit a 4 GB GPU.</a:t>
            </a:r>
          </a:p>
        </p:txBody>
      </p:sp>
      <p:sp>
        <p:nvSpPr>
          <p:cNvPr id="10" name="">
            <a:extLst xmlns:a="http://schemas.openxmlformats.org/drawingml/2006/main">
              <a:ext uri="{FF2B5EF4-FFF2-40B4-BE49-F238E27FC236}">
                <a16:creationId xmlns:a16="http://schemas.microsoft.com/office/drawing/2014/main" id="{0008C149-5936-4A57-96B9-B3687580D044}"/>
              </a:ext>
            </a:extLst>
          </p:cNvPr>
          <p:cNvSpPr>
            <a:spLocks xmlns:a="http://schemas.openxmlformats.org/drawingml/2006/main" noGrp="1"/>
          </p:cNvSpPr>
          <p:nvPr/>
        </p:nvSpPr>
        <p:spPr>
          <a:xfrm xmlns:a="http://schemas.openxmlformats.org/drawingml/2006/main">
            <a:off x="609600" y="32004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defRPr sz="2025" b="0">
                <a:solidFill>
                  <a:srgbClr val="22362F"/>
                </a:solidFill>
                <a:latin typeface="Arial"/>
                <a:ea typeface="Arial"/>
                <a:cs typeface="Arial"/>
              </a:defRPr>
            </a:lvl1pPr>
            <a:lvl2pPr>
              <a:defRPr sz="2025" b="0">
                <a:solidFill>
                  <a:srgbClr val="22362F"/>
                </a:solidFill>
                <a:latin typeface="Arial"/>
                <a:ea typeface="Arial"/>
                <a:cs typeface="Arial"/>
              </a:defRPr>
            </a:lvl2pPr>
            <a:lvl3pPr>
              <a:defRPr sz="2025" b="0">
                <a:solidFill>
                  <a:srgbClr val="22362F"/>
                </a:solidFill>
                <a:latin typeface="Arial"/>
                <a:ea typeface="Arial"/>
                <a:cs typeface="Arial"/>
              </a:defRPr>
            </a:lvl3pPr>
            <a:lvl4pPr>
              <a:defRPr sz="2025" b="0">
                <a:solidFill>
                  <a:srgbClr val="22362F"/>
                </a:solidFill>
                <a:latin typeface="Arial"/>
                <a:ea typeface="Arial"/>
                <a:cs typeface="Arial"/>
              </a:defRPr>
            </a:lvl4pPr>
            <a:lvl5pPr>
              <a:defRPr sz="2025" b="0">
                <a:solidFill>
                  <a:srgbClr val="22362F"/>
                </a:solidFill>
                <a:latin typeface="Arial"/>
                <a:ea typeface="Arial"/>
                <a:cs typeface="Arial"/>
              </a:defRPr>
            </a:lvl5pPr>
            <a:lvl6pPr>
              <a:defRPr sz="2025" b="0">
                <a:solidFill>
                  <a:srgbClr val="22362F"/>
                </a:solidFill>
                <a:latin typeface="Arial"/>
                <a:ea typeface="Arial"/>
                <a:cs typeface="Arial"/>
              </a:defRPr>
            </a:lvl6pPr>
            <a:lvl7pPr>
              <a:defRPr sz="2025" b="0">
                <a:solidFill>
                  <a:srgbClr val="22362F"/>
                </a:solidFill>
                <a:latin typeface="Arial"/>
                <a:ea typeface="Arial"/>
                <a:cs typeface="Arial"/>
              </a:defRPr>
            </a:lvl7pPr>
            <a:lvl8pPr>
              <a:defRPr sz="2025" b="0">
                <a:solidFill>
                  <a:srgbClr val="22362F"/>
                </a:solidFill>
                <a:latin typeface="Arial"/>
                <a:ea typeface="Arial"/>
                <a:cs typeface="Arial"/>
              </a:defRPr>
            </a:lvl8pPr>
            <a:lvl9pPr>
              <a:defRPr sz="2025" b="0">
                <a:solidFill>
                  <a:srgbClr val="22362F"/>
                </a:solidFill>
                <a:latin typeface="Arial"/>
                <a:ea typeface="Arial"/>
                <a:cs typeface="Arial"/>
              </a:defRPr>
            </a:lvl9pPr>
          </a:lstStyle>
          <a:p xmlns:a="http://schemas.openxmlformats.org/drawingml/2006/main">
            <a:pPr>
              <a:defRPr sz="2025" b="0">
                <a:solidFill>
                  <a:srgbClr val="22362F"/>
                </a:solidFill>
                <a:latin typeface="Arial"/>
                <a:ea typeface="Arial"/>
                <a:cs typeface="Arial"/>
              </a:defRPr>
            </a:pPr>
            <a:r>
              <a:rPr sz="2025" b="0">
                <a:solidFill>
                  <a:srgbClr val="22362F"/>
                </a:solidFill>
                <a:latin typeface="Arial"/>
                <a:ea typeface="Arial"/>
                <a:cs typeface="Arial"/>
              </a:rPr>
              <a:t>Encoder: turns image pixels into feature values.</a:t>
            </a:r>
          </a:p>
        </p:txBody>
      </p:sp>
      <p:sp>
        <p:nvSpPr>
          <p:cNvPr id="11" name="">
            <a:extLst xmlns:a="http://schemas.openxmlformats.org/drawingml/2006/main">
              <a:ext uri="{FF2B5EF4-FFF2-40B4-BE49-F238E27FC236}">
                <a16:creationId xmlns:a16="http://schemas.microsoft.com/office/drawing/2014/main" id="{B21ACCF6-D72A-4956-873B-E6721C153BBD}"/>
              </a:ext>
            </a:extLst>
          </p:cNvPr>
          <p:cNvSpPr>
            <a:spLocks xmlns:a="http://schemas.openxmlformats.org/drawingml/2006/main" noGrp="1"/>
          </p:cNvSpPr>
          <p:nvPr/>
        </p:nvSpPr>
        <p:spPr>
          <a:xfrm xmlns:a="http://schemas.openxmlformats.org/drawingml/2006/main">
            <a:off x="609600" y="36195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defRPr sz="2025" b="0">
                <a:solidFill>
                  <a:srgbClr val="22362F"/>
                </a:solidFill>
                <a:latin typeface="Arial"/>
                <a:ea typeface="Arial"/>
                <a:cs typeface="Arial"/>
              </a:defRPr>
            </a:lvl1pPr>
            <a:lvl2pPr>
              <a:defRPr sz="2025" b="0">
                <a:solidFill>
                  <a:srgbClr val="22362F"/>
                </a:solidFill>
                <a:latin typeface="Arial"/>
                <a:ea typeface="Arial"/>
                <a:cs typeface="Arial"/>
              </a:defRPr>
            </a:lvl2pPr>
            <a:lvl3pPr>
              <a:defRPr sz="2025" b="0">
                <a:solidFill>
                  <a:srgbClr val="22362F"/>
                </a:solidFill>
                <a:latin typeface="Arial"/>
                <a:ea typeface="Arial"/>
                <a:cs typeface="Arial"/>
              </a:defRPr>
            </a:lvl3pPr>
            <a:lvl4pPr>
              <a:defRPr sz="2025" b="0">
                <a:solidFill>
                  <a:srgbClr val="22362F"/>
                </a:solidFill>
                <a:latin typeface="Arial"/>
                <a:ea typeface="Arial"/>
                <a:cs typeface="Arial"/>
              </a:defRPr>
            </a:lvl4pPr>
            <a:lvl5pPr>
              <a:defRPr sz="2025" b="0">
                <a:solidFill>
                  <a:srgbClr val="22362F"/>
                </a:solidFill>
                <a:latin typeface="Arial"/>
                <a:ea typeface="Arial"/>
                <a:cs typeface="Arial"/>
              </a:defRPr>
            </a:lvl5pPr>
            <a:lvl6pPr>
              <a:defRPr sz="2025" b="0">
                <a:solidFill>
                  <a:srgbClr val="22362F"/>
                </a:solidFill>
                <a:latin typeface="Arial"/>
                <a:ea typeface="Arial"/>
                <a:cs typeface="Arial"/>
              </a:defRPr>
            </a:lvl6pPr>
            <a:lvl7pPr>
              <a:defRPr sz="2025" b="0">
                <a:solidFill>
                  <a:srgbClr val="22362F"/>
                </a:solidFill>
                <a:latin typeface="Arial"/>
                <a:ea typeface="Arial"/>
                <a:cs typeface="Arial"/>
              </a:defRPr>
            </a:lvl7pPr>
            <a:lvl8pPr>
              <a:defRPr sz="2025" b="0">
                <a:solidFill>
                  <a:srgbClr val="22362F"/>
                </a:solidFill>
                <a:latin typeface="Arial"/>
                <a:ea typeface="Arial"/>
                <a:cs typeface="Arial"/>
              </a:defRPr>
            </a:lvl8pPr>
            <a:lvl9pPr>
              <a:defRPr sz="2025" b="0">
                <a:solidFill>
                  <a:srgbClr val="22362F"/>
                </a:solidFill>
                <a:latin typeface="Arial"/>
                <a:ea typeface="Arial"/>
                <a:cs typeface="Arial"/>
              </a:defRPr>
            </a:lvl9pPr>
          </a:lstStyle>
          <a:p xmlns:a="http://schemas.openxmlformats.org/drawingml/2006/main">
            <a:pPr>
              <a:defRPr sz="2025" b="0">
                <a:solidFill>
                  <a:srgbClr val="22362F"/>
                </a:solidFill>
                <a:latin typeface="Arial"/>
                <a:ea typeface="Arial"/>
                <a:cs typeface="Arial"/>
              </a:defRPr>
            </a:pPr>
            <a:r>
              <a:rPr sz="2025" b="0">
                <a:solidFill>
                  <a:srgbClr val="22362F"/>
                </a:solidFill>
                <a:latin typeface="Arial"/>
                <a:ea typeface="Arial"/>
                <a:cs typeface="Arial"/>
              </a:rPr>
              <a:t>Classifier: uses those values to predict one of three labels.</a:t>
            </a:r>
          </a:p>
        </p:txBody>
      </p:sp>
    </p:spTree>
    <p:extLst>
      <p:ext uri="{BB962C8B-B14F-4D97-AF65-F5344CB8AC3E}">
        <p14:creationId xmlns:p14="http://schemas.microsoft.com/office/powerpoint/2010/main" val="144157348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3C8099A-B11C-4671-98FC-1599FD33B21D}"/>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SigLIP 2 helped most with frozen features</a:t>
            </a:r>
          </a:p>
        </p:txBody>
      </p:sp>
      <p:sp>
        <p:nvSpPr>
          <p:cNvPr id="2" name="">
            <a:extLst xmlns:a="http://schemas.openxmlformats.org/drawingml/2006/main">
              <a:ext uri="{FF2B5EF4-FFF2-40B4-BE49-F238E27FC236}">
                <a16:creationId xmlns:a16="http://schemas.microsoft.com/office/drawing/2014/main" id="{F8DAE818-7FD3-44F2-B7E7-3F062F7C3DE4}"/>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4</a:t>
            </a:r>
          </a:p>
        </p:txBody>
      </p:sp>
      <p:graphicFrame>
        <p:nvGraphicFramePr>
          <p:cNvPr id="3" name="Chart">
            <a:extLst xmlns:a="http://schemas.openxmlformats.org/drawingml/2006/main">
              <a:ext uri="{FF2B5EF4-FFF2-40B4-BE49-F238E27FC236}">
                <a16:creationId xmlns:a16="http://schemas.microsoft.com/office/drawing/2014/main" id="{1E3F439C-A12B-4224-8E3B-33F56A8A587A}"/>
              </a:ext>
            </a:extLst>
          </p:cNvPr>
          <p:cNvGraphicFramePr/>
          <p:nvPr/>
        </p:nvGraphicFramePr>
        <p:xfrm>
          <a:off xmlns:a="http://schemas.openxmlformats.org/drawingml/2006/main" x="609600" y="1476375"/>
          <a:ext xmlns:a="http://schemas.openxmlformats.org/drawingml/2006/main" cx="7334250" cy="4191000"/>
        </p:xfrm>
        <a:graphic xmlns:a="http://schemas.openxmlformats.org/drawingml/2006/main">
          <a:graphicData uri="http://schemas.openxmlformats.org/drawingml/2006/chart">
            <c:chart xmlns:r="http://schemas.openxmlformats.org/officeDocument/2006/relationships" xmlns:c="http://schemas.openxmlformats.org/drawingml/2006/chart" r:id="Rc0620e2b9c4a42a0"/>
          </a:graphicData>
        </a:graphic>
      </p:graphicFrame>
      <p:sp>
        <p:nvSpPr>
          <p:cNvPr id="4" name="">
            <a:extLst xmlns:a="http://schemas.openxmlformats.org/drawingml/2006/main">
              <a:ext uri="{FF2B5EF4-FFF2-40B4-BE49-F238E27FC236}">
                <a16:creationId xmlns:a16="http://schemas.microsoft.com/office/drawing/2014/main" id="{2527B5B2-15EB-4DDF-9598-BF1CB563E74E}"/>
              </a:ext>
            </a:extLst>
          </p:cNvPr>
          <p:cNvSpPr>
            <a:spLocks xmlns:a="http://schemas.openxmlformats.org/drawingml/2006/main" noGrp="1"/>
          </p:cNvSpPr>
          <p:nvPr/>
        </p:nvSpPr>
        <p:spPr>
          <a:xfrm xmlns:a="http://schemas.openxmlformats.org/drawingml/2006/main">
            <a:off x="8477250" y="1828800"/>
            <a:ext cx="304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200" b="1">
                <a:solidFill>
                  <a:srgbClr val="245844"/>
                </a:solidFill>
                <a:latin typeface="Arial"/>
                <a:ea typeface="Arial"/>
                <a:cs typeface="Arial"/>
              </a:defRPr>
            </a:defPPr>
            <a:lvl1pPr>
              <a:buNone/>
              <a:defRPr sz="4200" b="1">
                <a:solidFill>
                  <a:srgbClr val="245844"/>
                </a:solidFill>
                <a:latin typeface="Arial"/>
                <a:ea typeface="Arial"/>
                <a:cs typeface="Arial"/>
              </a:defRPr>
            </a:lvl1pPr>
            <a:lvl2pPr>
              <a:buNone/>
              <a:defRPr sz="4200" b="1">
                <a:solidFill>
                  <a:srgbClr val="245844"/>
                </a:solidFill>
                <a:latin typeface="Arial"/>
                <a:ea typeface="Arial"/>
                <a:cs typeface="Arial"/>
              </a:defRPr>
            </a:lvl2pPr>
            <a:lvl3pPr>
              <a:buNone/>
              <a:defRPr sz="4200" b="1">
                <a:solidFill>
                  <a:srgbClr val="245844"/>
                </a:solidFill>
                <a:latin typeface="Arial"/>
                <a:ea typeface="Arial"/>
                <a:cs typeface="Arial"/>
              </a:defRPr>
            </a:lvl3pPr>
            <a:lvl4pPr>
              <a:buNone/>
              <a:defRPr sz="4200" b="1">
                <a:solidFill>
                  <a:srgbClr val="245844"/>
                </a:solidFill>
                <a:latin typeface="Arial"/>
                <a:ea typeface="Arial"/>
                <a:cs typeface="Arial"/>
              </a:defRPr>
            </a:lvl4pPr>
            <a:lvl5pPr>
              <a:buNone/>
              <a:defRPr sz="4200" b="1">
                <a:solidFill>
                  <a:srgbClr val="245844"/>
                </a:solidFill>
                <a:latin typeface="Arial"/>
                <a:ea typeface="Arial"/>
                <a:cs typeface="Arial"/>
              </a:defRPr>
            </a:lvl5pPr>
            <a:lvl6pPr>
              <a:buNone/>
              <a:defRPr sz="4200" b="1">
                <a:solidFill>
                  <a:srgbClr val="245844"/>
                </a:solidFill>
                <a:latin typeface="Arial"/>
                <a:ea typeface="Arial"/>
                <a:cs typeface="Arial"/>
              </a:defRPr>
            </a:lvl6pPr>
            <a:lvl7pPr>
              <a:buNone/>
              <a:defRPr sz="4200" b="1">
                <a:solidFill>
                  <a:srgbClr val="245844"/>
                </a:solidFill>
                <a:latin typeface="Arial"/>
                <a:ea typeface="Arial"/>
                <a:cs typeface="Arial"/>
              </a:defRPr>
            </a:lvl7pPr>
            <a:lvl8pPr>
              <a:buNone/>
              <a:defRPr sz="4200" b="1">
                <a:solidFill>
                  <a:srgbClr val="245844"/>
                </a:solidFill>
                <a:latin typeface="Arial"/>
                <a:ea typeface="Arial"/>
                <a:cs typeface="Arial"/>
              </a:defRPr>
            </a:lvl8pPr>
            <a:lvl9pPr>
              <a:buNone/>
              <a:defRPr sz="4200" b="1">
                <a:solidFill>
                  <a:srgbClr val="245844"/>
                </a:solidFill>
                <a:latin typeface="Arial"/>
                <a:ea typeface="Arial"/>
                <a:cs typeface="Arial"/>
              </a:defRPr>
            </a:lvl9pPr>
          </a:lstStyle>
          <a:p xmlns:a="http://schemas.openxmlformats.org/drawingml/2006/main">
            <a:pPr>
              <a:buNone/>
              <a:defRPr sz="4200" b="1">
                <a:solidFill>
                  <a:srgbClr val="245844"/>
                </a:solidFill>
                <a:latin typeface="Arial"/>
                <a:ea typeface="Arial"/>
                <a:cs typeface="Arial"/>
              </a:defRPr>
            </a:pPr>
            <a:r>
              <a:rPr sz="4200" b="1">
                <a:solidFill>
                  <a:srgbClr val="245844"/>
                </a:solidFill>
                <a:latin typeface="Arial"/>
                <a:ea typeface="Arial"/>
                <a:cs typeface="Arial"/>
              </a:rPr>
              <a:t>96.90%</a:t>
            </a:r>
          </a:p>
        </p:txBody>
      </p:sp>
      <p:sp>
        <p:nvSpPr>
          <p:cNvPr id="5" name="">
            <a:extLst xmlns:a="http://schemas.openxmlformats.org/drawingml/2006/main">
              <a:ext uri="{FF2B5EF4-FFF2-40B4-BE49-F238E27FC236}">
                <a16:creationId xmlns:a16="http://schemas.microsoft.com/office/drawing/2014/main" id="{07CBCA69-4CA1-4C01-ACAB-EF637520225C}"/>
              </a:ext>
            </a:extLst>
          </p:cNvPr>
          <p:cNvSpPr>
            <a:spLocks xmlns:a="http://schemas.openxmlformats.org/drawingml/2006/main" noGrp="1"/>
          </p:cNvSpPr>
          <p:nvPr/>
        </p:nvSpPr>
        <p:spPr>
          <a:xfrm xmlns:a="http://schemas.openxmlformats.org/drawingml/2006/main">
            <a:off x="8477250" y="2686050"/>
            <a:ext cx="3000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Both partial models</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Mean across 3 seeds</a:t>
            </a:r>
          </a:p>
        </p:txBody>
      </p:sp>
      <p:sp>
        <p:nvSpPr>
          <p:cNvPr id="6" name="">
            <a:extLst xmlns:a="http://schemas.openxmlformats.org/drawingml/2006/main">
              <a:ext uri="{FF2B5EF4-FFF2-40B4-BE49-F238E27FC236}">
                <a16:creationId xmlns:a16="http://schemas.microsoft.com/office/drawing/2014/main" id="{4498CB6D-2A5E-4088-BE61-A371FE15D787}"/>
              </a:ext>
            </a:extLst>
          </p:cNvPr>
          <p:cNvSpPr>
            <a:spLocks xmlns:a="http://schemas.openxmlformats.org/drawingml/2006/main" noGrp="1"/>
          </p:cNvSpPr>
          <p:nvPr/>
        </p:nvSpPr>
        <p:spPr>
          <a:xfrm xmlns:a="http://schemas.openxmlformats.org/drawingml/2006/main">
            <a:off x="8477250" y="4143375"/>
            <a:ext cx="3000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864"/>
                </a:solidFill>
                <a:latin typeface="Arial"/>
                <a:ea typeface="Arial"/>
                <a:cs typeface="Arial"/>
              </a:defRPr>
            </a:defPPr>
            <a:lvl1pPr>
              <a:buNone/>
              <a:defRPr sz="1800" b="0">
                <a:solidFill>
                  <a:srgbClr val="5D6864"/>
                </a:solidFill>
                <a:latin typeface="Arial"/>
                <a:ea typeface="Arial"/>
                <a:cs typeface="Arial"/>
              </a:defRPr>
            </a:lvl1pPr>
            <a:lvl2pPr>
              <a:buNone/>
              <a:defRPr sz="1800" b="0">
                <a:solidFill>
                  <a:srgbClr val="5D6864"/>
                </a:solidFill>
                <a:latin typeface="Arial"/>
                <a:ea typeface="Arial"/>
                <a:cs typeface="Arial"/>
              </a:defRPr>
            </a:lvl2pPr>
            <a:lvl3pPr>
              <a:buNone/>
              <a:defRPr sz="1800" b="0">
                <a:solidFill>
                  <a:srgbClr val="5D6864"/>
                </a:solidFill>
                <a:latin typeface="Arial"/>
                <a:ea typeface="Arial"/>
                <a:cs typeface="Arial"/>
              </a:defRPr>
            </a:lvl3pPr>
            <a:lvl4pPr>
              <a:buNone/>
              <a:defRPr sz="1800" b="0">
                <a:solidFill>
                  <a:srgbClr val="5D6864"/>
                </a:solidFill>
                <a:latin typeface="Arial"/>
                <a:ea typeface="Arial"/>
                <a:cs typeface="Arial"/>
              </a:defRPr>
            </a:lvl4pPr>
            <a:lvl5pPr>
              <a:buNone/>
              <a:defRPr sz="1800" b="0">
                <a:solidFill>
                  <a:srgbClr val="5D6864"/>
                </a:solidFill>
                <a:latin typeface="Arial"/>
                <a:ea typeface="Arial"/>
                <a:cs typeface="Arial"/>
              </a:defRPr>
            </a:lvl5pPr>
            <a:lvl6pPr>
              <a:buNone/>
              <a:defRPr sz="1800" b="0">
                <a:solidFill>
                  <a:srgbClr val="5D6864"/>
                </a:solidFill>
                <a:latin typeface="Arial"/>
                <a:ea typeface="Arial"/>
                <a:cs typeface="Arial"/>
              </a:defRPr>
            </a:lvl6pPr>
            <a:lvl7pPr>
              <a:buNone/>
              <a:defRPr sz="1800" b="0">
                <a:solidFill>
                  <a:srgbClr val="5D6864"/>
                </a:solidFill>
                <a:latin typeface="Arial"/>
                <a:ea typeface="Arial"/>
                <a:cs typeface="Arial"/>
              </a:defRPr>
            </a:lvl7pPr>
            <a:lvl8pPr>
              <a:buNone/>
              <a:defRPr sz="1800" b="0">
                <a:solidFill>
                  <a:srgbClr val="5D6864"/>
                </a:solidFill>
                <a:latin typeface="Arial"/>
                <a:ea typeface="Arial"/>
                <a:cs typeface="Arial"/>
              </a:defRPr>
            </a:lvl8pPr>
            <a:lvl9pPr>
              <a:buNone/>
              <a:defRPr sz="1800" b="0">
                <a:solidFill>
                  <a:srgbClr val="5D6864"/>
                </a:solidFill>
                <a:latin typeface="Arial"/>
                <a:ea typeface="Arial"/>
                <a:cs typeface="Arial"/>
              </a:defRPr>
            </a:lvl9pPr>
          </a:lstStyle>
          <a:p xmlns:a="http://schemas.openxmlformats.org/drawingml/2006/main">
            <a:pPr>
              <a:buNone/>
              <a:defRPr sz="1800" b="0">
                <a:solidFill>
                  <a:srgbClr val="5D6864"/>
                </a:solidFill>
                <a:latin typeface="Arial"/>
                <a:ea typeface="Arial"/>
                <a:cs typeface="Arial"/>
              </a:defRPr>
            </a:pPr>
            <a:r>
              <a:rPr sz="1800" b="0">
                <a:solidFill>
                  <a:srgbClr val="5D6864"/>
                </a:solidFill>
                <a:latin typeface="Arial"/>
                <a:ea typeface="Arial"/>
                <a:cs typeface="Arial"/>
              </a:rPr>
              <a:t>Peak allocated memory</a:t>
            </a:r>
          </a:p>
        </p:txBody>
      </p:sp>
      <p:sp>
        <p:nvSpPr>
          <p:cNvPr id="7" name="">
            <a:extLst xmlns:a="http://schemas.openxmlformats.org/drawingml/2006/main">
              <a:ext uri="{FF2B5EF4-FFF2-40B4-BE49-F238E27FC236}">
                <a16:creationId xmlns:a16="http://schemas.microsoft.com/office/drawing/2014/main" id="{81957CBC-E278-4F8D-B450-A25C4FD84322}"/>
              </a:ext>
            </a:extLst>
          </p:cNvPr>
          <p:cNvSpPr>
            <a:spLocks xmlns:a="http://schemas.openxmlformats.org/drawingml/2006/main" noGrp="1"/>
          </p:cNvSpPr>
          <p:nvPr/>
        </p:nvSpPr>
        <p:spPr>
          <a:xfrm xmlns:a="http://schemas.openxmlformats.org/drawingml/2006/main">
            <a:off x="8477250" y="4572000"/>
            <a:ext cx="30003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DINOv2: 288 MB</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SigLIP 2: 722 MB</a:t>
            </a:r>
          </a:p>
        </p:txBody>
      </p:sp>
      <p:sp>
        <p:nvSpPr>
          <p:cNvPr id="8" name="">
            <a:extLst xmlns:a="http://schemas.openxmlformats.org/drawingml/2006/main">
              <a:ext uri="{FF2B5EF4-FFF2-40B4-BE49-F238E27FC236}">
                <a16:creationId xmlns:a16="http://schemas.microsoft.com/office/drawing/2014/main" id="{2B36A754-CB92-462F-8352-2643BA1712DA}"/>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Mean of three runs per setting. The 128-image test set was reused from earlier work.</a:t>
            </a:r>
          </a:p>
        </p:txBody>
      </p:sp>
    </p:spTree>
    <p:extLst>
      <p:ext uri="{BB962C8B-B14F-4D97-AF65-F5344CB8AC3E}">
        <p14:creationId xmlns:p14="http://schemas.microsoft.com/office/powerpoint/2010/main" val="61268010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F47C76-02D1-4C91-BF6C-D94FCD239B95}"/>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Later epochs showed overfitting or instability</a:t>
            </a:r>
          </a:p>
        </p:txBody>
      </p:sp>
      <p:sp>
        <p:nvSpPr>
          <p:cNvPr id="2" name="">
            <a:extLst xmlns:a="http://schemas.openxmlformats.org/drawingml/2006/main">
              <a:ext uri="{FF2B5EF4-FFF2-40B4-BE49-F238E27FC236}">
                <a16:creationId xmlns:a16="http://schemas.microsoft.com/office/drawing/2014/main" id="{7CCDD856-BB91-463F-A759-20F82E140138}"/>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5</a:t>
            </a:r>
          </a:p>
        </p:txBody>
      </p:sp>
      <p:graphicFrame>
        <p:nvGraphicFramePr>
          <p:cNvPr id="3" name="Chart">
            <a:extLst xmlns:a="http://schemas.openxmlformats.org/drawingml/2006/main">
              <a:ext uri="{FF2B5EF4-FFF2-40B4-BE49-F238E27FC236}">
                <a16:creationId xmlns:a16="http://schemas.microsoft.com/office/drawing/2014/main" id="{ADCAD6F9-ECD9-426F-8FE4-1277F9294A35}"/>
              </a:ext>
            </a:extLst>
          </p:cNvPr>
          <p:cNvGraphicFramePr/>
          <p:nvPr/>
        </p:nvGraphicFramePr>
        <p:xfrm>
          <a:off xmlns:a="http://schemas.openxmlformats.org/drawingml/2006/main" x="609600" y="1533525"/>
          <a:ext xmlns:a="http://schemas.openxmlformats.org/drawingml/2006/main" cx="7572375" cy="4114800"/>
        </p:xfrm>
        <a:graphic xmlns:a="http://schemas.openxmlformats.org/drawingml/2006/main">
          <a:graphicData uri="http://schemas.openxmlformats.org/drawingml/2006/chart">
            <c:chart xmlns:r="http://schemas.openxmlformats.org/officeDocument/2006/relationships" xmlns:c="http://schemas.openxmlformats.org/drawingml/2006/chart" r:id="Rffc8289360ef4249"/>
          </a:graphicData>
        </a:graphic>
      </p:graphicFrame>
      <p:sp>
        <p:nvSpPr>
          <p:cNvPr id="4" name="">
            <a:extLst xmlns:a="http://schemas.openxmlformats.org/drawingml/2006/main">
              <a:ext uri="{FF2B5EF4-FFF2-40B4-BE49-F238E27FC236}">
                <a16:creationId xmlns:a16="http://schemas.microsoft.com/office/drawing/2014/main" id="{36F30370-962C-4C9B-8883-DFED39DC259C}"/>
              </a:ext>
            </a:extLst>
          </p:cNvPr>
          <p:cNvSpPr>
            <a:spLocks xmlns:a="http://schemas.openxmlformats.org/drawingml/2006/main" noGrp="1"/>
          </p:cNvSpPr>
          <p:nvPr/>
        </p:nvSpPr>
        <p:spPr>
          <a:xfrm xmlns:a="http://schemas.openxmlformats.org/drawingml/2006/main">
            <a:off x="8572500" y="1762125"/>
            <a:ext cx="2905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245844"/>
                </a:solidFill>
                <a:latin typeface="Arial"/>
                <a:ea typeface="Arial"/>
                <a:cs typeface="Arial"/>
              </a:defRPr>
            </a:defPPr>
            <a:lvl1pPr>
              <a:buNone/>
              <a:defRPr sz="2400" b="1">
                <a:solidFill>
                  <a:srgbClr val="245844"/>
                </a:solidFill>
                <a:latin typeface="Arial"/>
                <a:ea typeface="Arial"/>
                <a:cs typeface="Arial"/>
              </a:defRPr>
            </a:lvl1pPr>
            <a:lvl2pPr>
              <a:buNone/>
              <a:defRPr sz="2400" b="1">
                <a:solidFill>
                  <a:srgbClr val="245844"/>
                </a:solidFill>
                <a:latin typeface="Arial"/>
                <a:ea typeface="Arial"/>
                <a:cs typeface="Arial"/>
              </a:defRPr>
            </a:lvl2pPr>
            <a:lvl3pPr>
              <a:buNone/>
              <a:defRPr sz="2400" b="1">
                <a:solidFill>
                  <a:srgbClr val="245844"/>
                </a:solidFill>
                <a:latin typeface="Arial"/>
                <a:ea typeface="Arial"/>
                <a:cs typeface="Arial"/>
              </a:defRPr>
            </a:lvl3pPr>
            <a:lvl4pPr>
              <a:buNone/>
              <a:defRPr sz="2400" b="1">
                <a:solidFill>
                  <a:srgbClr val="245844"/>
                </a:solidFill>
                <a:latin typeface="Arial"/>
                <a:ea typeface="Arial"/>
                <a:cs typeface="Arial"/>
              </a:defRPr>
            </a:lvl4pPr>
            <a:lvl5pPr>
              <a:buNone/>
              <a:defRPr sz="2400" b="1">
                <a:solidFill>
                  <a:srgbClr val="245844"/>
                </a:solidFill>
                <a:latin typeface="Arial"/>
                <a:ea typeface="Arial"/>
                <a:cs typeface="Arial"/>
              </a:defRPr>
            </a:lvl5pPr>
            <a:lvl6pPr>
              <a:buNone/>
              <a:defRPr sz="2400" b="1">
                <a:solidFill>
                  <a:srgbClr val="245844"/>
                </a:solidFill>
                <a:latin typeface="Arial"/>
                <a:ea typeface="Arial"/>
                <a:cs typeface="Arial"/>
              </a:defRPr>
            </a:lvl6pPr>
            <a:lvl7pPr>
              <a:buNone/>
              <a:defRPr sz="2400" b="1">
                <a:solidFill>
                  <a:srgbClr val="245844"/>
                </a:solidFill>
                <a:latin typeface="Arial"/>
                <a:ea typeface="Arial"/>
                <a:cs typeface="Arial"/>
              </a:defRPr>
            </a:lvl7pPr>
            <a:lvl8pPr>
              <a:buNone/>
              <a:defRPr sz="2400" b="1">
                <a:solidFill>
                  <a:srgbClr val="245844"/>
                </a:solidFill>
                <a:latin typeface="Arial"/>
                <a:ea typeface="Arial"/>
                <a:cs typeface="Arial"/>
              </a:defRPr>
            </a:lvl8pPr>
            <a:lvl9pPr>
              <a:buNone/>
              <a:defRPr sz="2400" b="1">
                <a:solidFill>
                  <a:srgbClr val="245844"/>
                </a:solidFill>
                <a:latin typeface="Arial"/>
                <a:ea typeface="Arial"/>
                <a:cs typeface="Arial"/>
              </a:defRPr>
            </a:lvl9pPr>
          </a:lstStyle>
          <a:p xmlns:a="http://schemas.openxmlformats.org/drawingml/2006/main">
            <a:pPr>
              <a:buNone/>
              <a:defRPr sz="2400" b="1">
                <a:solidFill>
                  <a:srgbClr val="245844"/>
                </a:solidFill>
                <a:latin typeface="Arial"/>
                <a:ea typeface="Arial"/>
                <a:cs typeface="Arial"/>
              </a:defRPr>
            </a:pPr>
            <a:r>
              <a:rPr sz="2400" b="1">
                <a:solidFill>
                  <a:srgbClr val="245844"/>
                </a:solidFill>
                <a:latin typeface="Arial"/>
                <a:ea typeface="Arial"/>
                <a:cs typeface="Arial"/>
              </a:rPr>
              <a:t>Epoch 6 retained</a:t>
            </a:r>
          </a:p>
        </p:txBody>
      </p:sp>
      <p:sp>
        <p:nvSpPr>
          <p:cNvPr id="5" name="">
            <a:extLst xmlns:a="http://schemas.openxmlformats.org/drawingml/2006/main">
              <a:ext uri="{FF2B5EF4-FFF2-40B4-BE49-F238E27FC236}">
                <a16:creationId xmlns:a16="http://schemas.microsoft.com/office/drawing/2014/main" id="{712EF16C-D096-4EFB-ACE2-EA603A75B418}"/>
              </a:ext>
            </a:extLst>
          </p:cNvPr>
          <p:cNvSpPr>
            <a:spLocks xmlns:a="http://schemas.openxmlformats.org/drawingml/2006/main" noGrp="1"/>
          </p:cNvSpPr>
          <p:nvPr/>
        </p:nvSpPr>
        <p:spPr>
          <a:xfrm xmlns:a="http://schemas.openxmlformats.org/drawingml/2006/main">
            <a:off x="8572500" y="2714625"/>
            <a:ext cx="2905125"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Validation loss</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0.062 at epoch 6</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0.375 at epoch 9</a:t>
            </a:r>
          </a:p>
        </p:txBody>
      </p:sp>
      <p:sp>
        <p:nvSpPr>
          <p:cNvPr id="6" name="">
            <a:extLst xmlns:a="http://schemas.openxmlformats.org/drawingml/2006/main">
              <a:ext uri="{FF2B5EF4-FFF2-40B4-BE49-F238E27FC236}">
                <a16:creationId xmlns:a16="http://schemas.microsoft.com/office/drawing/2014/main" id="{82B4028B-3C22-40C8-B3D6-93CF728CD81C}"/>
              </a:ext>
            </a:extLst>
          </p:cNvPr>
          <p:cNvSpPr>
            <a:spLocks xmlns:a="http://schemas.openxmlformats.org/drawingml/2006/main" noGrp="1"/>
          </p:cNvSpPr>
          <p:nvPr/>
        </p:nvSpPr>
        <p:spPr>
          <a:xfrm xmlns:a="http://schemas.openxmlformats.org/drawingml/2006/main">
            <a:off x="8572500" y="4381500"/>
            <a:ext cx="2905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22362F"/>
                </a:solidFill>
                <a:latin typeface="Arial"/>
                <a:ea typeface="Arial"/>
                <a:cs typeface="Arial"/>
              </a:defRPr>
            </a:defPPr>
            <a:lvl1pPr>
              <a:buNone/>
              <a:defRPr sz="1875" b="0">
                <a:solidFill>
                  <a:srgbClr val="22362F"/>
                </a:solidFill>
                <a:latin typeface="Arial"/>
                <a:ea typeface="Arial"/>
                <a:cs typeface="Arial"/>
              </a:defRPr>
            </a:lvl1pPr>
            <a:lvl2pPr>
              <a:buNone/>
              <a:defRPr sz="1875" b="0">
                <a:solidFill>
                  <a:srgbClr val="22362F"/>
                </a:solidFill>
                <a:latin typeface="Arial"/>
                <a:ea typeface="Arial"/>
                <a:cs typeface="Arial"/>
              </a:defRPr>
            </a:lvl2pPr>
            <a:lvl3pPr>
              <a:buNone/>
              <a:defRPr sz="1875" b="0">
                <a:solidFill>
                  <a:srgbClr val="22362F"/>
                </a:solidFill>
                <a:latin typeface="Arial"/>
                <a:ea typeface="Arial"/>
                <a:cs typeface="Arial"/>
              </a:defRPr>
            </a:lvl3pPr>
            <a:lvl4pPr>
              <a:buNone/>
              <a:defRPr sz="1875" b="0">
                <a:solidFill>
                  <a:srgbClr val="22362F"/>
                </a:solidFill>
                <a:latin typeface="Arial"/>
                <a:ea typeface="Arial"/>
                <a:cs typeface="Arial"/>
              </a:defRPr>
            </a:lvl4pPr>
            <a:lvl5pPr>
              <a:buNone/>
              <a:defRPr sz="1875" b="0">
                <a:solidFill>
                  <a:srgbClr val="22362F"/>
                </a:solidFill>
                <a:latin typeface="Arial"/>
                <a:ea typeface="Arial"/>
                <a:cs typeface="Arial"/>
              </a:defRPr>
            </a:lvl5pPr>
            <a:lvl6pPr>
              <a:buNone/>
              <a:defRPr sz="1875" b="0">
                <a:solidFill>
                  <a:srgbClr val="22362F"/>
                </a:solidFill>
                <a:latin typeface="Arial"/>
                <a:ea typeface="Arial"/>
                <a:cs typeface="Arial"/>
              </a:defRPr>
            </a:lvl6pPr>
            <a:lvl7pPr>
              <a:buNone/>
              <a:defRPr sz="1875" b="0">
                <a:solidFill>
                  <a:srgbClr val="22362F"/>
                </a:solidFill>
                <a:latin typeface="Arial"/>
                <a:ea typeface="Arial"/>
                <a:cs typeface="Arial"/>
              </a:defRPr>
            </a:lvl7pPr>
            <a:lvl8pPr>
              <a:buNone/>
              <a:defRPr sz="1875" b="0">
                <a:solidFill>
                  <a:srgbClr val="22362F"/>
                </a:solidFill>
                <a:latin typeface="Arial"/>
                <a:ea typeface="Arial"/>
                <a:cs typeface="Arial"/>
              </a:defRPr>
            </a:lvl8pPr>
            <a:lvl9pPr>
              <a:buNone/>
              <a:defRPr sz="1875" b="0">
                <a:solidFill>
                  <a:srgbClr val="22362F"/>
                </a:solidFill>
                <a:latin typeface="Arial"/>
                <a:ea typeface="Arial"/>
                <a:cs typeface="Arial"/>
              </a:defRPr>
            </a:lvl9pPr>
          </a:lstStyle>
          <a:p xmlns:a="http://schemas.openxmlformats.org/drawingml/2006/main">
            <a:pPr>
              <a:buNone/>
              <a:defRPr sz="1875" b="0">
                <a:solidFill>
                  <a:srgbClr val="22362F"/>
                </a:solidFill>
                <a:latin typeface="Arial"/>
                <a:ea typeface="Arial"/>
                <a:cs typeface="Arial"/>
              </a:defRPr>
            </a:pPr>
            <a:r>
              <a:rPr sz="1875" b="0">
                <a:solidFill>
                  <a:srgbClr val="22362F"/>
                </a:solidFill>
                <a:latin typeface="Arial"/>
                <a:ea typeface="Arial"/>
                <a:cs typeface="Arial"/>
              </a:rPr>
              <a:t>Clean train–test F1 gap</a:t>
            </a:r>
          </a:p>
          <a:p xmlns:a="http://schemas.openxmlformats.org/drawingml/2006/main">
            <a:pPr>
              <a:buNone/>
              <a:defRPr sz="1875" b="0">
                <a:solidFill>
                  <a:srgbClr val="22362F"/>
                </a:solidFill>
                <a:latin typeface="Arial"/>
                <a:ea typeface="Arial"/>
                <a:cs typeface="Arial"/>
              </a:defRPr>
            </a:pPr>
            <a:r>
              <a:rPr sz="1875" b="0">
                <a:solidFill>
                  <a:srgbClr val="22362F"/>
                </a:solidFill>
                <a:latin typeface="Arial"/>
                <a:ea typeface="Arial"/>
                <a:cs typeface="Arial"/>
              </a:rPr>
              <a:t>DINOv2: 1.27 points</a:t>
            </a:r>
          </a:p>
          <a:p xmlns:a="http://schemas.openxmlformats.org/drawingml/2006/main">
            <a:pPr>
              <a:buNone/>
              <a:defRPr sz="1875" b="0">
                <a:solidFill>
                  <a:srgbClr val="22362F"/>
                </a:solidFill>
                <a:latin typeface="Arial"/>
                <a:ea typeface="Arial"/>
                <a:cs typeface="Arial"/>
              </a:defRPr>
            </a:pPr>
            <a:r>
              <a:rPr sz="1875" b="0">
                <a:solidFill>
                  <a:srgbClr val="22362F"/>
                </a:solidFill>
                <a:latin typeface="Arial"/>
                <a:ea typeface="Arial"/>
                <a:cs typeface="Arial"/>
              </a:rPr>
              <a:t>SigLIP 2: 2.01 points</a:t>
            </a:r>
          </a:p>
        </p:txBody>
      </p:sp>
      <p:sp>
        <p:nvSpPr>
          <p:cNvPr id="7" name="">
            <a:extLst xmlns:a="http://schemas.openxmlformats.org/drawingml/2006/main">
              <a:ext uri="{FF2B5EF4-FFF2-40B4-BE49-F238E27FC236}">
                <a16:creationId xmlns:a16="http://schemas.microsoft.com/office/drawing/2014/main" id="{7DDAC5B9-124B-4C7D-9D96-7A20C4757F1A}"/>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Curve: SigLIP 2 partial, seed 17. F1 gaps average the three selected runs.</a:t>
            </a:r>
          </a:p>
        </p:txBody>
      </p:sp>
    </p:spTree>
    <p:extLst>
      <p:ext uri="{BB962C8B-B14F-4D97-AF65-F5344CB8AC3E}">
        <p14:creationId xmlns:p14="http://schemas.microsoft.com/office/powerpoint/2010/main" val="57584119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9819605-F18C-4640-9FDC-151ED7AD4AF2}"/>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A confident prediction can still be wrong</a:t>
            </a:r>
          </a:p>
        </p:txBody>
      </p:sp>
      <p:sp>
        <p:nvSpPr>
          <p:cNvPr id="2" name="">
            <a:extLst xmlns:a="http://schemas.openxmlformats.org/drawingml/2006/main">
              <a:ext uri="{FF2B5EF4-FFF2-40B4-BE49-F238E27FC236}">
                <a16:creationId xmlns:a16="http://schemas.microsoft.com/office/drawing/2014/main" id="{094B734D-0118-460A-9E68-F4C78AF635C5}"/>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6</a:t>
            </a:r>
          </a:p>
        </p:txBody>
      </p:sp>
      <p:pic>
        <p:nvPicPr>
          <p:cNvPr id="3" name="">
            <a:extLst xmlns:a="http://schemas.openxmlformats.org/drawingml/2006/main">
              <a:ext uri="{FF2B5EF4-FFF2-40B4-BE49-F238E27FC236}">
                <a16:creationId xmlns:a16="http://schemas.microsoft.com/office/drawing/2014/main" id="{5BB12D8E-FA0D-4920-9420-0F01ED63FBC1}"/>
              </a:ext>
            </a:extLst>
          </p:cNvPr>
          <p:cNvPicPr>
            <a:picLocks xmlns:a="http://schemas.openxmlformats.org/drawingml/2006/main" noChangeAspect="1"/>
          </p:cNvPicPr>
          <p:nvPr/>
        </p:nvPicPr>
        <p:blipFill>
          <a:blip xmlns:r="http://schemas.openxmlformats.org/officeDocument/2006/relationships" xmlns:a="http://schemas.openxmlformats.org/drawingml/2006/main" r:embed="Rfe56c96202484e8a"/>
          <a:stretch xmlns:a="http://schemas.openxmlformats.org/drawingml/2006/main"/>
        </p:blipFill>
        <p:spPr>
          <a:xfrm xmlns:a="http://schemas.openxmlformats.org/drawingml/2006/main">
            <a:off x="609600" y="1657350"/>
            <a:ext cx="2762250" cy="2762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08FC78DC-8F87-448A-B640-559CDA0865ED}"/>
              </a:ext>
            </a:extLst>
          </p:cNvPr>
          <p:cNvPicPr>
            <a:picLocks xmlns:a="http://schemas.openxmlformats.org/drawingml/2006/main" noChangeAspect="1"/>
          </p:cNvPicPr>
          <p:nvPr/>
        </p:nvPicPr>
        <p:blipFill>
          <a:blip xmlns:r="http://schemas.openxmlformats.org/officeDocument/2006/relationships" xmlns:a="http://schemas.openxmlformats.org/drawingml/2006/main" r:embed="R1a4ccddae10d43c0"/>
          <a:stretch xmlns:a="http://schemas.openxmlformats.org/drawingml/2006/main"/>
        </p:blipFill>
        <p:spPr>
          <a:xfrm xmlns:a="http://schemas.openxmlformats.org/drawingml/2006/main">
            <a:off x="3686175" y="1657350"/>
            <a:ext cx="2762250" cy="2762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4726D49-4AC3-429B-B1F4-8F756CEA97B1}"/>
              </a:ext>
            </a:extLst>
          </p:cNvPr>
          <p:cNvSpPr>
            <a:spLocks xmlns:a="http://schemas.openxmlformats.org/drawingml/2006/main" noGrp="1"/>
          </p:cNvSpPr>
          <p:nvPr/>
        </p:nvSpPr>
        <p:spPr>
          <a:xfrm xmlns:a="http://schemas.openxmlformats.org/drawingml/2006/main">
            <a:off x="609600" y="4572000"/>
            <a:ext cx="5857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22362F"/>
                </a:solidFill>
                <a:latin typeface="Arial"/>
                <a:ea typeface="Arial"/>
                <a:cs typeface="Arial"/>
              </a:defRPr>
            </a:defPPr>
            <a:lvl1pPr>
              <a:buNone/>
              <a:defRPr sz="2025" b="1">
                <a:solidFill>
                  <a:srgbClr val="22362F"/>
                </a:solidFill>
                <a:latin typeface="Arial"/>
                <a:ea typeface="Arial"/>
                <a:cs typeface="Arial"/>
              </a:defRPr>
            </a:lvl1pPr>
            <a:lvl2pPr>
              <a:buNone/>
              <a:defRPr sz="2025" b="1">
                <a:solidFill>
                  <a:srgbClr val="22362F"/>
                </a:solidFill>
                <a:latin typeface="Arial"/>
                <a:ea typeface="Arial"/>
                <a:cs typeface="Arial"/>
              </a:defRPr>
            </a:lvl2pPr>
            <a:lvl3pPr>
              <a:buNone/>
              <a:defRPr sz="2025" b="1">
                <a:solidFill>
                  <a:srgbClr val="22362F"/>
                </a:solidFill>
                <a:latin typeface="Arial"/>
                <a:ea typeface="Arial"/>
                <a:cs typeface="Arial"/>
              </a:defRPr>
            </a:lvl3pPr>
            <a:lvl4pPr>
              <a:buNone/>
              <a:defRPr sz="2025" b="1">
                <a:solidFill>
                  <a:srgbClr val="22362F"/>
                </a:solidFill>
                <a:latin typeface="Arial"/>
                <a:ea typeface="Arial"/>
                <a:cs typeface="Arial"/>
              </a:defRPr>
            </a:lvl4pPr>
            <a:lvl5pPr>
              <a:buNone/>
              <a:defRPr sz="2025" b="1">
                <a:solidFill>
                  <a:srgbClr val="22362F"/>
                </a:solidFill>
                <a:latin typeface="Arial"/>
                <a:ea typeface="Arial"/>
                <a:cs typeface="Arial"/>
              </a:defRPr>
            </a:lvl5pPr>
            <a:lvl6pPr>
              <a:buNone/>
              <a:defRPr sz="2025" b="1">
                <a:solidFill>
                  <a:srgbClr val="22362F"/>
                </a:solidFill>
                <a:latin typeface="Arial"/>
                <a:ea typeface="Arial"/>
                <a:cs typeface="Arial"/>
              </a:defRPr>
            </a:lvl6pPr>
            <a:lvl7pPr>
              <a:buNone/>
              <a:defRPr sz="2025" b="1">
                <a:solidFill>
                  <a:srgbClr val="22362F"/>
                </a:solidFill>
                <a:latin typeface="Arial"/>
                <a:ea typeface="Arial"/>
                <a:cs typeface="Arial"/>
              </a:defRPr>
            </a:lvl7pPr>
            <a:lvl8pPr>
              <a:buNone/>
              <a:defRPr sz="2025" b="1">
                <a:solidFill>
                  <a:srgbClr val="22362F"/>
                </a:solidFill>
                <a:latin typeface="Arial"/>
                <a:ea typeface="Arial"/>
                <a:cs typeface="Arial"/>
              </a:defRPr>
            </a:lvl8pPr>
            <a:lvl9pPr>
              <a:buNone/>
              <a:defRPr sz="2025" b="1">
                <a:solidFill>
                  <a:srgbClr val="22362F"/>
                </a:solidFill>
                <a:latin typeface="Arial"/>
                <a:ea typeface="Arial"/>
                <a:cs typeface="Arial"/>
              </a:defRPr>
            </a:lvl9pPr>
          </a:lstStyle>
          <a:p xmlns:a="http://schemas.openxmlformats.org/drawingml/2006/main">
            <a:pPr>
              <a:buNone/>
              <a:defRPr sz="2025" b="1">
                <a:solidFill>
                  <a:srgbClr val="22362F"/>
                </a:solidFill>
                <a:latin typeface="Arial"/>
                <a:ea typeface="Arial"/>
                <a:cs typeface="Arial"/>
              </a:defRPr>
            </a:pPr>
            <a:r>
              <a:rPr sz="2025" b="1">
                <a:solidFill>
                  <a:srgbClr val="22362F"/>
                </a:solidFill>
                <a:latin typeface="Arial"/>
                <a:ea typeface="Arial"/>
                <a:cs typeface="Arial"/>
              </a:rPr>
              <a:t>True: angular leaf spot</a:t>
            </a:r>
          </a:p>
        </p:txBody>
      </p:sp>
      <p:sp>
        <p:nvSpPr>
          <p:cNvPr id="6" name="">
            <a:extLst xmlns:a="http://schemas.openxmlformats.org/drawingml/2006/main">
              <a:ext uri="{FF2B5EF4-FFF2-40B4-BE49-F238E27FC236}">
                <a16:creationId xmlns:a16="http://schemas.microsoft.com/office/drawing/2014/main" id="{23259BF9-2969-4671-9907-EE7BE05102EC}"/>
              </a:ext>
            </a:extLst>
          </p:cNvPr>
          <p:cNvSpPr>
            <a:spLocks xmlns:a="http://schemas.openxmlformats.org/drawingml/2006/main" noGrp="1"/>
          </p:cNvSpPr>
          <p:nvPr/>
        </p:nvSpPr>
        <p:spPr>
          <a:xfrm xmlns:a="http://schemas.openxmlformats.org/drawingml/2006/main">
            <a:off x="609600" y="5048250"/>
            <a:ext cx="285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B35B38"/>
                </a:solidFill>
                <a:latin typeface="Arial"/>
                <a:ea typeface="Arial"/>
                <a:cs typeface="Arial"/>
              </a:defRPr>
            </a:defPPr>
            <a:lvl1pPr>
              <a:buNone/>
              <a:defRPr sz="1875" b="0">
                <a:solidFill>
                  <a:srgbClr val="B35B38"/>
                </a:solidFill>
                <a:latin typeface="Arial"/>
                <a:ea typeface="Arial"/>
                <a:cs typeface="Arial"/>
              </a:defRPr>
            </a:lvl1pPr>
            <a:lvl2pPr>
              <a:buNone/>
              <a:defRPr sz="1875" b="0">
                <a:solidFill>
                  <a:srgbClr val="B35B38"/>
                </a:solidFill>
                <a:latin typeface="Arial"/>
                <a:ea typeface="Arial"/>
                <a:cs typeface="Arial"/>
              </a:defRPr>
            </a:lvl2pPr>
            <a:lvl3pPr>
              <a:buNone/>
              <a:defRPr sz="1875" b="0">
                <a:solidFill>
                  <a:srgbClr val="B35B38"/>
                </a:solidFill>
                <a:latin typeface="Arial"/>
                <a:ea typeface="Arial"/>
                <a:cs typeface="Arial"/>
              </a:defRPr>
            </a:lvl3pPr>
            <a:lvl4pPr>
              <a:buNone/>
              <a:defRPr sz="1875" b="0">
                <a:solidFill>
                  <a:srgbClr val="B35B38"/>
                </a:solidFill>
                <a:latin typeface="Arial"/>
                <a:ea typeface="Arial"/>
                <a:cs typeface="Arial"/>
              </a:defRPr>
            </a:lvl4pPr>
            <a:lvl5pPr>
              <a:buNone/>
              <a:defRPr sz="1875" b="0">
                <a:solidFill>
                  <a:srgbClr val="B35B38"/>
                </a:solidFill>
                <a:latin typeface="Arial"/>
                <a:ea typeface="Arial"/>
                <a:cs typeface="Arial"/>
              </a:defRPr>
            </a:lvl5pPr>
            <a:lvl6pPr>
              <a:buNone/>
              <a:defRPr sz="1875" b="0">
                <a:solidFill>
                  <a:srgbClr val="B35B38"/>
                </a:solidFill>
                <a:latin typeface="Arial"/>
                <a:ea typeface="Arial"/>
                <a:cs typeface="Arial"/>
              </a:defRPr>
            </a:lvl6pPr>
            <a:lvl7pPr>
              <a:buNone/>
              <a:defRPr sz="1875" b="0">
                <a:solidFill>
                  <a:srgbClr val="B35B38"/>
                </a:solidFill>
                <a:latin typeface="Arial"/>
                <a:ea typeface="Arial"/>
                <a:cs typeface="Arial"/>
              </a:defRPr>
            </a:lvl7pPr>
            <a:lvl8pPr>
              <a:buNone/>
              <a:defRPr sz="1875" b="0">
                <a:solidFill>
                  <a:srgbClr val="B35B38"/>
                </a:solidFill>
                <a:latin typeface="Arial"/>
                <a:ea typeface="Arial"/>
                <a:cs typeface="Arial"/>
              </a:defRPr>
            </a:lvl8pPr>
            <a:lvl9pPr>
              <a:buNone/>
              <a:defRPr sz="1875" b="0">
                <a:solidFill>
                  <a:srgbClr val="B35B38"/>
                </a:solidFill>
                <a:latin typeface="Arial"/>
                <a:ea typeface="Arial"/>
                <a:cs typeface="Arial"/>
              </a:defRPr>
            </a:lvl9pPr>
          </a:lstStyle>
          <a:p xmlns:a="http://schemas.openxmlformats.org/drawingml/2006/main">
            <a:pPr>
              <a:buNone/>
              <a:defRPr sz="1875" b="0">
                <a:solidFill>
                  <a:srgbClr val="B35B38"/>
                </a:solidFill>
                <a:latin typeface="Arial"/>
                <a:ea typeface="Arial"/>
                <a:cs typeface="Arial"/>
              </a:defRPr>
            </a:pPr>
            <a:r>
              <a:rPr sz="1875" b="0">
                <a:solidFill>
                  <a:srgbClr val="B35B38"/>
                </a:solidFill>
                <a:latin typeface="Arial"/>
                <a:ea typeface="Arial"/>
                <a:cs typeface="Arial"/>
              </a:rPr>
              <a:t>Predicted: rust</a:t>
            </a:r>
          </a:p>
          <a:p xmlns:a="http://schemas.openxmlformats.org/drawingml/2006/main">
            <a:pPr>
              <a:buNone/>
              <a:defRPr sz="1875" b="0">
                <a:solidFill>
                  <a:srgbClr val="B35B38"/>
                </a:solidFill>
                <a:latin typeface="Arial"/>
                <a:ea typeface="Arial"/>
                <a:cs typeface="Arial"/>
              </a:defRPr>
            </a:pPr>
            <a:r>
              <a:rPr sz="1875" b="0">
                <a:solidFill>
                  <a:srgbClr val="B35B38"/>
                </a:solidFill>
                <a:latin typeface="Arial"/>
                <a:ea typeface="Arial"/>
                <a:cs typeface="Arial"/>
              </a:rPr>
              <a:t>98.65% confidence</a:t>
            </a:r>
          </a:p>
        </p:txBody>
      </p:sp>
      <p:sp>
        <p:nvSpPr>
          <p:cNvPr id="7" name="">
            <a:extLst xmlns:a="http://schemas.openxmlformats.org/drawingml/2006/main">
              <a:ext uri="{FF2B5EF4-FFF2-40B4-BE49-F238E27FC236}">
                <a16:creationId xmlns:a16="http://schemas.microsoft.com/office/drawing/2014/main" id="{2474CF86-3463-495F-87F1-BC1A9DAF2D86}"/>
              </a:ext>
            </a:extLst>
          </p:cNvPr>
          <p:cNvSpPr>
            <a:spLocks xmlns:a="http://schemas.openxmlformats.org/drawingml/2006/main" noGrp="1"/>
          </p:cNvSpPr>
          <p:nvPr/>
        </p:nvSpPr>
        <p:spPr>
          <a:xfrm xmlns:a="http://schemas.openxmlformats.org/drawingml/2006/main">
            <a:off x="3686175" y="5048250"/>
            <a:ext cx="285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B35B38"/>
                </a:solidFill>
                <a:latin typeface="Arial"/>
                <a:ea typeface="Arial"/>
                <a:cs typeface="Arial"/>
              </a:defRPr>
            </a:defPPr>
            <a:lvl1pPr>
              <a:buNone/>
              <a:defRPr sz="1875" b="0">
                <a:solidFill>
                  <a:srgbClr val="B35B38"/>
                </a:solidFill>
                <a:latin typeface="Arial"/>
                <a:ea typeface="Arial"/>
                <a:cs typeface="Arial"/>
              </a:defRPr>
            </a:lvl1pPr>
            <a:lvl2pPr>
              <a:buNone/>
              <a:defRPr sz="1875" b="0">
                <a:solidFill>
                  <a:srgbClr val="B35B38"/>
                </a:solidFill>
                <a:latin typeface="Arial"/>
                <a:ea typeface="Arial"/>
                <a:cs typeface="Arial"/>
              </a:defRPr>
            </a:lvl2pPr>
            <a:lvl3pPr>
              <a:buNone/>
              <a:defRPr sz="1875" b="0">
                <a:solidFill>
                  <a:srgbClr val="B35B38"/>
                </a:solidFill>
                <a:latin typeface="Arial"/>
                <a:ea typeface="Arial"/>
                <a:cs typeface="Arial"/>
              </a:defRPr>
            </a:lvl3pPr>
            <a:lvl4pPr>
              <a:buNone/>
              <a:defRPr sz="1875" b="0">
                <a:solidFill>
                  <a:srgbClr val="B35B38"/>
                </a:solidFill>
                <a:latin typeface="Arial"/>
                <a:ea typeface="Arial"/>
                <a:cs typeface="Arial"/>
              </a:defRPr>
            </a:lvl4pPr>
            <a:lvl5pPr>
              <a:buNone/>
              <a:defRPr sz="1875" b="0">
                <a:solidFill>
                  <a:srgbClr val="B35B38"/>
                </a:solidFill>
                <a:latin typeface="Arial"/>
                <a:ea typeface="Arial"/>
                <a:cs typeface="Arial"/>
              </a:defRPr>
            </a:lvl5pPr>
            <a:lvl6pPr>
              <a:buNone/>
              <a:defRPr sz="1875" b="0">
                <a:solidFill>
                  <a:srgbClr val="B35B38"/>
                </a:solidFill>
                <a:latin typeface="Arial"/>
                <a:ea typeface="Arial"/>
                <a:cs typeface="Arial"/>
              </a:defRPr>
            </a:lvl6pPr>
            <a:lvl7pPr>
              <a:buNone/>
              <a:defRPr sz="1875" b="0">
                <a:solidFill>
                  <a:srgbClr val="B35B38"/>
                </a:solidFill>
                <a:latin typeface="Arial"/>
                <a:ea typeface="Arial"/>
                <a:cs typeface="Arial"/>
              </a:defRPr>
            </a:lvl7pPr>
            <a:lvl8pPr>
              <a:buNone/>
              <a:defRPr sz="1875" b="0">
                <a:solidFill>
                  <a:srgbClr val="B35B38"/>
                </a:solidFill>
                <a:latin typeface="Arial"/>
                <a:ea typeface="Arial"/>
                <a:cs typeface="Arial"/>
              </a:defRPr>
            </a:lvl8pPr>
            <a:lvl9pPr>
              <a:buNone/>
              <a:defRPr sz="1875" b="0">
                <a:solidFill>
                  <a:srgbClr val="B35B38"/>
                </a:solidFill>
                <a:latin typeface="Arial"/>
                <a:ea typeface="Arial"/>
                <a:cs typeface="Arial"/>
              </a:defRPr>
            </a:lvl9pPr>
          </a:lstStyle>
          <a:p xmlns:a="http://schemas.openxmlformats.org/drawingml/2006/main">
            <a:pPr>
              <a:buNone/>
              <a:defRPr sz="1875" b="0">
                <a:solidFill>
                  <a:srgbClr val="B35B38"/>
                </a:solidFill>
                <a:latin typeface="Arial"/>
                <a:ea typeface="Arial"/>
                <a:cs typeface="Arial"/>
              </a:defRPr>
            </a:pPr>
            <a:r>
              <a:rPr sz="1875" b="0">
                <a:solidFill>
                  <a:srgbClr val="B35B38"/>
                </a:solidFill>
                <a:latin typeface="Arial"/>
                <a:ea typeface="Arial"/>
                <a:cs typeface="Arial"/>
              </a:rPr>
              <a:t>Predicted: rust</a:t>
            </a:r>
          </a:p>
          <a:p xmlns:a="http://schemas.openxmlformats.org/drawingml/2006/main">
            <a:pPr>
              <a:buNone/>
              <a:defRPr sz="1875" b="0">
                <a:solidFill>
                  <a:srgbClr val="B35B38"/>
                </a:solidFill>
                <a:latin typeface="Arial"/>
                <a:ea typeface="Arial"/>
                <a:cs typeface="Arial"/>
              </a:defRPr>
            </a:pPr>
            <a:r>
              <a:rPr sz="1875" b="0">
                <a:solidFill>
                  <a:srgbClr val="B35B38"/>
                </a:solidFill>
                <a:latin typeface="Arial"/>
                <a:ea typeface="Arial"/>
                <a:cs typeface="Arial"/>
              </a:rPr>
              <a:t>82.47% confidence</a:t>
            </a:r>
          </a:p>
        </p:txBody>
      </p:sp>
      <p:sp>
        <p:nvSpPr>
          <p:cNvPr id="8" name="">
            <a:extLst xmlns:a="http://schemas.openxmlformats.org/drawingml/2006/main">
              <a:ext uri="{FF2B5EF4-FFF2-40B4-BE49-F238E27FC236}">
                <a16:creationId xmlns:a16="http://schemas.microsoft.com/office/drawing/2014/main" id="{7A7A37D6-5C47-4AB7-B6A7-4DDB3411DA20}"/>
              </a:ext>
            </a:extLst>
          </p:cNvPr>
          <p:cNvSpPr>
            <a:spLocks xmlns:a="http://schemas.openxmlformats.org/drawingml/2006/main" noGrp="1"/>
          </p:cNvSpPr>
          <p:nvPr/>
        </p:nvSpPr>
        <p:spPr>
          <a:xfrm xmlns:a="http://schemas.openxmlformats.org/drawingml/2006/main">
            <a:off x="7096125" y="1676400"/>
            <a:ext cx="4476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2362F"/>
                </a:solidFill>
                <a:latin typeface="Arial"/>
                <a:ea typeface="Arial"/>
                <a:cs typeface="Arial"/>
              </a:defRPr>
            </a:defPPr>
            <a:lvl1pPr>
              <a:buNone/>
              <a:defRPr sz="2175" b="1">
                <a:solidFill>
                  <a:srgbClr val="22362F"/>
                </a:solidFill>
                <a:latin typeface="Arial"/>
                <a:ea typeface="Arial"/>
                <a:cs typeface="Arial"/>
              </a:defRPr>
            </a:lvl1pPr>
            <a:lvl2pPr>
              <a:buNone/>
              <a:defRPr sz="2175" b="1">
                <a:solidFill>
                  <a:srgbClr val="22362F"/>
                </a:solidFill>
                <a:latin typeface="Arial"/>
                <a:ea typeface="Arial"/>
                <a:cs typeface="Arial"/>
              </a:defRPr>
            </a:lvl2pPr>
            <a:lvl3pPr>
              <a:buNone/>
              <a:defRPr sz="2175" b="1">
                <a:solidFill>
                  <a:srgbClr val="22362F"/>
                </a:solidFill>
                <a:latin typeface="Arial"/>
                <a:ea typeface="Arial"/>
                <a:cs typeface="Arial"/>
              </a:defRPr>
            </a:lvl3pPr>
            <a:lvl4pPr>
              <a:buNone/>
              <a:defRPr sz="2175" b="1">
                <a:solidFill>
                  <a:srgbClr val="22362F"/>
                </a:solidFill>
                <a:latin typeface="Arial"/>
                <a:ea typeface="Arial"/>
                <a:cs typeface="Arial"/>
              </a:defRPr>
            </a:lvl4pPr>
            <a:lvl5pPr>
              <a:buNone/>
              <a:defRPr sz="2175" b="1">
                <a:solidFill>
                  <a:srgbClr val="22362F"/>
                </a:solidFill>
                <a:latin typeface="Arial"/>
                <a:ea typeface="Arial"/>
                <a:cs typeface="Arial"/>
              </a:defRPr>
            </a:lvl5pPr>
            <a:lvl6pPr>
              <a:buNone/>
              <a:defRPr sz="2175" b="1">
                <a:solidFill>
                  <a:srgbClr val="22362F"/>
                </a:solidFill>
                <a:latin typeface="Arial"/>
                <a:ea typeface="Arial"/>
                <a:cs typeface="Arial"/>
              </a:defRPr>
            </a:lvl6pPr>
            <a:lvl7pPr>
              <a:buNone/>
              <a:defRPr sz="2175" b="1">
                <a:solidFill>
                  <a:srgbClr val="22362F"/>
                </a:solidFill>
                <a:latin typeface="Arial"/>
                <a:ea typeface="Arial"/>
                <a:cs typeface="Arial"/>
              </a:defRPr>
            </a:lvl7pPr>
            <a:lvl8pPr>
              <a:buNone/>
              <a:defRPr sz="2175" b="1">
                <a:solidFill>
                  <a:srgbClr val="22362F"/>
                </a:solidFill>
                <a:latin typeface="Arial"/>
                <a:ea typeface="Arial"/>
                <a:cs typeface="Arial"/>
              </a:defRPr>
            </a:lvl8pPr>
            <a:lvl9pPr>
              <a:buNone/>
              <a:defRPr sz="2175" b="1">
                <a:solidFill>
                  <a:srgbClr val="22362F"/>
                </a:solidFill>
                <a:latin typeface="Arial"/>
                <a:ea typeface="Arial"/>
                <a:cs typeface="Arial"/>
              </a:defRPr>
            </a:lvl9pPr>
          </a:lstStyle>
          <a:p xmlns:a="http://schemas.openxmlformats.org/drawingml/2006/main">
            <a:pPr>
              <a:buNone/>
              <a:defRPr sz="2175" b="1">
                <a:solidFill>
                  <a:srgbClr val="22362F"/>
                </a:solidFill>
                <a:latin typeface="Arial"/>
                <a:ea typeface="Arial"/>
                <a:cs typeface="Arial"/>
              </a:defRPr>
            </a:pPr>
            <a:r>
              <a:rPr sz="2175" b="1">
                <a:solidFill>
                  <a:srgbClr val="22362F"/>
                </a:solidFill>
                <a:latin typeface="Arial"/>
                <a:ea typeface="Arial"/>
                <a:cs typeface="Arial"/>
              </a:rPr>
              <a:t>A wrong disease label could</a:t>
            </a:r>
          </a:p>
          <a:p xmlns:a="http://schemas.openxmlformats.org/drawingml/2006/main">
            <a:pPr>
              <a:buNone/>
              <a:defRPr sz="2175" b="1">
                <a:solidFill>
                  <a:srgbClr val="22362F"/>
                </a:solidFill>
                <a:latin typeface="Arial"/>
                <a:ea typeface="Arial"/>
                <a:cs typeface="Arial"/>
              </a:defRPr>
            </a:pPr>
            <a:r>
              <a:rPr sz="2175" b="1">
                <a:solidFill>
                  <a:srgbClr val="22362F"/>
                </a:solidFill>
                <a:latin typeface="Arial"/>
                <a:ea typeface="Arial"/>
                <a:cs typeface="Arial"/>
              </a:rPr>
              <a:t>lead to the wrong treatment.</a:t>
            </a:r>
          </a:p>
        </p:txBody>
      </p:sp>
      <p:sp>
        <p:nvSpPr>
          <p:cNvPr id="9" name="">
            <a:extLst xmlns:a="http://schemas.openxmlformats.org/drawingml/2006/main">
              <a:ext uri="{FF2B5EF4-FFF2-40B4-BE49-F238E27FC236}">
                <a16:creationId xmlns:a16="http://schemas.microsoft.com/office/drawing/2014/main" id="{9CAA7450-DB05-4F23-BBAD-50BA85222C7B}"/>
              </a:ext>
            </a:extLst>
          </p:cNvPr>
          <p:cNvSpPr>
            <a:spLocks xmlns:a="http://schemas.openxmlformats.org/drawingml/2006/main" noGrp="1"/>
          </p:cNvSpPr>
          <p:nvPr/>
        </p:nvSpPr>
        <p:spPr>
          <a:xfrm xmlns:a="http://schemas.openxmlformats.org/drawingml/2006/main">
            <a:off x="7096125" y="3067050"/>
            <a:ext cx="4476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025" b="0">
                <a:solidFill>
                  <a:srgbClr val="22362F"/>
                </a:solidFill>
                <a:latin typeface="Arial"/>
                <a:ea typeface="Arial"/>
                <a:cs typeface="Arial"/>
              </a:defRPr>
            </a:lvl1pPr>
            <a:lvl2pPr>
              <a:buNone/>
              <a:defRPr sz="2025" b="0">
                <a:solidFill>
                  <a:srgbClr val="22362F"/>
                </a:solidFill>
                <a:latin typeface="Arial"/>
                <a:ea typeface="Arial"/>
                <a:cs typeface="Arial"/>
              </a:defRPr>
            </a:lvl2pPr>
            <a:lvl3pPr>
              <a:buNone/>
              <a:defRPr sz="2025" b="0">
                <a:solidFill>
                  <a:srgbClr val="22362F"/>
                </a:solidFill>
                <a:latin typeface="Arial"/>
                <a:ea typeface="Arial"/>
                <a:cs typeface="Arial"/>
              </a:defRPr>
            </a:lvl3pPr>
            <a:lvl4pPr>
              <a:buNone/>
              <a:defRPr sz="2025" b="0">
                <a:solidFill>
                  <a:srgbClr val="22362F"/>
                </a:solidFill>
                <a:latin typeface="Arial"/>
                <a:ea typeface="Arial"/>
                <a:cs typeface="Arial"/>
              </a:defRPr>
            </a:lvl4pPr>
            <a:lvl5pPr>
              <a:buNone/>
              <a:defRPr sz="2025" b="0">
                <a:solidFill>
                  <a:srgbClr val="22362F"/>
                </a:solidFill>
                <a:latin typeface="Arial"/>
                <a:ea typeface="Arial"/>
                <a:cs typeface="Arial"/>
              </a:defRPr>
            </a:lvl5pPr>
            <a:lvl6pPr>
              <a:buNone/>
              <a:defRPr sz="2025" b="0">
                <a:solidFill>
                  <a:srgbClr val="22362F"/>
                </a:solidFill>
                <a:latin typeface="Arial"/>
                <a:ea typeface="Arial"/>
                <a:cs typeface="Arial"/>
              </a:defRPr>
            </a:lvl6pPr>
            <a:lvl7pPr>
              <a:buNone/>
              <a:defRPr sz="2025" b="0">
                <a:solidFill>
                  <a:srgbClr val="22362F"/>
                </a:solidFill>
                <a:latin typeface="Arial"/>
                <a:ea typeface="Arial"/>
                <a:cs typeface="Arial"/>
              </a:defRPr>
            </a:lvl7pPr>
            <a:lvl8pPr>
              <a:buNone/>
              <a:defRPr sz="2025" b="0">
                <a:solidFill>
                  <a:srgbClr val="22362F"/>
                </a:solidFill>
                <a:latin typeface="Arial"/>
                <a:ea typeface="Arial"/>
                <a:cs typeface="Arial"/>
              </a:defRPr>
            </a:lvl8pPr>
            <a:lvl9pPr>
              <a:buNone/>
              <a:defRPr sz="2025"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Three labels cannot cover every</a:t>
            </a:r>
          </a:p>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disease, pest or nutrient problem.</a:t>
            </a:r>
          </a:p>
        </p:txBody>
      </p:sp>
      <p:sp>
        <p:nvSpPr>
          <p:cNvPr id="10" name="">
            <a:extLst xmlns:a="http://schemas.openxmlformats.org/drawingml/2006/main">
              <a:ext uri="{FF2B5EF4-FFF2-40B4-BE49-F238E27FC236}">
                <a16:creationId xmlns:a16="http://schemas.microsoft.com/office/drawing/2014/main" id="{8E29ED28-CA59-44A8-B2E5-F7406BF8C351}"/>
              </a:ext>
            </a:extLst>
          </p:cNvPr>
          <p:cNvSpPr>
            <a:spLocks xmlns:a="http://schemas.openxmlformats.org/drawingml/2006/main" noGrp="1"/>
          </p:cNvSpPr>
          <p:nvPr/>
        </p:nvSpPr>
        <p:spPr>
          <a:xfrm xmlns:a="http://schemas.openxmlformats.org/drawingml/2006/main">
            <a:off x="7096125" y="4476750"/>
            <a:ext cx="4476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245844"/>
                </a:solidFill>
                <a:latin typeface="Arial"/>
                <a:ea typeface="Arial"/>
                <a:cs typeface="Arial"/>
              </a:defRPr>
            </a:defPPr>
            <a:lvl1pPr>
              <a:buNone/>
              <a:defRPr sz="2025" b="1">
                <a:solidFill>
                  <a:srgbClr val="245844"/>
                </a:solidFill>
                <a:latin typeface="Arial"/>
                <a:ea typeface="Arial"/>
                <a:cs typeface="Arial"/>
              </a:defRPr>
            </a:lvl1pPr>
            <a:lvl2pPr>
              <a:buNone/>
              <a:defRPr sz="2025" b="1">
                <a:solidFill>
                  <a:srgbClr val="245844"/>
                </a:solidFill>
                <a:latin typeface="Arial"/>
                <a:ea typeface="Arial"/>
                <a:cs typeface="Arial"/>
              </a:defRPr>
            </a:lvl2pPr>
            <a:lvl3pPr>
              <a:buNone/>
              <a:defRPr sz="2025" b="1">
                <a:solidFill>
                  <a:srgbClr val="245844"/>
                </a:solidFill>
                <a:latin typeface="Arial"/>
                <a:ea typeface="Arial"/>
                <a:cs typeface="Arial"/>
              </a:defRPr>
            </a:lvl3pPr>
            <a:lvl4pPr>
              <a:buNone/>
              <a:defRPr sz="2025" b="1">
                <a:solidFill>
                  <a:srgbClr val="245844"/>
                </a:solidFill>
                <a:latin typeface="Arial"/>
                <a:ea typeface="Arial"/>
                <a:cs typeface="Arial"/>
              </a:defRPr>
            </a:lvl4pPr>
            <a:lvl5pPr>
              <a:buNone/>
              <a:defRPr sz="2025" b="1">
                <a:solidFill>
                  <a:srgbClr val="245844"/>
                </a:solidFill>
                <a:latin typeface="Arial"/>
                <a:ea typeface="Arial"/>
                <a:cs typeface="Arial"/>
              </a:defRPr>
            </a:lvl5pPr>
            <a:lvl6pPr>
              <a:buNone/>
              <a:defRPr sz="2025" b="1">
                <a:solidFill>
                  <a:srgbClr val="245844"/>
                </a:solidFill>
                <a:latin typeface="Arial"/>
                <a:ea typeface="Arial"/>
                <a:cs typeface="Arial"/>
              </a:defRPr>
            </a:lvl6pPr>
            <a:lvl7pPr>
              <a:buNone/>
              <a:defRPr sz="2025" b="1">
                <a:solidFill>
                  <a:srgbClr val="245844"/>
                </a:solidFill>
                <a:latin typeface="Arial"/>
                <a:ea typeface="Arial"/>
                <a:cs typeface="Arial"/>
              </a:defRPr>
            </a:lvl7pPr>
            <a:lvl8pPr>
              <a:buNone/>
              <a:defRPr sz="2025" b="1">
                <a:solidFill>
                  <a:srgbClr val="245844"/>
                </a:solidFill>
                <a:latin typeface="Arial"/>
                <a:ea typeface="Arial"/>
                <a:cs typeface="Arial"/>
              </a:defRPr>
            </a:lvl8pPr>
            <a:lvl9pPr>
              <a:buNone/>
              <a:defRPr sz="2025" b="1">
                <a:solidFill>
                  <a:srgbClr val="245844"/>
                </a:solidFill>
                <a:latin typeface="Arial"/>
                <a:ea typeface="Arial"/>
                <a:cs typeface="Arial"/>
              </a:defRPr>
            </a:lvl9pPr>
          </a:lstStyle>
          <a:p xmlns:a="http://schemas.openxmlformats.org/drawingml/2006/main">
            <a:pPr>
              <a:buNone/>
              <a:defRPr sz="2025" b="1">
                <a:solidFill>
                  <a:srgbClr val="245844"/>
                </a:solidFill>
                <a:latin typeface="Arial"/>
                <a:ea typeface="Arial"/>
                <a:cs typeface="Arial"/>
              </a:defRPr>
            </a:pPr>
            <a:r>
              <a:rPr sz="2025" b="1">
                <a:solidFill>
                  <a:srgbClr val="245844"/>
                </a:solidFill>
                <a:latin typeface="Arial"/>
                <a:ea typeface="Arial"/>
                <a:cs typeface="Arial"/>
              </a:rPr>
              <a:t>Independent field tests and</a:t>
            </a:r>
          </a:p>
          <a:p xmlns:a="http://schemas.openxmlformats.org/drawingml/2006/main">
            <a:pPr>
              <a:buNone/>
              <a:defRPr sz="2025" b="1">
                <a:solidFill>
                  <a:srgbClr val="245844"/>
                </a:solidFill>
                <a:latin typeface="Arial"/>
                <a:ea typeface="Arial"/>
                <a:cs typeface="Arial"/>
              </a:defRPr>
            </a:pPr>
            <a:r>
              <a:rPr sz="2025" b="1">
                <a:solidFill>
                  <a:srgbClr val="245844"/>
                </a:solidFill>
                <a:latin typeface="Arial"/>
                <a:ea typeface="Arial"/>
                <a:cs typeface="Arial"/>
              </a:rPr>
              <a:t>expert review are still needed.</a:t>
            </a:r>
          </a:p>
        </p:txBody>
      </p:sp>
      <p:sp>
        <p:nvSpPr>
          <p:cNvPr id="11" name="">
            <a:extLst xmlns:a="http://schemas.openxmlformats.org/drawingml/2006/main">
              <a:ext uri="{FF2B5EF4-FFF2-40B4-BE49-F238E27FC236}">
                <a16:creationId xmlns:a16="http://schemas.microsoft.com/office/drawing/2014/main" id="{EB76A3E6-C2D7-4DBC-ABB6-EA012BC63C5F}"/>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Confidence scores are uncalibrated. Performance across farms and devices is unknown.</a:t>
            </a:r>
          </a:p>
        </p:txBody>
      </p:sp>
    </p:spTree>
    <p:extLst>
      <p:ext uri="{BB962C8B-B14F-4D97-AF65-F5344CB8AC3E}">
        <p14:creationId xmlns:p14="http://schemas.microsoft.com/office/powerpoint/2010/main" val="74008866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9E81B91-1A00-4D83-889C-84E3411DF5B3}"/>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What the comparison supports</a:t>
            </a:r>
          </a:p>
        </p:txBody>
      </p:sp>
      <p:sp>
        <p:nvSpPr>
          <p:cNvPr id="2" name="">
            <a:extLst xmlns:a="http://schemas.openxmlformats.org/drawingml/2006/main">
              <a:ext uri="{FF2B5EF4-FFF2-40B4-BE49-F238E27FC236}">
                <a16:creationId xmlns:a16="http://schemas.microsoft.com/office/drawing/2014/main" id="{3F18E3CB-0F49-4DE4-8392-3596FE3D091B}"/>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7</a:t>
            </a:r>
          </a:p>
        </p:txBody>
      </p:sp>
      <p:sp>
        <p:nvSpPr>
          <p:cNvPr id="3" name="">
            <a:extLst xmlns:a="http://schemas.openxmlformats.org/drawingml/2006/main">
              <a:ext uri="{FF2B5EF4-FFF2-40B4-BE49-F238E27FC236}">
                <a16:creationId xmlns:a16="http://schemas.microsoft.com/office/drawing/2014/main" id="{4B66E5A0-7E6B-4AAB-AF9F-B1BDF658FBE0}"/>
              </a:ext>
            </a:extLst>
          </p:cNvPr>
          <p:cNvSpPr>
            <a:spLocks xmlns:a="http://schemas.openxmlformats.org/drawingml/2006/main" noGrp="1"/>
          </p:cNvSpPr>
          <p:nvPr/>
        </p:nvSpPr>
        <p:spPr>
          <a:xfrm xmlns:a="http://schemas.openxmlformats.org/drawingml/2006/main">
            <a:off x="609600" y="1752600"/>
            <a:ext cx="1057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245844"/>
                </a:solidFill>
                <a:latin typeface="Arial"/>
                <a:ea typeface="Arial"/>
                <a:cs typeface="Arial"/>
              </a:defRPr>
            </a:defPPr>
            <a:lvl1pPr>
              <a:buNone/>
              <a:defRPr sz="2850" b="1">
                <a:solidFill>
                  <a:srgbClr val="245844"/>
                </a:solidFill>
                <a:latin typeface="Arial"/>
                <a:ea typeface="Arial"/>
                <a:cs typeface="Arial"/>
              </a:defRPr>
            </a:lvl1pPr>
            <a:lvl2pPr>
              <a:buNone/>
              <a:defRPr sz="2850" b="1">
                <a:solidFill>
                  <a:srgbClr val="245844"/>
                </a:solidFill>
                <a:latin typeface="Arial"/>
                <a:ea typeface="Arial"/>
                <a:cs typeface="Arial"/>
              </a:defRPr>
            </a:lvl2pPr>
            <a:lvl3pPr>
              <a:buNone/>
              <a:defRPr sz="2850" b="1">
                <a:solidFill>
                  <a:srgbClr val="245844"/>
                </a:solidFill>
                <a:latin typeface="Arial"/>
                <a:ea typeface="Arial"/>
                <a:cs typeface="Arial"/>
              </a:defRPr>
            </a:lvl3pPr>
            <a:lvl4pPr>
              <a:buNone/>
              <a:defRPr sz="2850" b="1">
                <a:solidFill>
                  <a:srgbClr val="245844"/>
                </a:solidFill>
                <a:latin typeface="Arial"/>
                <a:ea typeface="Arial"/>
                <a:cs typeface="Arial"/>
              </a:defRPr>
            </a:lvl4pPr>
            <a:lvl5pPr>
              <a:buNone/>
              <a:defRPr sz="2850" b="1">
                <a:solidFill>
                  <a:srgbClr val="245844"/>
                </a:solidFill>
                <a:latin typeface="Arial"/>
                <a:ea typeface="Arial"/>
                <a:cs typeface="Arial"/>
              </a:defRPr>
            </a:lvl5pPr>
            <a:lvl6pPr>
              <a:buNone/>
              <a:defRPr sz="2850" b="1">
                <a:solidFill>
                  <a:srgbClr val="245844"/>
                </a:solidFill>
                <a:latin typeface="Arial"/>
                <a:ea typeface="Arial"/>
                <a:cs typeface="Arial"/>
              </a:defRPr>
            </a:lvl6pPr>
            <a:lvl7pPr>
              <a:buNone/>
              <a:defRPr sz="2850" b="1">
                <a:solidFill>
                  <a:srgbClr val="245844"/>
                </a:solidFill>
                <a:latin typeface="Arial"/>
                <a:ea typeface="Arial"/>
                <a:cs typeface="Arial"/>
              </a:defRPr>
            </a:lvl7pPr>
            <a:lvl8pPr>
              <a:buNone/>
              <a:defRPr sz="2850" b="1">
                <a:solidFill>
                  <a:srgbClr val="245844"/>
                </a:solidFill>
                <a:latin typeface="Arial"/>
                <a:ea typeface="Arial"/>
                <a:cs typeface="Arial"/>
              </a:defRPr>
            </a:lvl8pPr>
            <a:lvl9pPr>
              <a:buNone/>
              <a:defRPr sz="2850" b="1">
                <a:solidFill>
                  <a:srgbClr val="245844"/>
                </a:solidFill>
                <a:latin typeface="Arial"/>
                <a:ea typeface="Arial"/>
                <a:cs typeface="Arial"/>
              </a:defRPr>
            </a:lvl9pPr>
          </a:lstStyle>
          <a:p xmlns:a="http://schemas.openxmlformats.org/drawingml/2006/main">
            <a:pPr>
              <a:buNone/>
              <a:defRPr sz="2850" b="1">
                <a:solidFill>
                  <a:srgbClr val="245844"/>
                </a:solidFill>
                <a:latin typeface="Arial"/>
                <a:ea typeface="Arial"/>
                <a:cs typeface="Arial"/>
              </a:defRPr>
            </a:pPr>
            <a:r>
              <a:rPr sz="2850" b="1">
                <a:solidFill>
                  <a:srgbClr val="245844"/>
                </a:solidFill>
                <a:latin typeface="Arial"/>
                <a:ea typeface="Arial"/>
                <a:cs typeface="Arial"/>
              </a:rPr>
              <a:t>SigLIP 2 gave stronger frozen features</a:t>
            </a:r>
          </a:p>
        </p:txBody>
      </p:sp>
      <p:sp>
        <p:nvSpPr>
          <p:cNvPr id="4" name="">
            <a:extLst xmlns:a="http://schemas.openxmlformats.org/drawingml/2006/main">
              <a:ext uri="{FF2B5EF4-FFF2-40B4-BE49-F238E27FC236}">
                <a16:creationId xmlns:a16="http://schemas.microsoft.com/office/drawing/2014/main" id="{F9A3C324-91DA-4062-8BD8-2EB7DC67308B}"/>
              </a:ext>
            </a:extLst>
          </p:cNvPr>
          <p:cNvSpPr>
            <a:spLocks xmlns:a="http://schemas.openxmlformats.org/drawingml/2006/main" noGrp="1"/>
          </p:cNvSpPr>
          <p:nvPr/>
        </p:nvSpPr>
        <p:spPr>
          <a:xfrm xmlns:a="http://schemas.openxmlformats.org/drawingml/2006/main">
            <a:off x="609600" y="2857500"/>
            <a:ext cx="10572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22362F"/>
                </a:solidFill>
                <a:latin typeface="Arial"/>
                <a:ea typeface="Arial"/>
                <a:cs typeface="Arial"/>
              </a:defRPr>
            </a:defPPr>
            <a:lvl1pPr>
              <a:buNone/>
              <a:defRPr sz="2850" b="1">
                <a:solidFill>
                  <a:srgbClr val="22362F"/>
                </a:solidFill>
                <a:latin typeface="Arial"/>
                <a:ea typeface="Arial"/>
                <a:cs typeface="Arial"/>
              </a:defRPr>
            </a:lvl1pPr>
            <a:lvl2pPr>
              <a:buNone/>
              <a:defRPr sz="2850" b="1">
                <a:solidFill>
                  <a:srgbClr val="22362F"/>
                </a:solidFill>
                <a:latin typeface="Arial"/>
                <a:ea typeface="Arial"/>
                <a:cs typeface="Arial"/>
              </a:defRPr>
            </a:lvl2pPr>
            <a:lvl3pPr>
              <a:buNone/>
              <a:defRPr sz="2850" b="1">
                <a:solidFill>
                  <a:srgbClr val="22362F"/>
                </a:solidFill>
                <a:latin typeface="Arial"/>
                <a:ea typeface="Arial"/>
                <a:cs typeface="Arial"/>
              </a:defRPr>
            </a:lvl3pPr>
            <a:lvl4pPr>
              <a:buNone/>
              <a:defRPr sz="2850" b="1">
                <a:solidFill>
                  <a:srgbClr val="22362F"/>
                </a:solidFill>
                <a:latin typeface="Arial"/>
                <a:ea typeface="Arial"/>
                <a:cs typeface="Arial"/>
              </a:defRPr>
            </a:lvl4pPr>
            <a:lvl5pPr>
              <a:buNone/>
              <a:defRPr sz="2850" b="1">
                <a:solidFill>
                  <a:srgbClr val="22362F"/>
                </a:solidFill>
                <a:latin typeface="Arial"/>
                <a:ea typeface="Arial"/>
                <a:cs typeface="Arial"/>
              </a:defRPr>
            </a:lvl5pPr>
            <a:lvl6pPr>
              <a:buNone/>
              <a:defRPr sz="2850" b="1">
                <a:solidFill>
                  <a:srgbClr val="22362F"/>
                </a:solidFill>
                <a:latin typeface="Arial"/>
                <a:ea typeface="Arial"/>
                <a:cs typeface="Arial"/>
              </a:defRPr>
            </a:lvl6pPr>
            <a:lvl7pPr>
              <a:buNone/>
              <a:defRPr sz="2850" b="1">
                <a:solidFill>
                  <a:srgbClr val="22362F"/>
                </a:solidFill>
                <a:latin typeface="Arial"/>
                <a:ea typeface="Arial"/>
                <a:cs typeface="Arial"/>
              </a:defRPr>
            </a:lvl7pPr>
            <a:lvl8pPr>
              <a:buNone/>
              <a:defRPr sz="2850" b="1">
                <a:solidFill>
                  <a:srgbClr val="22362F"/>
                </a:solidFill>
                <a:latin typeface="Arial"/>
                <a:ea typeface="Arial"/>
                <a:cs typeface="Arial"/>
              </a:defRPr>
            </a:lvl8pPr>
            <a:lvl9pPr>
              <a:buNone/>
              <a:defRPr sz="2850" b="1">
                <a:solidFill>
                  <a:srgbClr val="22362F"/>
                </a:solidFill>
                <a:latin typeface="Arial"/>
                <a:ea typeface="Arial"/>
                <a:cs typeface="Arial"/>
              </a:defRPr>
            </a:lvl9pPr>
          </a:lstStyle>
          <a:p xmlns:a="http://schemas.openxmlformats.org/drawingml/2006/main">
            <a:pPr>
              <a:buNone/>
              <a:defRPr sz="2850" b="1">
                <a:solidFill>
                  <a:srgbClr val="22362F"/>
                </a:solidFill>
                <a:latin typeface="Arial"/>
                <a:ea typeface="Arial"/>
                <a:cs typeface="Arial"/>
              </a:defRPr>
            </a:pPr>
            <a:r>
              <a:rPr sz="2850" b="1">
                <a:solidFill>
                  <a:srgbClr val="22362F"/>
                </a:solidFill>
                <a:latin typeface="Arial"/>
                <a:ea typeface="Arial"/>
                <a:cs typeface="Arial"/>
              </a:rPr>
              <a:t>Partial DINOv2 reached a similar mean score</a:t>
            </a:r>
          </a:p>
          <a:p xmlns:a="http://schemas.openxmlformats.org/drawingml/2006/main">
            <a:pPr>
              <a:buNone/>
              <a:defRPr sz="2850" b="1">
                <a:solidFill>
                  <a:srgbClr val="22362F"/>
                </a:solidFill>
                <a:latin typeface="Arial"/>
                <a:ea typeface="Arial"/>
                <a:cs typeface="Arial"/>
              </a:defRPr>
            </a:pPr>
            <a:r>
              <a:rPr sz="2850" b="1">
                <a:solidFill>
                  <a:srgbClr val="22362F"/>
                </a:solidFill>
                <a:latin typeface="Arial"/>
                <a:ea typeface="Arial"/>
                <a:cs typeface="Arial"/>
              </a:rPr>
              <a:t>with a smaller model and memory footprint</a:t>
            </a:r>
          </a:p>
        </p:txBody>
      </p:sp>
      <p:sp>
        <p:nvSpPr>
          <p:cNvPr id="5" name="">
            <a:extLst xmlns:a="http://schemas.openxmlformats.org/drawingml/2006/main">
              <a:ext uri="{FF2B5EF4-FFF2-40B4-BE49-F238E27FC236}">
                <a16:creationId xmlns:a16="http://schemas.microsoft.com/office/drawing/2014/main" id="{44AE3F25-3B12-4477-A9D3-6355E41BE2F8}"/>
              </a:ext>
            </a:extLst>
          </p:cNvPr>
          <p:cNvSpPr>
            <a:spLocks xmlns:a="http://schemas.openxmlformats.org/drawingml/2006/main" noGrp="1"/>
          </p:cNvSpPr>
          <p:nvPr/>
        </p:nvSpPr>
        <p:spPr>
          <a:xfrm xmlns:a="http://schemas.openxmlformats.org/drawingml/2006/main">
            <a:off x="609600" y="476250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D6864"/>
                </a:solidFill>
                <a:latin typeface="Arial"/>
                <a:ea typeface="Arial"/>
                <a:cs typeface="Arial"/>
              </a:defRPr>
            </a:defPPr>
            <a:lvl1pPr>
              <a:buNone/>
              <a:defRPr sz="2250" b="0">
                <a:solidFill>
                  <a:srgbClr val="5D6864"/>
                </a:solidFill>
                <a:latin typeface="Arial"/>
                <a:ea typeface="Arial"/>
                <a:cs typeface="Arial"/>
              </a:defRPr>
            </a:lvl1pPr>
            <a:lvl2pPr>
              <a:buNone/>
              <a:defRPr sz="2250" b="0">
                <a:solidFill>
                  <a:srgbClr val="5D6864"/>
                </a:solidFill>
                <a:latin typeface="Arial"/>
                <a:ea typeface="Arial"/>
                <a:cs typeface="Arial"/>
              </a:defRPr>
            </a:lvl2pPr>
            <a:lvl3pPr>
              <a:buNone/>
              <a:defRPr sz="2250" b="0">
                <a:solidFill>
                  <a:srgbClr val="5D6864"/>
                </a:solidFill>
                <a:latin typeface="Arial"/>
                <a:ea typeface="Arial"/>
                <a:cs typeface="Arial"/>
              </a:defRPr>
            </a:lvl3pPr>
            <a:lvl4pPr>
              <a:buNone/>
              <a:defRPr sz="2250" b="0">
                <a:solidFill>
                  <a:srgbClr val="5D6864"/>
                </a:solidFill>
                <a:latin typeface="Arial"/>
                <a:ea typeface="Arial"/>
                <a:cs typeface="Arial"/>
              </a:defRPr>
            </a:lvl4pPr>
            <a:lvl5pPr>
              <a:buNone/>
              <a:defRPr sz="2250" b="0">
                <a:solidFill>
                  <a:srgbClr val="5D6864"/>
                </a:solidFill>
                <a:latin typeface="Arial"/>
                <a:ea typeface="Arial"/>
                <a:cs typeface="Arial"/>
              </a:defRPr>
            </a:lvl5pPr>
            <a:lvl6pPr>
              <a:buNone/>
              <a:defRPr sz="2250" b="0">
                <a:solidFill>
                  <a:srgbClr val="5D6864"/>
                </a:solidFill>
                <a:latin typeface="Arial"/>
                <a:ea typeface="Arial"/>
                <a:cs typeface="Arial"/>
              </a:defRPr>
            </a:lvl6pPr>
            <a:lvl7pPr>
              <a:buNone/>
              <a:defRPr sz="2250" b="0">
                <a:solidFill>
                  <a:srgbClr val="5D6864"/>
                </a:solidFill>
                <a:latin typeface="Arial"/>
                <a:ea typeface="Arial"/>
                <a:cs typeface="Arial"/>
              </a:defRPr>
            </a:lvl7pPr>
            <a:lvl8pPr>
              <a:buNone/>
              <a:defRPr sz="2250" b="0">
                <a:solidFill>
                  <a:srgbClr val="5D6864"/>
                </a:solidFill>
                <a:latin typeface="Arial"/>
                <a:ea typeface="Arial"/>
                <a:cs typeface="Arial"/>
              </a:defRPr>
            </a:lvl8pPr>
            <a:lvl9pPr>
              <a:buNone/>
              <a:defRPr sz="2250" b="0">
                <a:solidFill>
                  <a:srgbClr val="5D6864"/>
                </a:solidFill>
                <a:latin typeface="Arial"/>
                <a:ea typeface="Arial"/>
                <a:cs typeface="Arial"/>
              </a:defRPr>
            </a:lvl9pPr>
          </a:lstStyle>
          <a:p xmlns:a="http://schemas.openxmlformats.org/drawingml/2006/main">
            <a:pPr>
              <a:buNone/>
              <a:defRPr sz="2250" b="0">
                <a:solidFill>
                  <a:srgbClr val="5D6864"/>
                </a:solidFill>
                <a:latin typeface="Arial"/>
                <a:ea typeface="Arial"/>
                <a:cs typeface="Arial"/>
              </a:defRPr>
            </a:pPr>
            <a:r>
              <a:rPr sz="2250" b="0">
                <a:solidFill>
                  <a:srgbClr val="5D6864"/>
                </a:solidFill>
                <a:latin typeface="Arial"/>
                <a:ea typeface="Arial"/>
                <a:cs typeface="Arial"/>
              </a:rPr>
              <a:t>Next: collect images from independent farms.</a:t>
            </a:r>
          </a:p>
          <a:p xmlns:a="http://schemas.openxmlformats.org/drawingml/2006/main">
            <a:pPr>
              <a:buNone/>
              <a:defRPr sz="2250" b="0">
                <a:solidFill>
                  <a:srgbClr val="5D6864"/>
                </a:solidFill>
                <a:latin typeface="Arial"/>
                <a:ea typeface="Arial"/>
                <a:cs typeface="Arial"/>
              </a:defRPr>
            </a:pPr>
            <a:r>
              <a:rPr sz="2250" b="0">
                <a:solidFill>
                  <a:srgbClr val="5D6864"/>
                </a:solidFill>
                <a:latin typeface="Arial"/>
                <a:ea typeface="Arial"/>
                <a:cs typeface="Arial"/>
              </a:rPr>
              <a:t>Use validation data to choose training settings.</a:t>
            </a:r>
          </a:p>
        </p:txBody>
      </p:sp>
      <p:sp>
        <p:nvSpPr>
          <p:cNvPr id="6" name="">
            <a:extLst xmlns:a="http://schemas.openxmlformats.org/drawingml/2006/main">
              <a:ext uri="{FF2B5EF4-FFF2-40B4-BE49-F238E27FC236}">
                <a16:creationId xmlns:a16="http://schemas.microsoft.com/office/drawing/2014/main" id="{5F35F15B-DC4A-4879-BB06-B5BD6A226809}"/>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AI assistance: Codex helped with research, code, analysis, writing and review.</a:t>
            </a:r>
          </a:p>
        </p:txBody>
      </p:sp>
    </p:spTree>
    <p:extLst>
      <p:ext uri="{BB962C8B-B14F-4D97-AF65-F5344CB8AC3E}">
        <p14:creationId xmlns:p14="http://schemas.microsoft.com/office/powerpoint/2010/main" val="15637201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00E5BC5-1E20-463D-9B96-93F3BD3F603B}"/>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results and uncertainty</a:t>
            </a:r>
          </a:p>
        </p:txBody>
      </p:sp>
      <p:sp>
        <p:nvSpPr>
          <p:cNvPr id="2" name="">
            <a:extLst xmlns:a="http://schemas.openxmlformats.org/drawingml/2006/main">
              <a:ext uri="{FF2B5EF4-FFF2-40B4-BE49-F238E27FC236}">
                <a16:creationId xmlns:a16="http://schemas.microsoft.com/office/drawing/2014/main" id="{14E6C89E-1254-41F0-8BCA-613339263AC1}"/>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8</a:t>
            </a:r>
          </a:p>
        </p:txBody>
      </p:sp>
      <p:graphicFrame>
        <p:nvGraphicFramePr>
          <p:cNvPr id="3" name="">
            <a:extLst xmlns:a="http://schemas.openxmlformats.org/drawingml/2006/main">
              <a:ext uri="{FF2B5EF4-FFF2-40B4-BE49-F238E27FC236}">
                <a16:creationId xmlns:a16="http://schemas.microsoft.com/office/drawing/2014/main" id="{2D06B13C-F5AE-4062-893F-CAE3D9EF0318}"/>
              </a:ext>
            </a:extLst>
          </p:cNvPr>
          <p:cNvGraphicFramePr/>
          <p:nvPr/>
        </p:nvGraphicFramePr>
        <p:xfrm>
          <a:off xmlns:a="http://schemas.openxmlformats.org/drawingml/2006/main" x="609600" y="1524000"/>
          <a:ext xmlns:a="http://schemas.openxmlformats.org/drawingml/2006/main" cx="10972800" cy="2952750"/>
        </p:xfrm>
        <a:graphic xmlns:a="http://schemas.openxmlformats.org/drawingml/2006/main">
          <a:graphicData uri="http://schemas.openxmlformats.org/drawingml/2006/table">
            <a:tbl>
              <a:tblPr/>
              <a:tblGrid>
                <a:gridCol w="3333750"/>
                <a:gridCol w="2476500"/>
                <a:gridCol w="2476500"/>
                <a:gridCol w="2686050"/>
              </a:tblGrid>
              <a:tr h="590550">
                <a:tc>
                  <a:txBody>
                    <a:bodyPr lIns="114300" tIns="114300" rIns="114300" bIns="114300"/>
                    <a:lstStyle/>
                    <a:p>
                      <a:r>
                        <a:rPr sz="1875" b="1">
                          <a:solidFill>
                            <a:srgbClr val="22362F"/>
                          </a:solidFill>
                          <a:latin typeface="Arial"/>
                          <a:ea typeface="Arial"/>
                          <a:cs typeface="Arial"/>
                        </a:rPr>
                        <a:t>Configuration</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875" b="1">
                          <a:solidFill>
                            <a:srgbClr val="22362F"/>
                          </a:solidFill>
                          <a:latin typeface="Arial"/>
                          <a:ea typeface="Arial"/>
                          <a:cs typeface="Arial"/>
                        </a:rPr>
                        <a:t>Accuracy (%)</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875" b="1">
                          <a:solidFill>
                            <a:srgbClr val="22362F"/>
                          </a:solidFill>
                          <a:latin typeface="Arial"/>
                          <a:ea typeface="Arial"/>
                          <a:cs typeface="Arial"/>
                        </a:rPr>
                        <a:t>Macro-F1 (%)</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875" b="1">
                          <a:solidFill>
                            <a:srgbClr val="22362F"/>
                          </a:solidFill>
                          <a:latin typeface="Arial"/>
                          <a:ea typeface="Arial"/>
                          <a:cs typeface="Arial"/>
                        </a:rPr>
                        <a:t>Median epoch (s)</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590550">
                <a:tc>
                  <a:txBody>
                    <a:bodyPr lIns="114300" tIns="114300" rIns="114300" bIns="114300"/>
                    <a:lstStyle/>
                    <a:p>
                      <a:r>
                        <a:rPr sz="1875" b="0">
                          <a:solidFill>
                            <a:srgbClr val="22362F"/>
                          </a:solidFill>
                          <a:latin typeface="Arial"/>
                          <a:ea typeface="Arial"/>
                          <a:cs typeface="Arial"/>
                        </a:rPr>
                        <a:t>DINOv2 frozen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90.62 ± 2.07</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90.71 ± 2.05</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11.94</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90550">
                <a:tc>
                  <a:txBody>
                    <a:bodyPr lIns="114300" tIns="114300" rIns="114300" bIns="114300"/>
                    <a:lstStyle/>
                    <a:p>
                      <a:r>
                        <a:rPr sz="1875" b="0">
                          <a:solidFill>
                            <a:srgbClr val="22362F"/>
                          </a:solidFill>
                          <a:latin typeface="Arial"/>
                          <a:ea typeface="Arial"/>
                          <a:cs typeface="Arial"/>
                        </a:rPr>
                        <a:t>DINOv2 partial</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96.88 ± 1.56</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96.90 ± 1.55</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12.62</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90550">
                <a:tc>
                  <a:txBody>
                    <a:bodyPr lIns="114300" tIns="114300" rIns="114300" bIns="114300"/>
                    <a:lstStyle/>
                    <a:p>
                      <a:r>
                        <a:rPr sz="1875" b="0">
                          <a:solidFill>
                            <a:srgbClr val="22362F"/>
                          </a:solidFill>
                          <a:latin typeface="Arial"/>
                          <a:ea typeface="Arial"/>
                          <a:cs typeface="Arial"/>
                        </a:rPr>
                        <a:t>SigLIP 2 frozen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96.88 ± 1.35</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96.90 ± 1.34</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12.99</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90550">
                <a:tc>
                  <a:txBody>
                    <a:bodyPr lIns="114300" tIns="114300" rIns="114300" bIns="114300"/>
                    <a:lstStyle/>
                    <a:p>
                      <a:r>
                        <a:rPr sz="1875" b="0">
                          <a:solidFill>
                            <a:srgbClr val="22362F"/>
                          </a:solidFill>
                          <a:latin typeface="Arial"/>
                          <a:ea typeface="Arial"/>
                          <a:cs typeface="Arial"/>
                        </a:rPr>
                        <a:t>SigLIP 2 partial</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96.88 ± 0.78</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96.90 ± 0.78</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16.08</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FB8AA716-62DC-4E3A-A23E-ED2A96858F10}"/>
              </a:ext>
            </a:extLst>
          </p:cNvPr>
          <p:cNvSpPr>
            <a:spLocks xmlns:a="http://schemas.openxmlformats.org/drawingml/2006/main" noGrp="1"/>
          </p:cNvSpPr>
          <p:nvPr/>
        </p:nvSpPr>
        <p:spPr>
          <a:xfrm xmlns:a="http://schemas.openxmlformats.org/drawingml/2006/main">
            <a:off x="609600" y="4848225"/>
            <a:ext cx="10763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45844"/>
                </a:solidFill>
                <a:latin typeface="Arial"/>
                <a:ea typeface="Arial"/>
                <a:cs typeface="Arial"/>
              </a:defRPr>
            </a:defPPr>
            <a:lvl1pPr>
              <a:buNone/>
              <a:defRPr sz="2100" b="1">
                <a:solidFill>
                  <a:srgbClr val="245844"/>
                </a:solidFill>
                <a:latin typeface="Arial"/>
                <a:ea typeface="Arial"/>
                <a:cs typeface="Arial"/>
              </a:defRPr>
            </a:lvl1pPr>
            <a:lvl2pPr>
              <a:buNone/>
              <a:defRPr sz="2100" b="1">
                <a:solidFill>
                  <a:srgbClr val="245844"/>
                </a:solidFill>
                <a:latin typeface="Arial"/>
                <a:ea typeface="Arial"/>
                <a:cs typeface="Arial"/>
              </a:defRPr>
            </a:lvl2pPr>
            <a:lvl3pPr>
              <a:buNone/>
              <a:defRPr sz="2100" b="1">
                <a:solidFill>
                  <a:srgbClr val="245844"/>
                </a:solidFill>
                <a:latin typeface="Arial"/>
                <a:ea typeface="Arial"/>
                <a:cs typeface="Arial"/>
              </a:defRPr>
            </a:lvl3pPr>
            <a:lvl4pPr>
              <a:buNone/>
              <a:defRPr sz="2100" b="1">
                <a:solidFill>
                  <a:srgbClr val="245844"/>
                </a:solidFill>
                <a:latin typeface="Arial"/>
                <a:ea typeface="Arial"/>
                <a:cs typeface="Arial"/>
              </a:defRPr>
            </a:lvl4pPr>
            <a:lvl5pPr>
              <a:buNone/>
              <a:defRPr sz="2100" b="1">
                <a:solidFill>
                  <a:srgbClr val="245844"/>
                </a:solidFill>
                <a:latin typeface="Arial"/>
                <a:ea typeface="Arial"/>
                <a:cs typeface="Arial"/>
              </a:defRPr>
            </a:lvl5pPr>
            <a:lvl6pPr>
              <a:buNone/>
              <a:defRPr sz="2100" b="1">
                <a:solidFill>
                  <a:srgbClr val="245844"/>
                </a:solidFill>
                <a:latin typeface="Arial"/>
                <a:ea typeface="Arial"/>
                <a:cs typeface="Arial"/>
              </a:defRPr>
            </a:lvl6pPr>
            <a:lvl7pPr>
              <a:buNone/>
              <a:defRPr sz="2100" b="1">
                <a:solidFill>
                  <a:srgbClr val="245844"/>
                </a:solidFill>
                <a:latin typeface="Arial"/>
                <a:ea typeface="Arial"/>
                <a:cs typeface="Arial"/>
              </a:defRPr>
            </a:lvl7pPr>
            <a:lvl8pPr>
              <a:buNone/>
              <a:defRPr sz="2100" b="1">
                <a:solidFill>
                  <a:srgbClr val="245844"/>
                </a:solidFill>
                <a:latin typeface="Arial"/>
                <a:ea typeface="Arial"/>
                <a:cs typeface="Arial"/>
              </a:defRPr>
            </a:lvl8pPr>
            <a:lvl9pPr>
              <a:buNone/>
              <a:defRPr sz="2100" b="1">
                <a:solidFill>
                  <a:srgbClr val="245844"/>
                </a:solidFill>
                <a:latin typeface="Arial"/>
                <a:ea typeface="Arial"/>
                <a:cs typeface="Arial"/>
              </a:defRPr>
            </a:lvl9pPr>
          </a:lstStyle>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Reference partial-model difference: −0.78 percentage points</a:t>
            </a:r>
          </a:p>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Paired 95% bootstrap interval: [−3.13, +1.57]</a:t>
            </a:r>
          </a:p>
        </p:txBody>
      </p:sp>
      <p:sp>
        <p:nvSpPr>
          <p:cNvPr id="5" name="">
            <a:extLst xmlns:a="http://schemas.openxmlformats.org/drawingml/2006/main">
              <a:ext uri="{FF2B5EF4-FFF2-40B4-BE49-F238E27FC236}">
                <a16:creationId xmlns:a16="http://schemas.microsoft.com/office/drawing/2014/main" id="{11AA41EB-3DA8-47BD-9403-F90387872C44}"/>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Mean ± sample SD over three runs. The interval applies to seed 17.</a:t>
            </a:r>
          </a:p>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Timing retains all observed epochs, including unusually long ones.</a:t>
            </a:r>
          </a:p>
        </p:txBody>
      </p:sp>
    </p:spTree>
    <p:extLst>
      <p:ext uri="{BB962C8B-B14F-4D97-AF65-F5344CB8AC3E}">
        <p14:creationId xmlns:p14="http://schemas.microsoft.com/office/powerpoint/2010/main" val="202175003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2D365A-81EF-4FCB-A4B5-F367919E25DF}"/>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where the reference models failed</a:t>
            </a:r>
          </a:p>
        </p:txBody>
      </p:sp>
      <p:sp>
        <p:nvSpPr>
          <p:cNvPr id="2" name="">
            <a:extLst xmlns:a="http://schemas.openxmlformats.org/drawingml/2006/main">
              <a:ext uri="{FF2B5EF4-FFF2-40B4-BE49-F238E27FC236}">
                <a16:creationId xmlns:a16="http://schemas.microsoft.com/office/drawing/2014/main" id="{92FC9A52-CDAE-42EB-A398-AFC39B6A2318}"/>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9</a:t>
            </a:r>
          </a:p>
        </p:txBody>
      </p:sp>
      <p:sp>
        <p:nvSpPr>
          <p:cNvPr id="3" name="">
            <a:extLst xmlns:a="http://schemas.openxmlformats.org/drawingml/2006/main">
              <a:ext uri="{FF2B5EF4-FFF2-40B4-BE49-F238E27FC236}">
                <a16:creationId xmlns:a16="http://schemas.microsoft.com/office/drawing/2014/main" id="{C844B5EE-4EAF-4498-A002-1B358CA33589}"/>
              </a:ext>
            </a:extLst>
          </p:cNvPr>
          <p:cNvSpPr>
            <a:spLocks xmlns:a="http://schemas.openxmlformats.org/drawingml/2006/main" noGrp="1"/>
          </p:cNvSpPr>
          <p:nvPr/>
        </p:nvSpPr>
        <p:spPr>
          <a:xfrm xmlns:a="http://schemas.openxmlformats.org/drawingml/2006/main">
            <a:off x="609600" y="16002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34667C"/>
                </a:solidFill>
                <a:latin typeface="Arial"/>
                <a:ea typeface="Arial"/>
                <a:cs typeface="Arial"/>
              </a:defRPr>
            </a:defPPr>
            <a:lvl1pPr>
              <a:buNone/>
              <a:defRPr sz="2250" b="1">
                <a:solidFill>
                  <a:srgbClr val="34667C"/>
                </a:solidFill>
                <a:latin typeface="Arial"/>
                <a:ea typeface="Arial"/>
                <a:cs typeface="Arial"/>
              </a:defRPr>
            </a:lvl1pPr>
            <a:lvl2pPr>
              <a:buNone/>
              <a:defRPr sz="2250" b="1">
                <a:solidFill>
                  <a:srgbClr val="34667C"/>
                </a:solidFill>
                <a:latin typeface="Arial"/>
                <a:ea typeface="Arial"/>
                <a:cs typeface="Arial"/>
              </a:defRPr>
            </a:lvl2pPr>
            <a:lvl3pPr>
              <a:buNone/>
              <a:defRPr sz="2250" b="1">
                <a:solidFill>
                  <a:srgbClr val="34667C"/>
                </a:solidFill>
                <a:latin typeface="Arial"/>
                <a:ea typeface="Arial"/>
                <a:cs typeface="Arial"/>
              </a:defRPr>
            </a:lvl3pPr>
            <a:lvl4pPr>
              <a:buNone/>
              <a:defRPr sz="2250" b="1">
                <a:solidFill>
                  <a:srgbClr val="34667C"/>
                </a:solidFill>
                <a:latin typeface="Arial"/>
                <a:ea typeface="Arial"/>
                <a:cs typeface="Arial"/>
              </a:defRPr>
            </a:lvl4pPr>
            <a:lvl5pPr>
              <a:buNone/>
              <a:defRPr sz="2250" b="1">
                <a:solidFill>
                  <a:srgbClr val="34667C"/>
                </a:solidFill>
                <a:latin typeface="Arial"/>
                <a:ea typeface="Arial"/>
                <a:cs typeface="Arial"/>
              </a:defRPr>
            </a:lvl5pPr>
            <a:lvl6pPr>
              <a:buNone/>
              <a:defRPr sz="2250" b="1">
                <a:solidFill>
                  <a:srgbClr val="34667C"/>
                </a:solidFill>
                <a:latin typeface="Arial"/>
                <a:ea typeface="Arial"/>
                <a:cs typeface="Arial"/>
              </a:defRPr>
            </a:lvl6pPr>
            <a:lvl7pPr>
              <a:buNone/>
              <a:defRPr sz="2250" b="1">
                <a:solidFill>
                  <a:srgbClr val="34667C"/>
                </a:solidFill>
                <a:latin typeface="Arial"/>
                <a:ea typeface="Arial"/>
                <a:cs typeface="Arial"/>
              </a:defRPr>
            </a:lvl7pPr>
            <a:lvl8pPr>
              <a:buNone/>
              <a:defRPr sz="2250" b="1">
                <a:solidFill>
                  <a:srgbClr val="34667C"/>
                </a:solidFill>
                <a:latin typeface="Arial"/>
                <a:ea typeface="Arial"/>
                <a:cs typeface="Arial"/>
              </a:defRPr>
            </a:lvl8pPr>
            <a:lvl9pPr>
              <a:buNone/>
              <a:defRPr sz="2250" b="1">
                <a:solidFill>
                  <a:srgbClr val="34667C"/>
                </a:solidFill>
                <a:latin typeface="Arial"/>
                <a:ea typeface="Arial"/>
                <a:cs typeface="Arial"/>
              </a:defRPr>
            </a:lvl9pPr>
          </a:lstStyle>
          <a:p xmlns:a="http://schemas.openxmlformats.org/drawingml/2006/main">
            <a:pPr>
              <a:buNone/>
              <a:defRPr sz="2250" b="1">
                <a:solidFill>
                  <a:srgbClr val="34667C"/>
                </a:solidFill>
                <a:latin typeface="Arial"/>
                <a:ea typeface="Arial"/>
                <a:cs typeface="Arial"/>
              </a:defRPr>
            </a:pPr>
            <a:r>
              <a:rPr sz="2250" b="1">
                <a:solidFill>
                  <a:srgbClr val="34667C"/>
                </a:solidFill>
                <a:latin typeface="Arial"/>
                <a:ea typeface="Arial"/>
                <a:cs typeface="Arial"/>
              </a:rPr>
              <a:t>DINOv2 partial</a:t>
            </a:r>
          </a:p>
        </p:txBody>
      </p:sp>
      <p:graphicFrame>
        <p:nvGraphicFramePr>
          <p:cNvPr id="4" name="">
            <a:extLst xmlns:a="http://schemas.openxmlformats.org/drawingml/2006/main">
              <a:ext uri="{FF2B5EF4-FFF2-40B4-BE49-F238E27FC236}">
                <a16:creationId xmlns:a16="http://schemas.microsoft.com/office/drawing/2014/main" id="{4564C09F-4BA4-406D-A719-9721A31D3718}"/>
              </a:ext>
            </a:extLst>
          </p:cNvPr>
          <p:cNvGraphicFramePr/>
          <p:nvPr/>
        </p:nvGraphicFramePr>
        <p:xfrm>
          <a:off xmlns:a="http://schemas.openxmlformats.org/drawingml/2006/main" x="609600" y="2228850"/>
          <a:ext xmlns:a="http://schemas.openxmlformats.org/drawingml/2006/main" cx="5238750" cy="2514600"/>
        </p:xfrm>
        <a:graphic xmlns:a="http://schemas.openxmlformats.org/drawingml/2006/main">
          <a:graphicData uri="http://schemas.openxmlformats.org/drawingml/2006/table">
            <a:tbl>
              <a:tblPr/>
              <a:tblGrid>
                <a:gridCol w="2038350"/>
                <a:gridCol w="1066800"/>
                <a:gridCol w="1066800"/>
                <a:gridCol w="1066800"/>
              </a:tblGrid>
              <a:tr h="628650">
                <a:tc>
                  <a:txBody>
                    <a:bodyPr lIns="114300" tIns="114300" rIns="114300" bIns="114300"/>
                    <a:lstStyle/>
                    <a:p>
                      <a:r>
                        <a:rPr sz="1650" b="1">
                          <a:solidFill>
                            <a:srgbClr val="22362F"/>
                          </a:solidFill>
                          <a:latin typeface="Arial"/>
                          <a:ea typeface="Arial"/>
                          <a:cs typeface="Arial"/>
                        </a:rPr>
                        <a:t>True / predicted</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Leaf spot</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Rust</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Healthy</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628650">
                <a:tc>
                  <a:txBody>
                    <a:bodyPr lIns="114300" tIns="114300" rIns="114300" bIns="114300"/>
                    <a:lstStyle/>
                    <a:p>
                      <a:r>
                        <a:rPr sz="1650" b="0">
                          <a:solidFill>
                            <a:srgbClr val="22362F"/>
                          </a:solidFill>
                          <a:latin typeface="Arial"/>
                          <a:ea typeface="Arial"/>
                          <a:cs typeface="Arial"/>
                        </a:rPr>
                        <a:t>Leaf spot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42</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1</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28650">
                <a:tc>
                  <a:txBody>
                    <a:bodyPr lIns="114300" tIns="114300" rIns="114300" bIns="114300"/>
                    <a:lstStyle/>
                    <a:p>
                      <a:r>
                        <a:rPr sz="1650" b="0">
                          <a:solidFill>
                            <a:srgbClr val="22362F"/>
                          </a:solidFill>
                          <a:latin typeface="Arial"/>
                          <a:ea typeface="Arial"/>
                          <a:cs typeface="Arial"/>
                        </a:rPr>
                        <a:t>Rust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43</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28650">
                <a:tc>
                  <a:txBody>
                    <a:bodyPr lIns="114300" tIns="114300" rIns="114300" bIns="114300"/>
                    <a:lstStyle/>
                    <a:p>
                      <a:r>
                        <a:rPr sz="1650" b="0">
                          <a:solidFill>
                            <a:srgbClr val="22362F"/>
                          </a:solidFill>
                          <a:latin typeface="Arial"/>
                          <a:ea typeface="Arial"/>
                          <a:cs typeface="Arial"/>
                        </a:rPr>
                        <a:t>Healthy</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1</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41</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1AB1F8D-2C4D-41D1-8C5D-8C4675789E33}"/>
              </a:ext>
            </a:extLst>
          </p:cNvPr>
          <p:cNvSpPr>
            <a:spLocks xmlns:a="http://schemas.openxmlformats.org/drawingml/2006/main" noGrp="1"/>
          </p:cNvSpPr>
          <p:nvPr/>
        </p:nvSpPr>
        <p:spPr>
          <a:xfrm xmlns:a="http://schemas.openxmlformats.org/drawingml/2006/main">
            <a:off x="6229350" y="16002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B35B38"/>
                </a:solidFill>
                <a:latin typeface="Arial"/>
                <a:ea typeface="Arial"/>
                <a:cs typeface="Arial"/>
              </a:defRPr>
            </a:defPPr>
            <a:lvl1pPr>
              <a:buNone/>
              <a:defRPr sz="2250" b="1">
                <a:solidFill>
                  <a:srgbClr val="B35B38"/>
                </a:solidFill>
                <a:latin typeface="Arial"/>
                <a:ea typeface="Arial"/>
                <a:cs typeface="Arial"/>
              </a:defRPr>
            </a:lvl1pPr>
            <a:lvl2pPr>
              <a:buNone/>
              <a:defRPr sz="2250" b="1">
                <a:solidFill>
                  <a:srgbClr val="B35B38"/>
                </a:solidFill>
                <a:latin typeface="Arial"/>
                <a:ea typeface="Arial"/>
                <a:cs typeface="Arial"/>
              </a:defRPr>
            </a:lvl2pPr>
            <a:lvl3pPr>
              <a:buNone/>
              <a:defRPr sz="2250" b="1">
                <a:solidFill>
                  <a:srgbClr val="B35B38"/>
                </a:solidFill>
                <a:latin typeface="Arial"/>
                <a:ea typeface="Arial"/>
                <a:cs typeface="Arial"/>
              </a:defRPr>
            </a:lvl3pPr>
            <a:lvl4pPr>
              <a:buNone/>
              <a:defRPr sz="2250" b="1">
                <a:solidFill>
                  <a:srgbClr val="B35B38"/>
                </a:solidFill>
                <a:latin typeface="Arial"/>
                <a:ea typeface="Arial"/>
                <a:cs typeface="Arial"/>
              </a:defRPr>
            </a:lvl4pPr>
            <a:lvl5pPr>
              <a:buNone/>
              <a:defRPr sz="2250" b="1">
                <a:solidFill>
                  <a:srgbClr val="B35B38"/>
                </a:solidFill>
                <a:latin typeface="Arial"/>
                <a:ea typeface="Arial"/>
                <a:cs typeface="Arial"/>
              </a:defRPr>
            </a:lvl5pPr>
            <a:lvl6pPr>
              <a:buNone/>
              <a:defRPr sz="2250" b="1">
                <a:solidFill>
                  <a:srgbClr val="B35B38"/>
                </a:solidFill>
                <a:latin typeface="Arial"/>
                <a:ea typeface="Arial"/>
                <a:cs typeface="Arial"/>
              </a:defRPr>
            </a:lvl6pPr>
            <a:lvl7pPr>
              <a:buNone/>
              <a:defRPr sz="2250" b="1">
                <a:solidFill>
                  <a:srgbClr val="B35B38"/>
                </a:solidFill>
                <a:latin typeface="Arial"/>
                <a:ea typeface="Arial"/>
                <a:cs typeface="Arial"/>
              </a:defRPr>
            </a:lvl7pPr>
            <a:lvl8pPr>
              <a:buNone/>
              <a:defRPr sz="2250" b="1">
                <a:solidFill>
                  <a:srgbClr val="B35B38"/>
                </a:solidFill>
                <a:latin typeface="Arial"/>
                <a:ea typeface="Arial"/>
                <a:cs typeface="Arial"/>
              </a:defRPr>
            </a:lvl8pPr>
            <a:lvl9pPr>
              <a:buNone/>
              <a:defRPr sz="2250" b="1">
                <a:solidFill>
                  <a:srgbClr val="B35B38"/>
                </a:solidFill>
                <a:latin typeface="Arial"/>
                <a:ea typeface="Arial"/>
                <a:cs typeface="Arial"/>
              </a:defRPr>
            </a:lvl9pPr>
          </a:lstStyle>
          <a:p xmlns:a="http://schemas.openxmlformats.org/drawingml/2006/main">
            <a:pPr>
              <a:buNone/>
              <a:defRPr sz="2250" b="1">
                <a:solidFill>
                  <a:srgbClr val="B35B38"/>
                </a:solidFill>
                <a:latin typeface="Arial"/>
                <a:ea typeface="Arial"/>
                <a:cs typeface="Arial"/>
              </a:defRPr>
            </a:pPr>
            <a:r>
              <a:rPr sz="2250" b="1">
                <a:solidFill>
                  <a:srgbClr val="B35B38"/>
                </a:solidFill>
                <a:latin typeface="Arial"/>
                <a:ea typeface="Arial"/>
                <a:cs typeface="Arial"/>
              </a:rPr>
              <a:t>SigLIP 2 partial</a:t>
            </a:r>
          </a:p>
        </p:txBody>
      </p:sp>
      <p:graphicFrame>
        <p:nvGraphicFramePr>
          <p:cNvPr id="6" name="">
            <a:extLst xmlns:a="http://schemas.openxmlformats.org/drawingml/2006/main">
              <a:ext uri="{FF2B5EF4-FFF2-40B4-BE49-F238E27FC236}">
                <a16:creationId xmlns:a16="http://schemas.microsoft.com/office/drawing/2014/main" id="{E2F897FE-BD4D-42A7-B1D2-0FD0250452C5}"/>
              </a:ext>
            </a:extLst>
          </p:cNvPr>
          <p:cNvGraphicFramePr/>
          <p:nvPr/>
        </p:nvGraphicFramePr>
        <p:xfrm>
          <a:off xmlns:a="http://schemas.openxmlformats.org/drawingml/2006/main" x="6229350" y="2228850"/>
          <a:ext xmlns:a="http://schemas.openxmlformats.org/drawingml/2006/main" cx="5238750" cy="2514600"/>
        </p:xfrm>
        <a:graphic xmlns:a="http://schemas.openxmlformats.org/drawingml/2006/main">
          <a:graphicData uri="http://schemas.openxmlformats.org/drawingml/2006/table">
            <a:tbl>
              <a:tblPr/>
              <a:tblGrid>
                <a:gridCol w="2038350"/>
                <a:gridCol w="1066800"/>
                <a:gridCol w="1066800"/>
                <a:gridCol w="1066800"/>
              </a:tblGrid>
              <a:tr h="628650">
                <a:tc>
                  <a:txBody>
                    <a:bodyPr lIns="114300" tIns="114300" rIns="114300" bIns="114300"/>
                    <a:lstStyle/>
                    <a:p>
                      <a:r>
                        <a:rPr sz="1650" b="1">
                          <a:solidFill>
                            <a:srgbClr val="22362F"/>
                          </a:solidFill>
                          <a:latin typeface="Arial"/>
                          <a:ea typeface="Arial"/>
                          <a:cs typeface="Arial"/>
                        </a:rPr>
                        <a:t>True / predicted</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Leaf spot</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Rust</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Healthy</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628650">
                <a:tc>
                  <a:txBody>
                    <a:bodyPr lIns="114300" tIns="114300" rIns="114300" bIns="114300"/>
                    <a:lstStyle/>
                    <a:p>
                      <a:r>
                        <a:rPr sz="1650" b="0">
                          <a:solidFill>
                            <a:srgbClr val="22362F"/>
                          </a:solidFill>
                          <a:latin typeface="Arial"/>
                          <a:ea typeface="Arial"/>
                          <a:cs typeface="Arial"/>
                        </a:rPr>
                        <a:t>Leaf spot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3</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28650">
                <a:tc>
                  <a:txBody>
                    <a:bodyPr lIns="114300" tIns="114300" rIns="114300" bIns="114300"/>
                    <a:lstStyle/>
                    <a:p>
                      <a:r>
                        <a:rPr sz="1650" b="0">
                          <a:solidFill>
                            <a:srgbClr val="22362F"/>
                          </a:solidFill>
                          <a:latin typeface="Arial"/>
                          <a:ea typeface="Arial"/>
                          <a:cs typeface="Arial"/>
                        </a:rPr>
                        <a:t>Rust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43</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28650">
                <a:tc>
                  <a:txBody>
                    <a:bodyPr lIns="114300" tIns="114300" rIns="114300" bIns="114300"/>
                    <a:lstStyle/>
                    <a:p>
                      <a:r>
                        <a:rPr sz="1650" b="0">
                          <a:solidFill>
                            <a:srgbClr val="22362F"/>
                          </a:solidFill>
                          <a:latin typeface="Arial"/>
                          <a:ea typeface="Arial"/>
                          <a:cs typeface="Arial"/>
                        </a:rPr>
                        <a:t>Healthy</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42</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736F1237-89E9-4196-A404-145210EA9B63}"/>
              </a:ext>
            </a:extLst>
          </p:cNvPr>
          <p:cNvSpPr>
            <a:spLocks xmlns:a="http://schemas.openxmlformats.org/drawingml/2006/main" noGrp="1"/>
          </p:cNvSpPr>
          <p:nvPr/>
        </p:nvSpPr>
        <p:spPr>
          <a:xfrm xmlns:a="http://schemas.openxmlformats.org/drawingml/2006/main">
            <a:off x="609600" y="51625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0 of 86 diseased leaves predicted healthy in either reference model</a:t>
            </a:r>
          </a:p>
        </p:txBody>
      </p:sp>
      <p:sp>
        <p:nvSpPr>
          <p:cNvPr id="8" name="">
            <a:extLst xmlns:a="http://schemas.openxmlformats.org/drawingml/2006/main">
              <a:ext uri="{FF2B5EF4-FFF2-40B4-BE49-F238E27FC236}">
                <a16:creationId xmlns:a16="http://schemas.microsoft.com/office/drawing/2014/main" id="{E03D72F2-0EB0-4EF0-A509-38C7A68ACEA3}"/>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Seed 17, 128 test images. Field reliability needs separate testing.</a:t>
            </a:r>
          </a:p>
        </p:txBody>
      </p:sp>
    </p:spTree>
    <p:extLst>
      <p:ext uri="{BB962C8B-B14F-4D97-AF65-F5344CB8AC3E}">
        <p14:creationId xmlns:p14="http://schemas.microsoft.com/office/powerpoint/2010/main" val="16125720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DD9734A-E9D7-45AE-B3B9-0010AB42C1DF}"/>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preprocessing and training settings</a:t>
            </a:r>
          </a:p>
        </p:txBody>
      </p:sp>
      <p:sp>
        <p:nvSpPr>
          <p:cNvPr id="2" name="">
            <a:extLst xmlns:a="http://schemas.openxmlformats.org/drawingml/2006/main">
              <a:ext uri="{FF2B5EF4-FFF2-40B4-BE49-F238E27FC236}">
                <a16:creationId xmlns:a16="http://schemas.microsoft.com/office/drawing/2014/main" id="{28D708F5-0FB6-4B5E-9667-C43059EFE9F4}"/>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10</a:t>
            </a:r>
          </a:p>
        </p:txBody>
      </p:sp>
      <p:graphicFrame>
        <p:nvGraphicFramePr>
          <p:cNvPr id="3" name="">
            <a:extLst xmlns:a="http://schemas.openxmlformats.org/drawingml/2006/main">
              <a:ext uri="{FF2B5EF4-FFF2-40B4-BE49-F238E27FC236}">
                <a16:creationId xmlns:a16="http://schemas.microsoft.com/office/drawing/2014/main" id="{AF5F6D5F-70D3-4E76-A2D6-F83E3D2A958A}"/>
              </a:ext>
            </a:extLst>
          </p:cNvPr>
          <p:cNvGraphicFramePr/>
          <p:nvPr/>
        </p:nvGraphicFramePr>
        <p:xfrm>
          <a:off xmlns:a="http://schemas.openxmlformats.org/drawingml/2006/main" x="609600" y="1466850"/>
          <a:ext xmlns:a="http://schemas.openxmlformats.org/drawingml/2006/main" cx="10972800" cy="3810000"/>
        </p:xfrm>
        <a:graphic xmlns:a="http://schemas.openxmlformats.org/drawingml/2006/main">
          <a:graphicData uri="http://schemas.openxmlformats.org/drawingml/2006/table">
            <a:tbl>
              <a:tblPr/>
              <a:tblGrid>
                <a:gridCol w="3619500"/>
                <a:gridCol w="7353300"/>
              </a:tblGrid>
              <a:tr h="544286">
                <a:tc>
                  <a:txBody>
                    <a:bodyPr lIns="114300" tIns="114300" rIns="114300" bIns="114300"/>
                    <a:lstStyle/>
                    <a:p>
                      <a:r>
                        <a:rPr sz="1875" b="1">
                          <a:solidFill>
                            <a:srgbClr val="22362F"/>
                          </a:solidFill>
                          <a:latin typeface="Arial"/>
                          <a:ea typeface="Arial"/>
                          <a:cs typeface="Arial"/>
                        </a:rPr>
                        <a:t>Setting</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875" b="1">
                          <a:solidFill>
                            <a:srgbClr val="22362F"/>
                          </a:solidFill>
                          <a:latin typeface="Arial"/>
                          <a:ea typeface="Arial"/>
                          <a:cs typeface="Arial"/>
                        </a:rPr>
                        <a:t>Value</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544286">
                <a:tc>
                  <a:txBody>
                    <a:bodyPr lIns="114300" tIns="114300" rIns="114300" bIns="114300"/>
                    <a:lstStyle/>
                    <a:p>
                      <a:r>
                        <a:rPr sz="1875" b="0">
                          <a:solidFill>
                            <a:srgbClr val="22362F"/>
                          </a:solidFill>
                          <a:latin typeface="Arial"/>
                          <a:ea typeface="Arial"/>
                          <a:cs typeface="Arial"/>
                        </a:rPr>
                        <a:t>Input and augmentation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224 × 224 RGB, flips, rotation ±15°</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Optimiser</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AdamW, cross-entropy, weight decay 0.01</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Learning rates</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Classifier 0.001, backbone 0.00001</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Batch and precision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8 images, CUDA FP16, gradient clip 1</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Stopping rule</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10 epochs maximum, patience 3</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Seeds</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17, 42 and 2026</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FCD82DE1-9069-44B7-A74E-C824E43555BE}"/>
              </a:ext>
            </a:extLst>
          </p:cNvPr>
          <p:cNvSpPr>
            <a:spLocks xmlns:a="http://schemas.openxmlformats.org/drawingml/2006/main" noGrp="1"/>
          </p:cNvSpPr>
          <p:nvPr/>
        </p:nvSpPr>
        <p:spPr>
          <a:xfrm xmlns:a="http://schemas.openxmlformats.org/drawingml/2006/main">
            <a:off x="609600" y="54959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245844"/>
                </a:solidFill>
                <a:latin typeface="Arial"/>
                <a:ea typeface="Arial"/>
                <a:cs typeface="Arial"/>
              </a:defRPr>
            </a:defPPr>
            <a:lvl1pPr>
              <a:buNone/>
              <a:defRPr sz="2025" b="1">
                <a:solidFill>
                  <a:srgbClr val="245844"/>
                </a:solidFill>
                <a:latin typeface="Arial"/>
                <a:ea typeface="Arial"/>
                <a:cs typeface="Arial"/>
              </a:defRPr>
            </a:lvl1pPr>
            <a:lvl2pPr>
              <a:buNone/>
              <a:defRPr sz="2025" b="1">
                <a:solidFill>
                  <a:srgbClr val="245844"/>
                </a:solidFill>
                <a:latin typeface="Arial"/>
                <a:ea typeface="Arial"/>
                <a:cs typeface="Arial"/>
              </a:defRPr>
            </a:lvl2pPr>
            <a:lvl3pPr>
              <a:buNone/>
              <a:defRPr sz="2025" b="1">
                <a:solidFill>
                  <a:srgbClr val="245844"/>
                </a:solidFill>
                <a:latin typeface="Arial"/>
                <a:ea typeface="Arial"/>
                <a:cs typeface="Arial"/>
              </a:defRPr>
            </a:lvl3pPr>
            <a:lvl4pPr>
              <a:buNone/>
              <a:defRPr sz="2025" b="1">
                <a:solidFill>
                  <a:srgbClr val="245844"/>
                </a:solidFill>
                <a:latin typeface="Arial"/>
                <a:ea typeface="Arial"/>
                <a:cs typeface="Arial"/>
              </a:defRPr>
            </a:lvl4pPr>
            <a:lvl5pPr>
              <a:buNone/>
              <a:defRPr sz="2025" b="1">
                <a:solidFill>
                  <a:srgbClr val="245844"/>
                </a:solidFill>
                <a:latin typeface="Arial"/>
                <a:ea typeface="Arial"/>
                <a:cs typeface="Arial"/>
              </a:defRPr>
            </a:lvl5pPr>
            <a:lvl6pPr>
              <a:buNone/>
              <a:defRPr sz="2025" b="1">
                <a:solidFill>
                  <a:srgbClr val="245844"/>
                </a:solidFill>
                <a:latin typeface="Arial"/>
                <a:ea typeface="Arial"/>
                <a:cs typeface="Arial"/>
              </a:defRPr>
            </a:lvl6pPr>
            <a:lvl7pPr>
              <a:buNone/>
              <a:defRPr sz="2025" b="1">
                <a:solidFill>
                  <a:srgbClr val="245844"/>
                </a:solidFill>
                <a:latin typeface="Arial"/>
                <a:ea typeface="Arial"/>
                <a:cs typeface="Arial"/>
              </a:defRPr>
            </a:lvl7pPr>
            <a:lvl8pPr>
              <a:buNone/>
              <a:defRPr sz="2025" b="1">
                <a:solidFill>
                  <a:srgbClr val="245844"/>
                </a:solidFill>
                <a:latin typeface="Arial"/>
                <a:ea typeface="Arial"/>
                <a:cs typeface="Arial"/>
              </a:defRPr>
            </a:lvl8pPr>
            <a:lvl9pPr>
              <a:buNone/>
              <a:defRPr sz="2025" b="1">
                <a:solidFill>
                  <a:srgbClr val="245844"/>
                </a:solidFill>
                <a:latin typeface="Arial"/>
                <a:ea typeface="Arial"/>
                <a:cs typeface="Arial"/>
              </a:defRPr>
            </a:lvl9pPr>
          </a:lstStyle>
          <a:p xmlns:a="http://schemas.openxmlformats.org/drawingml/2006/main">
            <a:pPr>
              <a:buNone/>
              <a:defRPr sz="1875" b="1">
                <a:solidFill>
                  <a:srgbClr val="245844"/>
                </a:solidFill>
                <a:latin typeface="Arial"/>
                <a:ea typeface="Arial"/>
                <a:cs typeface="Arial"/>
              </a:defRPr>
            </a:pPr>
            <a:r>
              <a:rPr sz="1875" b="1">
                <a:solidFill>
                  <a:srgbClr val="245844"/>
                </a:solidFill>
                <a:latin typeface="Arial"/>
                <a:ea typeface="Arial"/>
                <a:cs typeface="Arial"/>
              </a:rPr>
              <a:t>DINOv2 uses a class token. SigLIP 2 uses frozen attention pooling.</a:t>
            </a:r>
          </a:p>
          <a:p xmlns:a="http://schemas.openxmlformats.org/drawingml/2006/main">
            <a:pPr>
              <a:buNone/>
              <a:defRPr sz="1875" b="1">
                <a:solidFill>
                  <a:srgbClr val="245844"/>
                </a:solidFill>
                <a:latin typeface="Arial"/>
                <a:ea typeface="Arial"/>
                <a:cs typeface="Arial"/>
              </a:defRPr>
            </a:pPr>
            <a:r>
              <a:rPr sz="1875" b="1">
                <a:solidFill>
                  <a:srgbClr val="245844"/>
                </a:solidFill>
                <a:latin typeface="Arial"/>
                <a:ea typeface="Arial"/>
                <a:cs typeface="Arial"/>
              </a:rPr>
              <a:t>Each model uses its own image normalisation.</a:t>
            </a:r>
          </a:p>
        </p:txBody>
      </p:sp>
    </p:spTree>
    <p:extLst>
      <p:ext uri="{BB962C8B-B14F-4D97-AF65-F5344CB8AC3E}">
        <p14:creationId xmlns:p14="http://schemas.microsoft.com/office/powerpoint/2010/main" val="58504178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85999DB-D3F7-4335-BB15-E6440A9C92E7}"/>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reproducibility and remaining limits</a:t>
            </a:r>
          </a:p>
        </p:txBody>
      </p:sp>
      <p:sp>
        <p:nvSpPr>
          <p:cNvPr id="2" name="">
            <a:extLst xmlns:a="http://schemas.openxmlformats.org/drawingml/2006/main">
              <a:ext uri="{FF2B5EF4-FFF2-40B4-BE49-F238E27FC236}">
                <a16:creationId xmlns:a16="http://schemas.microsoft.com/office/drawing/2014/main" id="{D9087CCA-ADA1-4315-9269-DD7F5B7A7A76}"/>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8DBE17CF-41EE-495C-A1FC-44ACD1464783}"/>
              </a:ext>
            </a:extLst>
          </p:cNvPr>
          <p:cNvSpPr>
            <a:spLocks xmlns:a="http://schemas.openxmlformats.org/drawingml/2006/main" noGrp="1"/>
          </p:cNvSpPr>
          <p:nvPr/>
        </p:nvSpPr>
        <p:spPr>
          <a:xfrm xmlns:a="http://schemas.openxmlformats.org/drawingml/2006/main">
            <a:off x="609600" y="16859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245844"/>
                </a:solidFill>
                <a:latin typeface="Arial"/>
                <a:ea typeface="Arial"/>
                <a:cs typeface="Arial"/>
              </a:defRPr>
            </a:defPPr>
            <a:lvl1pPr>
              <a:buNone/>
              <a:defRPr sz="2850" b="1">
                <a:solidFill>
                  <a:srgbClr val="245844"/>
                </a:solidFill>
                <a:latin typeface="Arial"/>
                <a:ea typeface="Arial"/>
                <a:cs typeface="Arial"/>
              </a:defRPr>
            </a:lvl1pPr>
            <a:lvl2pPr>
              <a:buNone/>
              <a:defRPr sz="2850" b="1">
                <a:solidFill>
                  <a:srgbClr val="245844"/>
                </a:solidFill>
                <a:latin typeface="Arial"/>
                <a:ea typeface="Arial"/>
                <a:cs typeface="Arial"/>
              </a:defRPr>
            </a:lvl2pPr>
            <a:lvl3pPr>
              <a:buNone/>
              <a:defRPr sz="2850" b="1">
                <a:solidFill>
                  <a:srgbClr val="245844"/>
                </a:solidFill>
                <a:latin typeface="Arial"/>
                <a:ea typeface="Arial"/>
                <a:cs typeface="Arial"/>
              </a:defRPr>
            </a:lvl3pPr>
            <a:lvl4pPr>
              <a:buNone/>
              <a:defRPr sz="2850" b="1">
                <a:solidFill>
                  <a:srgbClr val="245844"/>
                </a:solidFill>
                <a:latin typeface="Arial"/>
                <a:ea typeface="Arial"/>
                <a:cs typeface="Arial"/>
              </a:defRPr>
            </a:lvl4pPr>
            <a:lvl5pPr>
              <a:buNone/>
              <a:defRPr sz="2850" b="1">
                <a:solidFill>
                  <a:srgbClr val="245844"/>
                </a:solidFill>
                <a:latin typeface="Arial"/>
                <a:ea typeface="Arial"/>
                <a:cs typeface="Arial"/>
              </a:defRPr>
            </a:lvl5pPr>
            <a:lvl6pPr>
              <a:buNone/>
              <a:defRPr sz="2850" b="1">
                <a:solidFill>
                  <a:srgbClr val="245844"/>
                </a:solidFill>
                <a:latin typeface="Arial"/>
                <a:ea typeface="Arial"/>
                <a:cs typeface="Arial"/>
              </a:defRPr>
            </a:lvl6pPr>
            <a:lvl7pPr>
              <a:buNone/>
              <a:defRPr sz="2850" b="1">
                <a:solidFill>
                  <a:srgbClr val="245844"/>
                </a:solidFill>
                <a:latin typeface="Arial"/>
                <a:ea typeface="Arial"/>
                <a:cs typeface="Arial"/>
              </a:defRPr>
            </a:lvl7pPr>
            <a:lvl8pPr>
              <a:buNone/>
              <a:defRPr sz="2850" b="1">
                <a:solidFill>
                  <a:srgbClr val="245844"/>
                </a:solidFill>
                <a:latin typeface="Arial"/>
                <a:ea typeface="Arial"/>
                <a:cs typeface="Arial"/>
              </a:defRPr>
            </a:lvl8pPr>
            <a:lvl9pPr>
              <a:buNone/>
              <a:defRPr sz="2850" b="1">
                <a:solidFill>
                  <a:srgbClr val="245844"/>
                </a:solidFill>
                <a:latin typeface="Arial"/>
                <a:ea typeface="Arial"/>
                <a:cs typeface="Arial"/>
              </a:defRPr>
            </a:lvl9pPr>
          </a:lstStyle>
          <a:p xmlns:a="http://schemas.openxmlformats.org/drawingml/2006/main">
            <a:pPr>
              <a:buNone/>
              <a:defRPr sz="2850" b="1">
                <a:solidFill>
                  <a:srgbClr val="245844"/>
                </a:solidFill>
                <a:latin typeface="Arial"/>
                <a:ea typeface="Arial"/>
                <a:cs typeface="Arial"/>
              </a:defRPr>
            </a:pPr>
            <a:r>
              <a:rPr sz="2850" b="1">
                <a:solidFill>
                  <a:srgbClr val="245844"/>
                </a:solidFill>
                <a:latin typeface="Arial"/>
                <a:ea typeface="Arial"/>
                <a:cs typeface="Arial"/>
              </a:rPr>
              <a:t>Full local notebook: 10 code cells, 12 runs, zero errors</a:t>
            </a:r>
          </a:p>
        </p:txBody>
      </p:sp>
      <p:graphicFrame>
        <p:nvGraphicFramePr>
          <p:cNvPr id="4" name="">
            <a:extLst xmlns:a="http://schemas.openxmlformats.org/drawingml/2006/main">
              <a:ext uri="{FF2B5EF4-FFF2-40B4-BE49-F238E27FC236}">
                <a16:creationId xmlns:a16="http://schemas.microsoft.com/office/drawing/2014/main" id="{221E64FD-7CF9-4619-9265-2C62E504B390}"/>
              </a:ext>
            </a:extLst>
          </p:cNvPr>
          <p:cNvGraphicFramePr/>
          <p:nvPr/>
        </p:nvGraphicFramePr>
        <p:xfrm>
          <a:off xmlns:a="http://schemas.openxmlformats.org/drawingml/2006/main" x="609600" y="2924175"/>
          <a:ext xmlns:a="http://schemas.openxmlformats.org/drawingml/2006/main" cx="10972800" cy="1857375"/>
        </p:xfrm>
        <a:graphic xmlns:a="http://schemas.openxmlformats.org/drawingml/2006/main">
          <a:graphicData uri="http://schemas.openxmlformats.org/drawingml/2006/table">
            <a:tbl>
              <a:tblPr/>
              <a:tblGrid>
                <a:gridCol w="5905500"/>
                <a:gridCol w="2533650"/>
                <a:gridCol w="2533650"/>
              </a:tblGrid>
              <a:tr h="619125">
                <a:tc>
                  <a:txBody>
                    <a:bodyPr lIns="114300" tIns="114300" rIns="114300" bIns="114300"/>
                    <a:lstStyle/>
                    <a:p>
                      <a:r>
                        <a:rPr sz="1950" b="1">
                          <a:solidFill>
                            <a:srgbClr val="22362F"/>
                          </a:solidFill>
                          <a:latin typeface="Arial"/>
                          <a:ea typeface="Arial"/>
                          <a:cs typeface="Arial"/>
                        </a:rPr>
                        <a:t>Partial-model mean macro-F1</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950" b="1">
                          <a:solidFill>
                            <a:srgbClr val="22362F"/>
                          </a:solidFill>
                          <a:latin typeface="Arial"/>
                          <a:ea typeface="Arial"/>
                          <a:cs typeface="Arial"/>
                        </a:rPr>
                        <a:t>DINOv2</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950" b="1">
                          <a:solidFill>
                            <a:srgbClr val="22362F"/>
                          </a:solidFill>
                          <a:latin typeface="Arial"/>
                          <a:ea typeface="Arial"/>
                          <a:cs typeface="Arial"/>
                        </a:rPr>
                        <a:t>SigLIP 2</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619125">
                <a:tc>
                  <a:txBody>
                    <a:bodyPr lIns="114300" tIns="114300" rIns="114300" bIns="114300"/>
                    <a:lstStyle/>
                    <a:p>
                      <a:r>
                        <a:rPr sz="1950" b="0">
                          <a:solidFill>
                            <a:srgbClr val="22362F"/>
                          </a:solidFill>
                          <a:latin typeface="Arial"/>
                          <a:ea typeface="Arial"/>
                          <a:cs typeface="Arial"/>
                        </a:rPr>
                        <a:t>Original report experiment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950" b="0">
                          <a:solidFill>
                            <a:srgbClr val="22362F"/>
                          </a:solidFill>
                          <a:latin typeface="Arial"/>
                          <a:ea typeface="Arial"/>
                          <a:cs typeface="Arial"/>
                        </a:rPr>
                        <a:t>96.90%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950" b="0">
                          <a:solidFill>
                            <a:srgbClr val="22362F"/>
                          </a:solidFill>
                          <a:latin typeface="Arial"/>
                          <a:ea typeface="Arial"/>
                          <a:cs typeface="Arial"/>
                        </a:rPr>
                        <a:t>96.90%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19125">
                <a:tc>
                  <a:txBody>
                    <a:bodyPr lIns="114300" tIns="114300" rIns="114300" bIns="114300"/>
                    <a:lstStyle/>
                    <a:p>
                      <a:r>
                        <a:rPr sz="1950" b="0">
                          <a:solidFill>
                            <a:srgbClr val="22362F"/>
                          </a:solidFill>
                          <a:latin typeface="Arial"/>
                          <a:ea typeface="Arial"/>
                          <a:cs typeface="Arial"/>
                        </a:rPr>
                        <a:t>Separate notebook verification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950" b="0">
                          <a:solidFill>
                            <a:srgbClr val="22362F"/>
                          </a:solidFill>
                          <a:latin typeface="Arial"/>
                          <a:ea typeface="Arial"/>
                          <a:cs typeface="Arial"/>
                        </a:rPr>
                        <a:t>97.67%</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950" b="0">
                          <a:solidFill>
                            <a:srgbClr val="22362F"/>
                          </a:solidFill>
                          <a:latin typeface="Arial"/>
                          <a:ea typeface="Arial"/>
                          <a:cs typeface="Arial"/>
                        </a:rPr>
                        <a:t>96.90%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148D2C7-1C1F-47F1-BBBF-BC85A31BE744}"/>
              </a:ext>
            </a:extLst>
          </p:cNvPr>
          <p:cNvSpPr>
            <a:spLocks xmlns:a="http://schemas.openxmlformats.org/drawingml/2006/main" noGrp="1"/>
          </p:cNvSpPr>
          <p:nvPr/>
        </p:nvSpPr>
        <p:spPr>
          <a:xfrm xmlns:a="http://schemas.openxmlformats.org/drawingml/2006/main">
            <a:off x="609600" y="51816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025" b="0">
                <a:solidFill>
                  <a:srgbClr val="22362F"/>
                </a:solidFill>
                <a:latin typeface="Arial"/>
                <a:ea typeface="Arial"/>
                <a:cs typeface="Arial"/>
              </a:defRPr>
            </a:lvl1pPr>
            <a:lvl2pPr>
              <a:buNone/>
              <a:defRPr sz="2025" b="0">
                <a:solidFill>
                  <a:srgbClr val="22362F"/>
                </a:solidFill>
                <a:latin typeface="Arial"/>
                <a:ea typeface="Arial"/>
                <a:cs typeface="Arial"/>
              </a:defRPr>
            </a:lvl2pPr>
            <a:lvl3pPr>
              <a:buNone/>
              <a:defRPr sz="2025" b="0">
                <a:solidFill>
                  <a:srgbClr val="22362F"/>
                </a:solidFill>
                <a:latin typeface="Arial"/>
                <a:ea typeface="Arial"/>
                <a:cs typeface="Arial"/>
              </a:defRPr>
            </a:lvl3pPr>
            <a:lvl4pPr>
              <a:buNone/>
              <a:defRPr sz="2025" b="0">
                <a:solidFill>
                  <a:srgbClr val="22362F"/>
                </a:solidFill>
                <a:latin typeface="Arial"/>
                <a:ea typeface="Arial"/>
                <a:cs typeface="Arial"/>
              </a:defRPr>
            </a:lvl4pPr>
            <a:lvl5pPr>
              <a:buNone/>
              <a:defRPr sz="2025" b="0">
                <a:solidFill>
                  <a:srgbClr val="22362F"/>
                </a:solidFill>
                <a:latin typeface="Arial"/>
                <a:ea typeface="Arial"/>
                <a:cs typeface="Arial"/>
              </a:defRPr>
            </a:lvl5pPr>
            <a:lvl6pPr>
              <a:buNone/>
              <a:defRPr sz="2025" b="0">
                <a:solidFill>
                  <a:srgbClr val="22362F"/>
                </a:solidFill>
                <a:latin typeface="Arial"/>
                <a:ea typeface="Arial"/>
                <a:cs typeface="Arial"/>
              </a:defRPr>
            </a:lvl6pPr>
            <a:lvl7pPr>
              <a:buNone/>
              <a:defRPr sz="2025" b="0">
                <a:solidFill>
                  <a:srgbClr val="22362F"/>
                </a:solidFill>
                <a:latin typeface="Arial"/>
                <a:ea typeface="Arial"/>
                <a:cs typeface="Arial"/>
              </a:defRPr>
            </a:lvl7pPr>
            <a:lvl8pPr>
              <a:buNone/>
              <a:defRPr sz="2025" b="0">
                <a:solidFill>
                  <a:srgbClr val="22362F"/>
                </a:solidFill>
                <a:latin typeface="Arial"/>
                <a:ea typeface="Arial"/>
                <a:cs typeface="Arial"/>
              </a:defRPr>
            </a:lvl8pPr>
            <a:lvl9pPr>
              <a:buNone/>
              <a:defRPr sz="2025"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CUDA reruns can differ. Hosted Colab remains untested.</a:t>
            </a:r>
          </a:p>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The report keeps the original experiment and explains the rerun.</a:t>
            </a:r>
          </a:p>
        </p:txBody>
      </p:sp>
    </p:spTree>
    <p:extLst>
      <p:ext uri="{BB962C8B-B14F-4D97-AF65-F5344CB8AC3E}">
        <p14:creationId xmlns:p14="http://schemas.microsoft.com/office/powerpoint/2010/main" val="51754770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D3F78DE-0EDB-486D-A430-E7B5A5AE351E}"/>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sources</a:t>
            </a:r>
          </a:p>
        </p:txBody>
      </p:sp>
      <p:sp>
        <p:nvSpPr>
          <p:cNvPr id="2" name="">
            <a:extLst xmlns:a="http://schemas.openxmlformats.org/drawingml/2006/main">
              <a:ext uri="{FF2B5EF4-FFF2-40B4-BE49-F238E27FC236}">
                <a16:creationId xmlns:a16="http://schemas.microsoft.com/office/drawing/2014/main" id="{145B0771-C78B-4F13-A3AF-038C1FF3FA16}"/>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679A35CF-D119-4149-97A8-96749FF9D2FA}"/>
              </a:ext>
            </a:extLst>
          </p:cNvPr>
          <p:cNvSpPr>
            <a:spLocks xmlns:a="http://schemas.openxmlformats.org/drawingml/2006/main" noGrp="1"/>
          </p:cNvSpPr>
          <p:nvPr/>
        </p:nvSpPr>
        <p:spPr>
          <a:xfrm xmlns:a="http://schemas.openxmlformats.org/drawingml/2006/main">
            <a:off x="609600" y="1609725"/>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SigLIP 2</a:t>
            </a:r>
          </a:p>
        </p:txBody>
      </p:sp>
      <p:sp>
        <p:nvSpPr>
          <p:cNvPr id="4" name="">
            <a:extLst xmlns:a="http://schemas.openxmlformats.org/drawingml/2006/main">
              <a:ext uri="{FF2B5EF4-FFF2-40B4-BE49-F238E27FC236}">
                <a16:creationId xmlns:a16="http://schemas.microsoft.com/office/drawing/2014/main" id="{DC51478F-154C-4460-809D-ACB3E1F98B3E}"/>
              </a:ext>
            </a:extLst>
          </p:cNvPr>
          <p:cNvSpPr>
            <a:spLocks xmlns:a="http://schemas.openxmlformats.org/drawingml/2006/main" noGrp="1"/>
          </p:cNvSpPr>
          <p:nvPr/>
        </p:nvSpPr>
        <p:spPr>
          <a:xfrm xmlns:a="http://schemas.openxmlformats.org/drawingml/2006/main">
            <a:off x="609600" y="220980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Tschannen et al. (2025)</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arxiv.org/abs/2502.14786</a:t>
            </a:r>
          </a:p>
        </p:txBody>
      </p:sp>
      <p:sp>
        <p:nvSpPr>
          <p:cNvPr id="5" name="">
            <a:extLst xmlns:a="http://schemas.openxmlformats.org/drawingml/2006/main">
              <a:ext uri="{FF2B5EF4-FFF2-40B4-BE49-F238E27FC236}">
                <a16:creationId xmlns:a16="http://schemas.microsoft.com/office/drawing/2014/main" id="{37EC61CC-ABFE-4281-A3F9-45778044126D}"/>
              </a:ext>
            </a:extLst>
          </p:cNvPr>
          <p:cNvSpPr>
            <a:spLocks xmlns:a="http://schemas.openxmlformats.org/drawingml/2006/main" noGrp="1"/>
          </p:cNvSpPr>
          <p:nvPr/>
        </p:nvSpPr>
        <p:spPr>
          <a:xfrm xmlns:a="http://schemas.openxmlformats.org/drawingml/2006/main">
            <a:off x="6229350" y="1609725"/>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DINOv2</a:t>
            </a:r>
          </a:p>
        </p:txBody>
      </p:sp>
      <p:sp>
        <p:nvSpPr>
          <p:cNvPr id="6" name="">
            <a:extLst xmlns:a="http://schemas.openxmlformats.org/drawingml/2006/main">
              <a:ext uri="{FF2B5EF4-FFF2-40B4-BE49-F238E27FC236}">
                <a16:creationId xmlns:a16="http://schemas.microsoft.com/office/drawing/2014/main" id="{50BBC9C9-7568-425F-A684-6BBB895A3475}"/>
              </a:ext>
            </a:extLst>
          </p:cNvPr>
          <p:cNvSpPr>
            <a:spLocks xmlns:a="http://schemas.openxmlformats.org/drawingml/2006/main" noGrp="1"/>
          </p:cNvSpPr>
          <p:nvPr/>
        </p:nvSpPr>
        <p:spPr>
          <a:xfrm xmlns:a="http://schemas.openxmlformats.org/drawingml/2006/main">
            <a:off x="6229350" y="220980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Oquab et al. (2023)</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arxiv.org/abs/2304.07193</a:t>
            </a:r>
          </a:p>
        </p:txBody>
      </p:sp>
      <p:sp>
        <p:nvSpPr>
          <p:cNvPr id="7" name="">
            <a:extLst xmlns:a="http://schemas.openxmlformats.org/drawingml/2006/main">
              <a:ext uri="{FF2B5EF4-FFF2-40B4-BE49-F238E27FC236}">
                <a16:creationId xmlns:a16="http://schemas.microsoft.com/office/drawing/2014/main" id="{5B3AE70C-F3D1-446C-9146-7F704FB2EA01}"/>
              </a:ext>
            </a:extLst>
          </p:cNvPr>
          <p:cNvSpPr>
            <a:spLocks xmlns:a="http://schemas.openxmlformats.org/drawingml/2006/main" noGrp="1"/>
          </p:cNvSpPr>
          <p:nvPr/>
        </p:nvSpPr>
        <p:spPr>
          <a:xfrm xmlns:a="http://schemas.openxmlformats.org/drawingml/2006/main">
            <a:off x="609600" y="3648075"/>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Bean disease photographs</a:t>
            </a:r>
          </a:p>
        </p:txBody>
      </p:sp>
      <p:sp>
        <p:nvSpPr>
          <p:cNvPr id="8" name="">
            <a:extLst xmlns:a="http://schemas.openxmlformats.org/drawingml/2006/main">
              <a:ext uri="{FF2B5EF4-FFF2-40B4-BE49-F238E27FC236}">
                <a16:creationId xmlns:a16="http://schemas.microsoft.com/office/drawing/2014/main" id="{3F1AC3AB-CF23-4595-AF25-2580D371425F}"/>
              </a:ext>
            </a:extLst>
          </p:cNvPr>
          <p:cNvSpPr>
            <a:spLocks xmlns:a="http://schemas.openxmlformats.org/drawingml/2006/main" noGrp="1"/>
          </p:cNvSpPr>
          <p:nvPr/>
        </p:nvSpPr>
        <p:spPr>
          <a:xfrm xmlns:a="http://schemas.openxmlformats.org/drawingml/2006/main">
            <a:off x="609600" y="424815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Makerere AI Lab</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github.com/AI-Lab-Makerere/ibean</a:t>
            </a:r>
          </a:p>
        </p:txBody>
      </p:sp>
      <p:sp>
        <p:nvSpPr>
          <p:cNvPr id="9" name="">
            <a:extLst xmlns:a="http://schemas.openxmlformats.org/drawingml/2006/main">
              <a:ext uri="{FF2B5EF4-FFF2-40B4-BE49-F238E27FC236}">
                <a16:creationId xmlns:a16="http://schemas.microsoft.com/office/drawing/2014/main" id="{0AAFC085-622D-48AF-AF1F-22F6D564C883}"/>
              </a:ext>
            </a:extLst>
          </p:cNvPr>
          <p:cNvSpPr>
            <a:spLocks xmlns:a="http://schemas.openxmlformats.org/drawingml/2006/main" noGrp="1"/>
          </p:cNvSpPr>
          <p:nvPr/>
        </p:nvSpPr>
        <p:spPr>
          <a:xfrm xmlns:a="http://schemas.openxmlformats.org/drawingml/2006/main">
            <a:off x="6229350" y="3648075"/>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Models and implementation</a:t>
            </a:r>
          </a:p>
        </p:txBody>
      </p:sp>
      <p:sp>
        <p:nvSpPr>
          <p:cNvPr id="10" name="">
            <a:extLst xmlns:a="http://schemas.openxmlformats.org/drawingml/2006/main">
              <a:ext uri="{FF2B5EF4-FFF2-40B4-BE49-F238E27FC236}">
                <a16:creationId xmlns:a16="http://schemas.microsoft.com/office/drawing/2014/main" id="{2579AE7F-4C0E-4D04-94C0-FE94E3C3D0DD}"/>
              </a:ext>
            </a:extLst>
          </p:cNvPr>
          <p:cNvSpPr>
            <a:spLocks xmlns:a="http://schemas.openxmlformats.org/drawingml/2006/main" noGrp="1"/>
          </p:cNvSpPr>
          <p:nvPr/>
        </p:nvSpPr>
        <p:spPr>
          <a:xfrm xmlns:a="http://schemas.openxmlformats.org/drawingml/2006/main">
            <a:off x="6229350" y="424815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Official Google and Meta checkpoint cards</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Hugging Face Transformers 4.57.1</a:t>
            </a:r>
          </a:p>
        </p:txBody>
      </p:sp>
      <p:sp>
        <p:nvSpPr>
          <p:cNvPr id="11" name="">
            <a:extLst xmlns:a="http://schemas.openxmlformats.org/drawingml/2006/main">
              <a:ext uri="{FF2B5EF4-FFF2-40B4-BE49-F238E27FC236}">
                <a16:creationId xmlns:a16="http://schemas.microsoft.com/office/drawing/2014/main" id="{BA76235B-7DA6-45CA-8ED5-47A96A26A0A9}"/>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Full references are in the report and third-party notices.</a:t>
            </a:r>
          </a:p>
        </p:txBody>
      </p:sp>
    </p:spTree>
    <p:extLst>
      <p:ext uri="{BB962C8B-B14F-4D97-AF65-F5344CB8AC3E}">
        <p14:creationId xmlns:p14="http://schemas.microsoft.com/office/powerpoint/2010/main" val="20613999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2026-10-26T12:41:57.2700000Z</dcterms:created>
  <dcterms:modified xsi:type="dcterms:W3CDTF">2026-10-26T12:41:57.2700000Z</dcterms:modified>
</coreProperties>
</file>